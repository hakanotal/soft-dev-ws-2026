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0AF5ED6-348A-A655-525D-BC1F89792661}">
          <p14:sldIdLst>
            <p14:sldId id="256"/>
            <p14:sldId id="257"/>
            <p14:sldId id="258"/>
            <p14:sldId id="259"/>
          </p14:sldIdLst>
        </p14:section>
        <p14:section name="1. How agents work" id="{92BBF291-9AD0-49A4-D157-7417DCC0360E}">
          <p14:sldIdLst>
            <p14:sldId id="260"/>
            <p14:sldId id="261"/>
            <p14:sldId id="262"/>
            <p14:sldId id="263"/>
          </p14:sldIdLst>
        </p14:section>
        <p14:section name="2. Terminal, Git and GitHub" id="{97338E17-E45A-8178-BE93-8F1D7F49C8C2}">
          <p14:sldIdLst>
            <p14:sldId id="264"/>
            <p14:sldId id="265"/>
            <p14:sldId id="266"/>
            <p14:sldId id="267"/>
          </p14:sldIdLst>
        </p14:section>
        <p14:section name="3. Cursor" id="{FC925A53-C3B1-640F-F89B-7A75B4DA167D}">
          <p14:sldIdLst>
            <p14:sldId id="268"/>
            <p14:sldId id="269"/>
            <p14:sldId id="270"/>
          </p14:sldIdLst>
        </p14:section>
        <p14:section name="4. Claude Code core" id="{FCBAF2A2-278E-C514-397A-667C211263CE}">
          <p14:sldIdLst>
            <p14:sldId id="271"/>
            <p14:sldId id="272"/>
            <p14:sldId id="273"/>
            <p14:sldId id="274"/>
            <p14:sldId id="275"/>
            <p14:sldId id="276"/>
            <p14:sldId id="277"/>
          </p14:sldIdLst>
        </p14:section>
        <p14:section name="5. Environments and secrets" id="{4A9977A6-45F0-CBE2-F12E-51405F50959F}">
          <p14:sldIdLst>
            <p14:sldId id="278"/>
            <p14:sldId id="279"/>
            <p14:sldId id="280"/>
          </p14:sldIdLst>
        </p14:section>
        <p14:section name="6. Extending Claude Code" id="{6A7A5453-319B-2F07-774A-4D952082D7B2}">
          <p14:sldIdLst>
            <p14:sldId id="281"/>
            <p14:sldId id="282"/>
            <p14:sldId id="283"/>
            <p14:sldId id="284"/>
          </p14:sldIdLst>
        </p14:section>
        <p14:section name="7. Worktrees" id="{F6492A3D-FD8E-E5D2-DBF0-E55DB178138D}">
          <p14:sldIdLst>
            <p14:sldId id="285"/>
            <p14:sldId id="286"/>
          </p14:sldIdLst>
        </p14:section>
        <p14:section name="8. Final project" id="{F4289584-4F3E-2F0E-C120-DEE2294C6531}">
          <p14:sldIdLst>
            <p14:sldId id="287"/>
            <p14:sldId id="288"/>
            <p14:sldId id="289"/>
            <p14:sldId id="290"/>
          </p14:sldIdLst>
        </p14:section>
        <p14:section name="9. Wrap-up" id="{E98327AA-3509-E8F0-725B-D7CF6535E714}">
          <p14:sldIdLst>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16"/>
  </p:normalViewPr>
  <p:slideViewPr>
    <p:cSldViewPr snapToGrid="0" snapToObjects="1">
      <p:cViewPr>
        <p:scale>
          <a:sx n="180" d="100"/>
          <a:sy n="180" d="100"/>
        </p:scale>
        <p:origin x="1504"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7400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Quick round of names. Check that everyone finished docs/install.md: anyone whose last step is not all OK sits next to someone who can help. Point at the repo URL; everyone should already have their own copy.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half days. Morning: foundations and the core Claude Code workflow. Afternoon: environments, extending Claude Code, parallel agents, then the final project. Times are guides; protect the final project block.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thread through the whole day. From block 4 on, every concept gets used on this project in the same repo. Python does the analysis and writes JSON; the web page only displays it, so there is no server and it deploys to GitHub Pages.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watch, no typing. We do: same steps together, I wait for the room. You do: short solo exercise; raise a hand when stuck. Read the rule out loud and repeat it all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a mental model. Once people see the loop and the context window, plan mode, /clear and Context7 all make sense.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real request: 'add a test for species counts'. Show which files it reads, what it runs, how it checks. Claude Code and Cursor's agent both do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 modes cause most trouble. Context: everything shares one window, and quality drops as it fills. Making things up: models are confident about APIs that do not exist. Both have simple habits that fix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Vibecoding is fine for a throwaway. Anything you want to keep needs the right column. Today we practise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comes before any AI tool: it is the undo button that makes it safe to let an agent edit freely. Much 'vibecoding trouble' is really terminal trouble.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Cursor's terminal. Windows uses PowerShell, macOS and Linux use zsh or bash; these commands work in all of them. Do each one live. Show what an error looks like and how to read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conceptual first, then the exercise. Emphasise .gitignore: .env and node_modules must never be committed.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works in their own copy of the template, so pushes go to their own repo. Walk the room after step 2; the common problem is an unset git name/email or gh not logged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Tour the editor. Cursor is our editor and diff viewer; Claude Code is the agent. Teaching two agents side by side confuses beginners.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each panel live. Shortcuts: Ctrl on Windows and Linux, Cmd on macOS. Show the Source Control diff view, because that is where people will review Claude's changes.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tools read CLAUDE.md, so it is the single source of truth. Show a glob-scoped Cursor rule as a live example and create it together. Show inline edit (select code, ask) vs the agent (multi-step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day. Sessions, CLAUDE.md, plan mode then accept edits, permissions, rewind, context commands. Then the first real step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claude in the repo root. Approve the MCP servers. Open CLAUDE.md and walk through it: this is the habit that pays off most. Run /init to show how it refreshes, then edit by hand.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full cycle on a tiny change. Stress: read the plan before accepting, and read the diff in Cursor before committing.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/permissions. Open .claude/settings.json. Demo: ask Claude to show .env and watch the deny rule block it. Explain why --dangerously-skip-permissions is risky: one bad instruction from a web page and it runs unchecked.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something on purpose during the demo (have Claude edit a file badly) and recover with Esc Esc. Then show that rewind does NOT undo a deleted file: recover that one with git restore. People remember this part.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/context so people can see the window filling. One task per session; /clear when switching topics. /usage answers 'how much have I used'.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real step of the project. Everyone in plan mode. Walk the room while plans are read. Common issue: someone accepts without reading; ask them what the plan said.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packages live, which files to commit, and how to keep secrets out of git and out of Claude's reach.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in both languages: a manifest, a lock file you commit, and an installed folder you never commit. Always go through uv for Python; never pip directly.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ask Claude to read .env, show the block. Then the trust checklist. If the group works with research or student data, spend a minute on what university policy allows them to send to a cloud model.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servers, a custom skill and one hook. One quick demo of each is enough.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/mcp to show context7 and playwright from .mcp.json. Demo Context7 with a pandas question. Demo Playwright opening a page and taking a screenshot. GitHub access comes from the gh CLI, no extra server needed.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.claude/skills/new-feature/SKILL.md and read it together: a skill is just written instructions. Point out the two stops where it waits for a human.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hook live with /hooks or by editing settings.json, make an ugly edit, watch it get formatted. Mention subagents briefly: a reviewer agent with its own context.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agents building two features in parallel, each in its own copy of the repo, then merge both.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terminals side by side. One feature each, then merge both into main. If both touch the same file, resolve the conflict together: good learning moment.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I do the one-shot build first, then pairs extend it with the build loop and deploy.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for every feature from now on. Pairs: one person drives, one reviews; swap after each feature.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the prompt from docs/prompt.md. Narrate the two stops: approve the plan, then look at the page yourself before approving the merge. Enable Pages before pushing or the first deploy fails. If the room already scaffolded the Python side in block 4, Claude builds on it instead of starting over.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picks one or two. Every feature goes through the build loop and ends deployed. Celebrate the first live URL in the room.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costs and plans, the cheat sheet, and where to go next.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of these bit them today.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costs factual: plans change, so point to /usage and the pricing page rather than quoting numbers.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live URLs in the chat. Remind people the cheat sheet is in docs/cheatsheet.md.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10058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560320"/>
            <a:ext cx="8046720" cy="1554480"/>
          </a:xfrm>
          <a:prstGeom prst="rect">
            <a:avLst/>
          </a:prstGeom>
          <a:noFill/>
          <a:ln/>
        </p:spPr>
        <p:txBody>
          <a:bodyPr wrap="square" rtlCol="0"/>
          <a:lstStyle>
            <a:lvl1pPr marL="0" indent="0">
              <a:buNone/>
              <a:defRPr lang="en-US" sz="1800" dirty="0">
                <a:solidFill>
                  <a:schemeClr val="accent3"/>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103120" y="1783080"/>
            <a:ext cx="6583680" cy="7772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2103120" y="2606040"/>
            <a:ext cx="6583680" cy="45720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enguin" descr="preencoded.png"/>
          <p:cNvPicPr>
            <a:picLocks noChangeAspect="1"/>
          </p:cNvPicPr>
          <p:nvPr/>
        </p:nvPicPr>
        <p:blipFill>
          <a:blip r:embed="rId3"/>
          <a:stretch>
            <a:fillRect/>
          </a:stretch>
        </p:blipFill>
        <p:spPr>
          <a:xfrm>
            <a:off x="548640" y="502920"/>
            <a:ext cx="777240" cy="777240"/>
          </a:xfrm>
          <a:prstGeom prst="rect">
            <a:avLst/>
          </a:prstGeom>
        </p:spPr>
      </p:pic>
      <p:sp>
        <p:nvSpPr>
          <p:cNvPr id="3" name="Text 0"/>
          <p:cNvSpPr>
            <a:spLocks noGrp="1"/>
          </p:cNvSpPr>
          <p:nvPr>
            <p:ph type="title" idx="100" hasCustomPrompt="1"/>
          </p:nvPr>
        </p:nvSpPr>
        <p:spPr>
          <a:xfrm>
            <a:off x="548640" y="1371600"/>
            <a:ext cx="8046720" cy="1005840"/>
          </a:xfrm>
          <a:prstGeom prst="rect">
            <a:avLst/>
          </a:prstGeom>
          <a:noFill/>
          <a:ln/>
        </p:spPr>
        <p:txBody>
          <a:bodyPr wrap="square" lIns="0" tIns="0" rIns="0" bIns="0" rtlCol="0" anchor="b"/>
          <a:lstStyle/>
          <a:p>
            <a:pPr marL="0" indent="0" algn="l">
              <a:buNone/>
            </a:pPr>
            <a:r>
              <a:rPr lang="en-US" sz="4000" b="1" dirty="0">
                <a:solidFill>
                  <a:schemeClr val="bg1"/>
                </a:solidFill>
              </a:rPr>
              <a:t>AI-Assisted Software Development</a:t>
            </a:r>
            <a:endParaRPr lang="en-US" sz="4000" dirty="0"/>
          </a:p>
        </p:txBody>
      </p:sp>
      <p:sp>
        <p:nvSpPr>
          <p:cNvPr id="4" name="Text 0"/>
          <p:cNvSpPr>
            <a:spLocks noGrp="1"/>
          </p:cNvSpPr>
          <p:nvPr>
            <p:ph type="body" idx="101" hasCustomPrompt="1"/>
          </p:nvPr>
        </p:nvSpPr>
        <p:spPr>
          <a:xfrm>
            <a:off x="548640" y="2560320"/>
            <a:ext cx="8046720" cy="1554480"/>
          </a:xfrm>
          <a:prstGeom prst="rect">
            <a:avLst/>
          </a:prstGeom>
          <a:noFill/>
          <a:ln/>
        </p:spPr>
        <p:txBody>
          <a:bodyPr wrap="square" lIns="0" tIns="0" rIns="0" bIns="0" rtlCol="0" anchor="t"/>
          <a:lstStyle/>
          <a:p>
            <a:pPr marL="0" indent="0">
              <a:buNone/>
            </a:pPr>
            <a:r>
              <a:rPr lang="en-US" sz="1800" dirty="0">
                <a:solidFill>
                  <a:schemeClr val="accent3"/>
                </a:solidFill>
              </a:rPr>
              <a:t>A hands-on workshop with Cursor and Claude Code</a:t>
            </a:r>
            <a:endParaRPr lang="en-US" sz="1800" dirty="0"/>
          </a:p>
          <a:p>
            <a:pPr marL="0" indent="0">
              <a:buNone/>
            </a:pPr>
            <a:r>
              <a:rPr lang="en-US" sz="1800" dirty="0">
                <a:solidFill>
                  <a:schemeClr val="accent3"/>
                </a:solidFill>
              </a:rPr>
              <a:t>13 October 2026</a:t>
            </a:r>
            <a:endParaRPr lang="en-US" sz="1800" dirty="0"/>
          </a:p>
          <a:p>
            <a:pPr marL="0" indent="0">
              <a:buNone/>
            </a:pPr>
            <a:r>
              <a:rPr lang="en-US" sz="1800" dirty="0">
                <a:solidFill>
                  <a:schemeClr val="accent3"/>
                </a:solidFill>
              </a:rPr>
              <a:t> </a:t>
            </a:r>
            <a:endParaRPr lang="en-US" sz="1800" dirty="0"/>
          </a:p>
          <a:p>
            <a:pPr marL="0" indent="0">
              <a:buNone/>
            </a:pPr>
            <a:r>
              <a:rPr lang="en-US" sz="1800" b="1" dirty="0">
                <a:solidFill>
                  <a:schemeClr val="accent1"/>
                </a:solidFill>
              </a:rPr>
              <a:t>github.com/hakanotal/soft-dev-ws-2026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Today's plan</a:t>
            </a:r>
            <a:endParaRPr lang="en-US" sz="3000" dirty="0"/>
          </a:p>
        </p:txBody>
      </p:sp>
      <p:sp>
        <p:nvSpPr>
          <p:cNvPr id="4" name="Text 1"/>
          <p:cNvSpPr txBox="1"/>
          <p:nvPr/>
        </p:nvSpPr>
        <p:spPr>
          <a:xfrm>
            <a:off x="457200" y="1143000"/>
            <a:ext cx="3931920" cy="320040"/>
          </a:xfrm>
          <a:prstGeom prst="rect">
            <a:avLst/>
          </a:prstGeom>
          <a:noFill/>
          <a:ln/>
        </p:spPr>
        <p:txBody>
          <a:bodyPr wrap="square" lIns="0" tIns="0" rIns="0" bIns="0" rtlCol="0" anchor="t"/>
          <a:lstStyle/>
          <a:p>
            <a:pPr marL="0" indent="0" algn="l">
              <a:buNone/>
            </a:pPr>
            <a:r>
              <a:rPr lang="en-US" sz="1400" b="1" dirty="0">
                <a:solidFill>
                  <a:schemeClr val="accent2"/>
                </a:solidFill>
              </a:rPr>
              <a:t>Morning</a:t>
            </a:r>
            <a:endParaRPr lang="en-US" sz="1400" dirty="0"/>
          </a:p>
        </p:txBody>
      </p:sp>
      <p:sp>
        <p:nvSpPr>
          <p:cNvPr id="5" name="Text 2"/>
          <p:cNvSpPr txBox="1"/>
          <p:nvPr/>
        </p:nvSpPr>
        <p:spPr>
          <a:xfrm>
            <a:off x="4754880" y="1143000"/>
            <a:ext cx="3931920" cy="320040"/>
          </a:xfrm>
          <a:prstGeom prst="rect">
            <a:avLst/>
          </a:prstGeom>
          <a:noFill/>
          <a:ln/>
        </p:spPr>
        <p:txBody>
          <a:bodyPr wrap="square" lIns="0" tIns="0" rIns="0" bIns="0" rtlCol="0" anchor="t"/>
          <a:lstStyle/>
          <a:p>
            <a:pPr marL="0" indent="0" algn="l">
              <a:buNone/>
            </a:pPr>
            <a:r>
              <a:rPr lang="en-US" sz="1400" b="1" dirty="0">
                <a:solidFill>
                  <a:schemeClr val="accent2"/>
                </a:solidFill>
              </a:rPr>
              <a:t>Afternoon</a:t>
            </a:r>
            <a:endParaRPr lang="en-US" sz="1400" dirty="0"/>
          </a:p>
        </p:txBody>
      </p:sp>
      <p:sp>
        <p:nvSpPr>
          <p:cNvPr id="6" name="number 1"/>
          <p:cNvSpPr txBox="1"/>
          <p:nvPr/>
        </p:nvSpPr>
        <p:spPr>
          <a:xfrm>
            <a:off x="457200" y="1572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7" name="Text 4"/>
          <p:cNvSpPr txBox="1"/>
          <p:nvPr/>
        </p:nvSpPr>
        <p:spPr>
          <a:xfrm>
            <a:off x="960120" y="160934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How agents work</a:t>
            </a:r>
            <a:endParaRPr lang="en-US" sz="1500" dirty="0"/>
          </a:p>
        </p:txBody>
      </p:sp>
      <p:sp>
        <p:nvSpPr>
          <p:cNvPr id="8" name="Text 5"/>
          <p:cNvSpPr txBox="1"/>
          <p:nvPr/>
        </p:nvSpPr>
        <p:spPr>
          <a:xfrm>
            <a:off x="3200400" y="162763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20 min</a:t>
            </a:r>
            <a:endParaRPr lang="en-US" sz="1400" dirty="0"/>
          </a:p>
        </p:txBody>
      </p:sp>
      <p:sp>
        <p:nvSpPr>
          <p:cNvPr id="9" name="number 2"/>
          <p:cNvSpPr txBox="1"/>
          <p:nvPr/>
        </p:nvSpPr>
        <p:spPr>
          <a:xfrm>
            <a:off x="457200" y="212140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0" name="Text 7"/>
          <p:cNvSpPr txBox="1"/>
          <p:nvPr/>
        </p:nvSpPr>
        <p:spPr>
          <a:xfrm>
            <a:off x="960120" y="215798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Terminal, Git and GitHub</a:t>
            </a:r>
            <a:endParaRPr lang="en-US" sz="1500" dirty="0"/>
          </a:p>
        </p:txBody>
      </p:sp>
      <p:sp>
        <p:nvSpPr>
          <p:cNvPr id="11" name="Text 8"/>
          <p:cNvSpPr txBox="1"/>
          <p:nvPr/>
        </p:nvSpPr>
        <p:spPr>
          <a:xfrm>
            <a:off x="3200400" y="217627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60 min</a:t>
            </a:r>
            <a:endParaRPr lang="en-US" sz="1400" dirty="0"/>
          </a:p>
        </p:txBody>
      </p:sp>
      <p:sp>
        <p:nvSpPr>
          <p:cNvPr id="12" name="number 3"/>
          <p:cNvSpPr txBox="1"/>
          <p:nvPr/>
        </p:nvSpPr>
        <p:spPr>
          <a:xfrm>
            <a:off x="457200" y="267004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3" name="Text 10"/>
          <p:cNvSpPr txBox="1"/>
          <p:nvPr/>
        </p:nvSpPr>
        <p:spPr>
          <a:xfrm>
            <a:off x="960120" y="270662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Cursor</a:t>
            </a:r>
            <a:endParaRPr lang="en-US" sz="1500" dirty="0"/>
          </a:p>
        </p:txBody>
      </p:sp>
      <p:sp>
        <p:nvSpPr>
          <p:cNvPr id="14" name="Text 11"/>
          <p:cNvSpPr txBox="1"/>
          <p:nvPr/>
        </p:nvSpPr>
        <p:spPr>
          <a:xfrm>
            <a:off x="3200400" y="272491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30 min</a:t>
            </a:r>
            <a:endParaRPr lang="en-US" sz="1400" dirty="0"/>
          </a:p>
        </p:txBody>
      </p:sp>
      <p:sp>
        <p:nvSpPr>
          <p:cNvPr id="15" name="number 4"/>
          <p:cNvSpPr txBox="1"/>
          <p:nvPr/>
        </p:nvSpPr>
        <p:spPr>
          <a:xfrm>
            <a:off x="457200" y="321868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6" name="Text 13"/>
          <p:cNvSpPr txBox="1"/>
          <p:nvPr/>
        </p:nvSpPr>
        <p:spPr>
          <a:xfrm>
            <a:off x="960120" y="325526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Claude Code core</a:t>
            </a:r>
            <a:endParaRPr lang="en-US" sz="1500" dirty="0"/>
          </a:p>
        </p:txBody>
      </p:sp>
      <p:sp>
        <p:nvSpPr>
          <p:cNvPr id="17" name="Text 14"/>
          <p:cNvSpPr txBox="1"/>
          <p:nvPr/>
        </p:nvSpPr>
        <p:spPr>
          <a:xfrm>
            <a:off x="3200400" y="327355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60 min</a:t>
            </a:r>
            <a:endParaRPr lang="en-US" sz="1400" dirty="0"/>
          </a:p>
        </p:txBody>
      </p:sp>
      <p:sp>
        <p:nvSpPr>
          <p:cNvPr id="18" name="number 5"/>
          <p:cNvSpPr txBox="1"/>
          <p:nvPr/>
        </p:nvSpPr>
        <p:spPr>
          <a:xfrm>
            <a:off x="4754880" y="157276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19" name="Text 16"/>
          <p:cNvSpPr txBox="1"/>
          <p:nvPr/>
        </p:nvSpPr>
        <p:spPr>
          <a:xfrm>
            <a:off x="5257800" y="160934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Environments and secrets</a:t>
            </a:r>
            <a:endParaRPr lang="en-US" sz="1500" dirty="0"/>
          </a:p>
        </p:txBody>
      </p:sp>
      <p:sp>
        <p:nvSpPr>
          <p:cNvPr id="20" name="Text 17"/>
          <p:cNvSpPr txBox="1"/>
          <p:nvPr/>
        </p:nvSpPr>
        <p:spPr>
          <a:xfrm>
            <a:off x="7498080" y="162763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20 min</a:t>
            </a:r>
            <a:endParaRPr lang="en-US" sz="1400" dirty="0"/>
          </a:p>
        </p:txBody>
      </p:sp>
      <p:sp>
        <p:nvSpPr>
          <p:cNvPr id="21" name="number 6"/>
          <p:cNvSpPr txBox="1"/>
          <p:nvPr/>
        </p:nvSpPr>
        <p:spPr>
          <a:xfrm>
            <a:off x="4754880" y="212140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6</a:t>
            </a:r>
            <a:endParaRPr lang="en-US" sz="1400" dirty="0"/>
          </a:p>
        </p:txBody>
      </p:sp>
      <p:sp>
        <p:nvSpPr>
          <p:cNvPr id="22" name="Text 19"/>
          <p:cNvSpPr txBox="1"/>
          <p:nvPr/>
        </p:nvSpPr>
        <p:spPr>
          <a:xfrm>
            <a:off x="5257800" y="215798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Extending Claude Code</a:t>
            </a:r>
            <a:endParaRPr lang="en-US" sz="1500" dirty="0"/>
          </a:p>
        </p:txBody>
      </p:sp>
      <p:sp>
        <p:nvSpPr>
          <p:cNvPr id="23" name="Text 20"/>
          <p:cNvSpPr txBox="1"/>
          <p:nvPr/>
        </p:nvSpPr>
        <p:spPr>
          <a:xfrm>
            <a:off x="7498080" y="217627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45 min</a:t>
            </a:r>
            <a:endParaRPr lang="en-US" sz="1400" dirty="0"/>
          </a:p>
        </p:txBody>
      </p:sp>
      <p:sp>
        <p:nvSpPr>
          <p:cNvPr id="24" name="number 7"/>
          <p:cNvSpPr txBox="1"/>
          <p:nvPr/>
        </p:nvSpPr>
        <p:spPr>
          <a:xfrm>
            <a:off x="4754880" y="267004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7</a:t>
            </a:r>
            <a:endParaRPr lang="en-US" sz="1400" dirty="0"/>
          </a:p>
        </p:txBody>
      </p:sp>
      <p:sp>
        <p:nvSpPr>
          <p:cNvPr id="25" name="Text 22"/>
          <p:cNvSpPr txBox="1"/>
          <p:nvPr/>
        </p:nvSpPr>
        <p:spPr>
          <a:xfrm>
            <a:off x="5257800" y="270662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Worktrees</a:t>
            </a:r>
            <a:endParaRPr lang="en-US" sz="1500" dirty="0"/>
          </a:p>
        </p:txBody>
      </p:sp>
      <p:sp>
        <p:nvSpPr>
          <p:cNvPr id="26" name="Text 23"/>
          <p:cNvSpPr txBox="1"/>
          <p:nvPr/>
        </p:nvSpPr>
        <p:spPr>
          <a:xfrm>
            <a:off x="7498080" y="272491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30 min</a:t>
            </a:r>
            <a:endParaRPr lang="en-US" sz="1400" dirty="0"/>
          </a:p>
        </p:txBody>
      </p:sp>
      <p:sp>
        <p:nvSpPr>
          <p:cNvPr id="27" name="number 8"/>
          <p:cNvSpPr txBox="1"/>
          <p:nvPr/>
        </p:nvSpPr>
        <p:spPr>
          <a:xfrm>
            <a:off x="4754880" y="321868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8</a:t>
            </a:r>
            <a:endParaRPr lang="en-US" sz="1400" dirty="0"/>
          </a:p>
        </p:txBody>
      </p:sp>
      <p:sp>
        <p:nvSpPr>
          <p:cNvPr id="28" name="Text 25"/>
          <p:cNvSpPr txBox="1"/>
          <p:nvPr/>
        </p:nvSpPr>
        <p:spPr>
          <a:xfrm>
            <a:off x="5257800" y="325526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Final project</a:t>
            </a:r>
            <a:endParaRPr lang="en-US" sz="1500" dirty="0"/>
          </a:p>
        </p:txBody>
      </p:sp>
      <p:sp>
        <p:nvSpPr>
          <p:cNvPr id="29" name="Text 26"/>
          <p:cNvSpPr txBox="1"/>
          <p:nvPr/>
        </p:nvSpPr>
        <p:spPr>
          <a:xfrm>
            <a:off x="7498080" y="327355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90 to 120 min</a:t>
            </a:r>
            <a:endParaRPr lang="en-US" sz="1400" dirty="0"/>
          </a:p>
        </p:txBody>
      </p:sp>
      <p:sp>
        <p:nvSpPr>
          <p:cNvPr id="30" name="number 9"/>
          <p:cNvSpPr txBox="1"/>
          <p:nvPr/>
        </p:nvSpPr>
        <p:spPr>
          <a:xfrm>
            <a:off x="4754880" y="3767328"/>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9</a:t>
            </a:r>
            <a:endParaRPr lang="en-US" sz="1400" dirty="0"/>
          </a:p>
        </p:txBody>
      </p:sp>
      <p:sp>
        <p:nvSpPr>
          <p:cNvPr id="31" name="Text 28"/>
          <p:cNvSpPr txBox="1"/>
          <p:nvPr/>
        </p:nvSpPr>
        <p:spPr>
          <a:xfrm>
            <a:off x="5257800" y="3803904"/>
            <a:ext cx="2377440" cy="365760"/>
          </a:xfrm>
          <a:prstGeom prst="rect">
            <a:avLst/>
          </a:prstGeom>
          <a:noFill/>
          <a:ln/>
        </p:spPr>
        <p:txBody>
          <a:bodyPr wrap="square" lIns="0" tIns="0" rIns="0" bIns="0" rtlCol="0" anchor="t"/>
          <a:lstStyle/>
          <a:p>
            <a:pPr marL="0" indent="0" algn="l">
              <a:buNone/>
            </a:pPr>
            <a:r>
              <a:rPr lang="en-US" sz="1500" b="1" dirty="0">
                <a:solidFill>
                  <a:schemeClr val="tx1"/>
                </a:solidFill>
              </a:rPr>
              <a:t>Wrap-up</a:t>
            </a:r>
            <a:endParaRPr lang="en-US" sz="1500" dirty="0"/>
          </a:p>
        </p:txBody>
      </p:sp>
      <p:sp>
        <p:nvSpPr>
          <p:cNvPr id="32" name="Text 29"/>
          <p:cNvSpPr txBox="1"/>
          <p:nvPr/>
        </p:nvSpPr>
        <p:spPr>
          <a:xfrm>
            <a:off x="7498080" y="3822192"/>
            <a:ext cx="1188720" cy="365760"/>
          </a:xfrm>
          <a:prstGeom prst="rect">
            <a:avLst/>
          </a:prstGeom>
          <a:noFill/>
          <a:ln/>
        </p:spPr>
        <p:txBody>
          <a:bodyPr wrap="square" lIns="0" tIns="0" rIns="0" bIns="0" rtlCol="0" anchor="t"/>
          <a:lstStyle/>
          <a:p>
            <a:pPr marL="0" indent="0" algn="r">
              <a:buNone/>
            </a:pPr>
            <a:r>
              <a:rPr lang="en-US" sz="1400" dirty="0">
                <a:solidFill>
                  <a:schemeClr val="tx2"/>
                </a:solidFill>
              </a:rPr>
              <a:t>15 min</a:t>
            </a:r>
            <a:endParaRPr lang="en-US" sz="1400" dirty="0"/>
          </a:p>
        </p:txBody>
      </p:sp>
      <p:sp>
        <p:nvSpPr>
          <p:cNvPr id="33" name="Text 30"/>
          <p:cNvSpPr txBox="1"/>
          <p:nvPr/>
        </p:nvSpPr>
        <p:spPr>
          <a:xfrm>
            <a:off x="457200" y="4434840"/>
            <a:ext cx="5486400" cy="274320"/>
          </a:xfrm>
          <a:prstGeom prst="rect">
            <a:avLst/>
          </a:prstGeom>
          <a:noFill/>
          <a:ln/>
        </p:spPr>
        <p:txBody>
          <a:bodyPr wrap="square" lIns="0" tIns="0" rIns="0" bIns="0" rtlCol="0" anchor="t"/>
          <a:lstStyle/>
          <a:p>
            <a:pPr marL="0" indent="0" algn="l">
              <a:buNone/>
            </a:pPr>
            <a:r>
              <a:rPr lang="en-US" sz="1200" i="1" dirty="0">
                <a:solidFill>
                  <a:schemeClr val="tx2"/>
                </a:solidFill>
              </a:rPr>
              <a:t>Pre-work, done before today: docs/install.md</a:t>
            </a:r>
            <a:endParaRPr lang="en-US" sz="12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What we build today</a:t>
            </a:r>
            <a:endParaRPr lang="en-US" sz="3000" dirty="0"/>
          </a:p>
        </p:txBody>
      </p:sp>
      <p:sp>
        <p:nvSpPr>
          <p:cNvPr id="4" name="step Dataset"/>
          <p:cNvSpPr/>
          <p:nvPr/>
        </p:nvSpPr>
        <p:spPr>
          <a:xfrm>
            <a:off x="457200" y="1234440"/>
            <a:ext cx="1463040" cy="2240280"/>
          </a:xfrm>
          <a:prstGeom prst="roundRect">
            <a:avLst>
              <a:gd name="adj" fmla="val 5000"/>
            </a:avLst>
          </a:prstGeom>
          <a:solidFill>
            <a:schemeClr val="bg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60120" y="1417320"/>
            <a:ext cx="457200" cy="457200"/>
          </a:xfrm>
          <a:prstGeom prst="rect">
            <a:avLst/>
          </a:prstGeom>
        </p:spPr>
      </p:pic>
      <p:sp>
        <p:nvSpPr>
          <p:cNvPr id="6" name="Text 2"/>
          <p:cNvSpPr txBox="1"/>
          <p:nvPr/>
        </p:nvSpPr>
        <p:spPr>
          <a:xfrm>
            <a:off x="530352" y="1984248"/>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Dataset</a:t>
            </a:r>
            <a:endParaRPr lang="en-US" sz="1500" dirty="0"/>
          </a:p>
        </p:txBody>
      </p:sp>
      <p:sp>
        <p:nvSpPr>
          <p:cNvPr id="7" name="Text 3"/>
          <p:cNvSpPr txBox="1"/>
          <p:nvPr/>
        </p:nvSpPr>
        <p:spPr>
          <a:xfrm>
            <a:off x="530352" y="2395728"/>
            <a:ext cx="1316736" cy="1005840"/>
          </a:xfrm>
          <a:prstGeom prst="rect">
            <a:avLst/>
          </a:prstGeom>
          <a:noFill/>
          <a:ln/>
        </p:spPr>
        <p:txBody>
          <a:bodyPr wrap="square" lIns="0" tIns="0" rIns="0" bIns="0" rtlCol="0" anchor="t"/>
          <a:lstStyle/>
          <a:p>
            <a:pPr marL="0" indent="0" algn="ctr">
              <a:buNone/>
            </a:pPr>
            <a:r>
              <a:rPr lang="en-US" sz="1200" dirty="0">
                <a:solidFill>
                  <a:schemeClr val="tx2"/>
                </a:solidFill>
              </a:rPr>
              <a:t>data/penguins.csv</a:t>
            </a:r>
            <a:endParaRPr lang="en-US" sz="1200" dirty="0"/>
          </a:p>
          <a:p>
            <a:pPr marL="0" indent="0" algn="ctr">
              <a:buNone/>
            </a:pPr>
            <a:r>
              <a:rPr lang="en-US" sz="1200" dirty="0">
                <a:solidFill>
                  <a:schemeClr val="tx2"/>
                </a:solidFill>
              </a:rPr>
              <a:t>344 penguins</a:t>
            </a:r>
            <a:endParaRPr lang="en-US" sz="1200" dirty="0"/>
          </a:p>
        </p:txBody>
      </p:sp>
      <p:sp>
        <p:nvSpPr>
          <p:cNvPr id="8" name="Shape 4"/>
          <p:cNvSpPr/>
          <p:nvPr/>
        </p:nvSpPr>
        <p:spPr>
          <a:xfrm>
            <a:off x="1956816" y="2354580"/>
            <a:ext cx="155448" cy="0"/>
          </a:xfrm>
          <a:prstGeom prst="line">
            <a:avLst/>
          </a:prstGeom>
          <a:noFill/>
          <a:ln w="19050">
            <a:solidFill>
              <a:schemeClr val="tx2"/>
            </a:solidFill>
            <a:prstDash val="solid"/>
            <a:tailEnd type="triangle"/>
          </a:ln>
        </p:spPr>
        <p:txBody>
          <a:bodyPr/>
          <a:lstStyle/>
          <a:p>
            <a:endParaRPr lang="en-US"/>
          </a:p>
        </p:txBody>
      </p:sp>
      <p:sp>
        <p:nvSpPr>
          <p:cNvPr id="9" name="step Analysis"/>
          <p:cNvSpPr/>
          <p:nvPr/>
        </p:nvSpPr>
        <p:spPr>
          <a:xfrm>
            <a:off x="2148840" y="1234440"/>
            <a:ext cx="1463040" cy="2240280"/>
          </a:xfrm>
          <a:prstGeom prst="roundRect">
            <a:avLst>
              <a:gd name="adj" fmla="val 5000"/>
            </a:avLst>
          </a:prstGeom>
          <a:solidFill>
            <a:schemeClr val="bg2"/>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2651760" y="1417320"/>
            <a:ext cx="457200" cy="457200"/>
          </a:xfrm>
          <a:prstGeom prst="rect">
            <a:avLst/>
          </a:prstGeom>
        </p:spPr>
      </p:pic>
      <p:sp>
        <p:nvSpPr>
          <p:cNvPr id="11" name="Text 6"/>
          <p:cNvSpPr txBox="1"/>
          <p:nvPr/>
        </p:nvSpPr>
        <p:spPr>
          <a:xfrm>
            <a:off x="2221992" y="1984248"/>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Analysis</a:t>
            </a:r>
            <a:endParaRPr lang="en-US" sz="1500" dirty="0"/>
          </a:p>
        </p:txBody>
      </p:sp>
      <p:sp>
        <p:nvSpPr>
          <p:cNvPr id="12" name="Text 7"/>
          <p:cNvSpPr txBox="1"/>
          <p:nvPr/>
        </p:nvSpPr>
        <p:spPr>
          <a:xfrm>
            <a:off x="2221992" y="2395728"/>
            <a:ext cx="1316736" cy="1005840"/>
          </a:xfrm>
          <a:prstGeom prst="rect">
            <a:avLst/>
          </a:prstGeom>
          <a:noFill/>
          <a:ln/>
        </p:spPr>
        <p:txBody>
          <a:bodyPr wrap="square" lIns="0" tIns="0" rIns="0" bIns="0" rtlCol="0" anchor="t"/>
          <a:lstStyle/>
          <a:p>
            <a:pPr marL="0" indent="0" algn="ctr">
              <a:buNone/>
            </a:pPr>
            <a:r>
              <a:rPr lang="en-US" sz="1200" dirty="0">
                <a:solidFill>
                  <a:schemeClr val="tx2"/>
                </a:solidFill>
              </a:rPr>
              <a:t>Python + pandas</a:t>
            </a:r>
            <a:endParaRPr lang="en-US" sz="1200" dirty="0"/>
          </a:p>
          <a:p>
            <a:pPr marL="0" indent="0" algn="ctr">
              <a:buNone/>
            </a:pPr>
            <a:r>
              <a:rPr lang="en-US" sz="1200" dirty="0">
                <a:solidFill>
                  <a:schemeClr val="tx2"/>
                </a:solidFill>
              </a:rPr>
              <a:t>run with uv</a:t>
            </a:r>
            <a:endParaRPr lang="en-US" sz="1200" dirty="0"/>
          </a:p>
          <a:p>
            <a:pPr marL="0" indent="0" algn="ctr">
              <a:buNone/>
            </a:pPr>
            <a:r>
              <a:rPr lang="en-US" sz="1200" dirty="0">
                <a:solidFill>
                  <a:schemeClr val="tx2"/>
                </a:solidFill>
              </a:rPr>
              <a:t>tested with pytest</a:t>
            </a:r>
            <a:endParaRPr lang="en-US" sz="1200" dirty="0"/>
          </a:p>
        </p:txBody>
      </p:sp>
      <p:sp>
        <p:nvSpPr>
          <p:cNvPr id="13" name="Shape 8"/>
          <p:cNvSpPr/>
          <p:nvPr/>
        </p:nvSpPr>
        <p:spPr>
          <a:xfrm>
            <a:off x="3648456" y="2354580"/>
            <a:ext cx="155448" cy="0"/>
          </a:xfrm>
          <a:prstGeom prst="line">
            <a:avLst/>
          </a:prstGeom>
          <a:noFill/>
          <a:ln w="19050">
            <a:solidFill>
              <a:schemeClr val="tx2"/>
            </a:solidFill>
            <a:prstDash val="solid"/>
            <a:tailEnd type="triangle"/>
          </a:ln>
        </p:spPr>
        <p:txBody>
          <a:bodyPr/>
          <a:lstStyle/>
          <a:p>
            <a:endParaRPr lang="en-US"/>
          </a:p>
        </p:txBody>
      </p:sp>
      <p:sp>
        <p:nvSpPr>
          <p:cNvPr id="14" name="step JSON"/>
          <p:cNvSpPr/>
          <p:nvPr/>
        </p:nvSpPr>
        <p:spPr>
          <a:xfrm>
            <a:off x="3840480" y="1234440"/>
            <a:ext cx="1463040" cy="2240280"/>
          </a:xfrm>
          <a:prstGeom prst="roundRect">
            <a:avLst>
              <a:gd name="adj" fmla="val 5000"/>
            </a:avLst>
          </a:prstGeom>
          <a:solidFill>
            <a:schemeClr val="bg2"/>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4343400" y="1417320"/>
            <a:ext cx="457200" cy="457200"/>
          </a:xfrm>
          <a:prstGeom prst="rect">
            <a:avLst/>
          </a:prstGeom>
        </p:spPr>
      </p:pic>
      <p:sp>
        <p:nvSpPr>
          <p:cNvPr id="16" name="Text 10"/>
          <p:cNvSpPr txBox="1"/>
          <p:nvPr/>
        </p:nvSpPr>
        <p:spPr>
          <a:xfrm>
            <a:off x="3913632" y="1984248"/>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JSON</a:t>
            </a:r>
            <a:endParaRPr lang="en-US" sz="1500" dirty="0"/>
          </a:p>
        </p:txBody>
      </p:sp>
      <p:sp>
        <p:nvSpPr>
          <p:cNvPr id="17" name="Text 11"/>
          <p:cNvSpPr txBox="1"/>
          <p:nvPr/>
        </p:nvSpPr>
        <p:spPr>
          <a:xfrm>
            <a:off x="3913632" y="2395728"/>
            <a:ext cx="1316736" cy="1005840"/>
          </a:xfrm>
          <a:prstGeom prst="rect">
            <a:avLst/>
          </a:prstGeom>
          <a:noFill/>
          <a:ln/>
        </p:spPr>
        <p:txBody>
          <a:bodyPr wrap="square" lIns="0" tIns="0" rIns="0" bIns="0" rtlCol="0" anchor="t"/>
          <a:lstStyle/>
          <a:p>
            <a:pPr marL="0" indent="0" algn="ctr">
              <a:buNone/>
            </a:pPr>
            <a:r>
              <a:rPr lang="en-US" sz="1200" dirty="0">
                <a:solidFill>
                  <a:schemeClr val="tx2"/>
                </a:solidFill>
              </a:rPr>
              <a:t>summary.json</a:t>
            </a:r>
            <a:endParaRPr lang="en-US" sz="1200" dirty="0"/>
          </a:p>
          <a:p>
            <a:pPr marL="0" indent="0" algn="ctr">
              <a:buNone/>
            </a:pPr>
            <a:r>
              <a:rPr lang="en-US" sz="1200" dirty="0">
                <a:solidFill>
                  <a:schemeClr val="tx2"/>
                </a:solidFill>
              </a:rPr>
              <a:t>in web/public/data</a:t>
            </a:r>
            <a:endParaRPr lang="en-US" sz="1200" dirty="0"/>
          </a:p>
        </p:txBody>
      </p:sp>
      <p:sp>
        <p:nvSpPr>
          <p:cNvPr id="18" name="Shape 12"/>
          <p:cNvSpPr/>
          <p:nvPr/>
        </p:nvSpPr>
        <p:spPr>
          <a:xfrm>
            <a:off x="5340096" y="2354580"/>
            <a:ext cx="155448" cy="0"/>
          </a:xfrm>
          <a:prstGeom prst="line">
            <a:avLst/>
          </a:prstGeom>
          <a:noFill/>
          <a:ln w="19050">
            <a:solidFill>
              <a:schemeClr val="tx2"/>
            </a:solidFill>
            <a:prstDash val="solid"/>
            <a:tailEnd type="triangle"/>
          </a:ln>
        </p:spPr>
        <p:txBody>
          <a:bodyPr/>
          <a:lstStyle/>
          <a:p>
            <a:endParaRPr lang="en-US"/>
          </a:p>
        </p:txBody>
      </p:sp>
      <p:sp>
        <p:nvSpPr>
          <p:cNvPr id="19" name="step Web page"/>
          <p:cNvSpPr/>
          <p:nvPr/>
        </p:nvSpPr>
        <p:spPr>
          <a:xfrm>
            <a:off x="5532120" y="1234440"/>
            <a:ext cx="1463040" cy="2240280"/>
          </a:xfrm>
          <a:prstGeom prst="roundRect">
            <a:avLst>
              <a:gd name="adj" fmla="val 5000"/>
            </a:avLst>
          </a:prstGeom>
          <a:solidFill>
            <a:schemeClr val="bg2"/>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6035040" y="1417320"/>
            <a:ext cx="457200" cy="457200"/>
          </a:xfrm>
          <a:prstGeom prst="rect">
            <a:avLst/>
          </a:prstGeom>
        </p:spPr>
      </p:pic>
      <p:sp>
        <p:nvSpPr>
          <p:cNvPr id="21" name="Text 14"/>
          <p:cNvSpPr txBox="1"/>
          <p:nvPr/>
        </p:nvSpPr>
        <p:spPr>
          <a:xfrm>
            <a:off x="5605272" y="1984248"/>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Web page</a:t>
            </a:r>
            <a:endParaRPr lang="en-US" sz="1500" dirty="0"/>
          </a:p>
        </p:txBody>
      </p:sp>
      <p:sp>
        <p:nvSpPr>
          <p:cNvPr id="22" name="Text 15"/>
          <p:cNvSpPr txBox="1"/>
          <p:nvPr/>
        </p:nvSpPr>
        <p:spPr>
          <a:xfrm>
            <a:off x="5605272" y="2395728"/>
            <a:ext cx="1316736" cy="1005840"/>
          </a:xfrm>
          <a:prstGeom prst="rect">
            <a:avLst/>
          </a:prstGeom>
          <a:noFill/>
          <a:ln/>
        </p:spPr>
        <p:txBody>
          <a:bodyPr wrap="square" lIns="0" tIns="0" rIns="0" bIns="0" rtlCol="0" anchor="t"/>
          <a:lstStyle/>
          <a:p>
            <a:pPr marL="0" indent="0" algn="ctr">
              <a:buNone/>
            </a:pPr>
            <a:r>
              <a:rPr lang="en-US" sz="1200" dirty="0">
                <a:solidFill>
                  <a:schemeClr val="tx2"/>
                </a:solidFill>
              </a:rPr>
              <a:t>Vite and plain</a:t>
            </a:r>
            <a:endParaRPr lang="en-US" sz="1200" dirty="0"/>
          </a:p>
          <a:p>
            <a:pPr marL="0" indent="0" algn="ctr">
              <a:buNone/>
            </a:pPr>
            <a:r>
              <a:rPr lang="en-US" sz="1200" dirty="0">
                <a:solidFill>
                  <a:schemeClr val="tx2"/>
                </a:solidFill>
              </a:rPr>
              <a:t>JavaScript</a:t>
            </a:r>
            <a:endParaRPr lang="en-US" sz="1200" dirty="0"/>
          </a:p>
        </p:txBody>
      </p:sp>
      <p:sp>
        <p:nvSpPr>
          <p:cNvPr id="23" name="Shape 16"/>
          <p:cNvSpPr/>
          <p:nvPr/>
        </p:nvSpPr>
        <p:spPr>
          <a:xfrm>
            <a:off x="7031736" y="2354580"/>
            <a:ext cx="155448" cy="0"/>
          </a:xfrm>
          <a:prstGeom prst="line">
            <a:avLst/>
          </a:prstGeom>
          <a:noFill/>
          <a:ln w="19050">
            <a:solidFill>
              <a:schemeClr val="tx2"/>
            </a:solidFill>
            <a:prstDash val="solid"/>
            <a:tailEnd type="triangle"/>
          </a:ln>
        </p:spPr>
        <p:txBody>
          <a:bodyPr/>
          <a:lstStyle/>
          <a:p>
            <a:endParaRPr lang="en-US"/>
          </a:p>
        </p:txBody>
      </p:sp>
      <p:sp>
        <p:nvSpPr>
          <p:cNvPr id="24" name="step Live site"/>
          <p:cNvSpPr/>
          <p:nvPr/>
        </p:nvSpPr>
        <p:spPr>
          <a:xfrm>
            <a:off x="7223760" y="1234440"/>
            <a:ext cx="1463040" cy="2240280"/>
          </a:xfrm>
          <a:prstGeom prst="roundRect">
            <a:avLst>
              <a:gd name="adj" fmla="val 5000"/>
            </a:avLst>
          </a:prstGeom>
          <a:solidFill>
            <a:schemeClr val="bg2"/>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7726680" y="1417320"/>
            <a:ext cx="457200" cy="457200"/>
          </a:xfrm>
          <a:prstGeom prst="rect">
            <a:avLst/>
          </a:prstGeom>
        </p:spPr>
      </p:pic>
      <p:sp>
        <p:nvSpPr>
          <p:cNvPr id="26" name="Text 18"/>
          <p:cNvSpPr txBox="1"/>
          <p:nvPr/>
        </p:nvSpPr>
        <p:spPr>
          <a:xfrm>
            <a:off x="7296912" y="1984248"/>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Live site</a:t>
            </a:r>
            <a:endParaRPr lang="en-US" sz="1500" dirty="0"/>
          </a:p>
        </p:txBody>
      </p:sp>
      <p:sp>
        <p:nvSpPr>
          <p:cNvPr id="27" name="Text 19"/>
          <p:cNvSpPr txBox="1"/>
          <p:nvPr/>
        </p:nvSpPr>
        <p:spPr>
          <a:xfrm>
            <a:off x="7296912" y="2395728"/>
            <a:ext cx="1316736" cy="1005840"/>
          </a:xfrm>
          <a:prstGeom prst="rect">
            <a:avLst/>
          </a:prstGeom>
          <a:noFill/>
          <a:ln/>
        </p:spPr>
        <p:txBody>
          <a:bodyPr wrap="square" lIns="0" tIns="0" rIns="0" bIns="0" rtlCol="0" anchor="t"/>
          <a:lstStyle/>
          <a:p>
            <a:pPr marL="0" indent="0" algn="ctr">
              <a:buNone/>
            </a:pPr>
            <a:r>
              <a:rPr lang="en-US" sz="1200" dirty="0">
                <a:solidFill>
                  <a:schemeClr val="tx2"/>
                </a:solidFill>
              </a:rPr>
              <a:t>GitHub Pages</a:t>
            </a:r>
            <a:endParaRPr lang="en-US" sz="1200" dirty="0"/>
          </a:p>
          <a:p>
            <a:pPr marL="0" indent="0" algn="ctr">
              <a:buNone/>
            </a:pPr>
            <a:r>
              <a:rPr lang="en-US" sz="1200" dirty="0">
                <a:solidFill>
                  <a:schemeClr val="tx2"/>
                </a:solidFill>
              </a:rPr>
              <a:t>your own URL</a:t>
            </a:r>
            <a:endParaRPr lang="en-US" sz="1200" dirty="0"/>
          </a:p>
        </p:txBody>
      </p:sp>
      <p:sp>
        <p:nvSpPr>
          <p:cNvPr id="28" name="Text 20"/>
          <p:cNvSpPr txBox="1"/>
          <p:nvPr/>
        </p:nvSpPr>
        <p:spPr>
          <a:xfrm>
            <a:off x="457200" y="3794760"/>
            <a:ext cx="8229600" cy="365760"/>
          </a:xfrm>
          <a:prstGeom prst="rect">
            <a:avLst/>
          </a:prstGeom>
          <a:noFill/>
          <a:ln/>
        </p:spPr>
        <p:txBody>
          <a:bodyPr wrap="square" lIns="0" tIns="0" rIns="0" bIns="0" rtlCol="0" anchor="ctr"/>
          <a:lstStyle/>
          <a:p>
            <a:pPr marL="0" indent="0">
              <a:buNone/>
            </a:pPr>
            <a:r>
              <a:rPr lang="en-US" sz="1600" dirty="0">
                <a:solidFill>
                  <a:schemeClr val="tx2"/>
                </a:solidFill>
              </a:rPr>
              <a:t>One repo for the whole day: </a:t>
            </a:r>
            <a:r>
              <a:rPr lang="en-US" sz="1600" b="1" dirty="0">
                <a:solidFill>
                  <a:schemeClr val="tx1"/>
                </a:solidFill>
              </a:rPr>
              <a:t>github.com/hakanotal/soft-dev-ws-2026</a:t>
            </a:r>
            <a:endParaRPr lang="en-US" sz="1600" dirty="0"/>
          </a:p>
        </p:txBody>
      </p:sp>
      <p:sp>
        <p:nvSpPr>
          <p:cNvPr id="29" name="Text 21"/>
          <p:cNvSpPr txBox="1"/>
          <p:nvPr/>
        </p:nvSpPr>
        <p:spPr>
          <a:xfrm>
            <a:off x="457200" y="4206240"/>
            <a:ext cx="8229600" cy="320040"/>
          </a:xfrm>
          <a:prstGeom prst="rect">
            <a:avLst/>
          </a:prstGeom>
          <a:noFill/>
          <a:ln/>
        </p:spPr>
        <p:txBody>
          <a:bodyPr wrap="square" lIns="0" tIns="0" rIns="0" bIns="0" rtlCol="0" anchor="t"/>
          <a:lstStyle/>
          <a:p>
            <a:pPr marL="0" indent="0" algn="l">
              <a:buNone/>
            </a:pPr>
            <a:r>
              <a:rPr lang="en-US" sz="1400" dirty="0">
                <a:solidFill>
                  <a:schemeClr val="tx2"/>
                </a:solidFill>
              </a:rPr>
              <a:t>CLAUDE.md in the repo tells Claude how this project is built.</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How the day works</a:t>
            </a:r>
            <a:endParaRPr lang="en-US" sz="3000" dirty="0"/>
          </a:p>
        </p:txBody>
      </p:sp>
      <p:sp>
        <p:nvSpPr>
          <p:cNvPr id="4" name="card I do"/>
          <p:cNvSpPr/>
          <p:nvPr/>
        </p:nvSpPr>
        <p:spPr>
          <a:xfrm>
            <a:off x="457200" y="1188720"/>
            <a:ext cx="2560320" cy="2148840"/>
          </a:xfrm>
          <a:prstGeom prst="roundRect">
            <a:avLst>
              <a:gd name="adj" fmla="val 3404"/>
            </a:avLst>
          </a:prstGeom>
          <a:solidFill>
            <a:schemeClr val="bg2"/>
          </a:solidFill>
          <a:ln/>
        </p:spPr>
        <p:txBody>
          <a:bodyPr/>
          <a:lstStyle/>
          <a:p>
            <a:endParaRPr lang="en-US"/>
          </a:p>
        </p:txBody>
      </p:sp>
      <p:pic>
        <p:nvPicPr>
          <p:cNvPr id="5" name="icon I do" descr="preencoded.png"/>
          <p:cNvPicPr>
            <a:picLocks noChangeAspect="1"/>
          </p:cNvPicPr>
          <p:nvPr/>
        </p:nvPicPr>
        <p:blipFill>
          <a:blip r:embed="rId3"/>
          <a:stretch>
            <a:fillRect/>
          </a:stretch>
        </p:blipFill>
        <p:spPr>
          <a:xfrm>
            <a:off x="658368" y="1371600"/>
            <a:ext cx="411480" cy="411480"/>
          </a:xfrm>
          <a:prstGeom prst="rect">
            <a:avLst/>
          </a:prstGeom>
        </p:spPr>
      </p:pic>
      <p:sp>
        <p:nvSpPr>
          <p:cNvPr id="6" name="Text 2"/>
          <p:cNvSpPr txBox="1"/>
          <p:nvPr/>
        </p:nvSpPr>
        <p:spPr>
          <a:xfrm>
            <a:off x="658368" y="1901952"/>
            <a:ext cx="2157984" cy="365760"/>
          </a:xfrm>
          <a:prstGeom prst="rect">
            <a:avLst/>
          </a:prstGeom>
          <a:noFill/>
          <a:ln/>
        </p:spPr>
        <p:txBody>
          <a:bodyPr wrap="square" lIns="0" tIns="0" rIns="0" bIns="0" rtlCol="0" anchor="t"/>
          <a:lstStyle/>
          <a:p>
            <a:pPr marL="0" indent="0">
              <a:buNone/>
            </a:pPr>
            <a:r>
              <a:rPr lang="en-US" sz="1600" b="1" dirty="0">
                <a:solidFill>
                  <a:schemeClr val="tx1"/>
                </a:solidFill>
              </a:rPr>
              <a:t>I do</a:t>
            </a:r>
            <a:endParaRPr lang="en-US" sz="1600" dirty="0"/>
          </a:p>
        </p:txBody>
      </p:sp>
      <p:sp>
        <p:nvSpPr>
          <p:cNvPr id="7" name="Text 3"/>
          <p:cNvSpPr txBox="1"/>
          <p:nvPr/>
        </p:nvSpPr>
        <p:spPr>
          <a:xfrm>
            <a:off x="658368" y="2313432"/>
            <a:ext cx="2157984" cy="914400"/>
          </a:xfrm>
          <a:prstGeom prst="rect">
            <a:avLst/>
          </a:prstGeom>
          <a:noFill/>
          <a:ln/>
        </p:spPr>
        <p:txBody>
          <a:bodyPr wrap="square" lIns="0" tIns="0" rIns="0" bIns="0" rtlCol="0" anchor="t"/>
          <a:lstStyle/>
          <a:p>
            <a:pPr marL="0" indent="0">
              <a:buNone/>
            </a:pPr>
            <a:r>
              <a:rPr lang="en-US" sz="1600" dirty="0">
                <a:solidFill>
                  <a:schemeClr val="tx2"/>
                </a:solidFill>
              </a:rPr>
              <a:t>Watch the demo first. No typing yet.</a:t>
            </a:r>
            <a:endParaRPr lang="en-US" sz="1600" dirty="0"/>
          </a:p>
        </p:txBody>
      </p:sp>
      <p:sp>
        <p:nvSpPr>
          <p:cNvPr id="8" name="card We do"/>
          <p:cNvSpPr/>
          <p:nvPr/>
        </p:nvSpPr>
        <p:spPr>
          <a:xfrm>
            <a:off x="3291840" y="1188720"/>
            <a:ext cx="2560320" cy="2148840"/>
          </a:xfrm>
          <a:prstGeom prst="roundRect">
            <a:avLst>
              <a:gd name="adj" fmla="val 3404"/>
            </a:avLst>
          </a:prstGeom>
          <a:solidFill>
            <a:schemeClr val="bg2"/>
          </a:solidFill>
          <a:ln/>
        </p:spPr>
        <p:txBody>
          <a:bodyPr/>
          <a:lstStyle/>
          <a:p>
            <a:endParaRPr lang="en-US"/>
          </a:p>
        </p:txBody>
      </p:sp>
      <p:pic>
        <p:nvPicPr>
          <p:cNvPr id="9" name="icon We do" descr="preencoded.png"/>
          <p:cNvPicPr>
            <a:picLocks noChangeAspect="1"/>
          </p:cNvPicPr>
          <p:nvPr/>
        </p:nvPicPr>
        <p:blipFill>
          <a:blip r:embed="rId4"/>
          <a:stretch>
            <a:fillRect/>
          </a:stretch>
        </p:blipFill>
        <p:spPr>
          <a:xfrm>
            <a:off x="3493008" y="1371600"/>
            <a:ext cx="411480" cy="411480"/>
          </a:xfrm>
          <a:prstGeom prst="rect">
            <a:avLst/>
          </a:prstGeom>
        </p:spPr>
      </p:pic>
      <p:sp>
        <p:nvSpPr>
          <p:cNvPr id="10" name="Text 5"/>
          <p:cNvSpPr txBox="1"/>
          <p:nvPr/>
        </p:nvSpPr>
        <p:spPr>
          <a:xfrm>
            <a:off x="3493008" y="1901952"/>
            <a:ext cx="2157984" cy="365760"/>
          </a:xfrm>
          <a:prstGeom prst="rect">
            <a:avLst/>
          </a:prstGeom>
          <a:noFill/>
          <a:ln/>
        </p:spPr>
        <p:txBody>
          <a:bodyPr wrap="square" lIns="0" tIns="0" rIns="0" bIns="0" rtlCol="0" anchor="t"/>
          <a:lstStyle/>
          <a:p>
            <a:pPr marL="0" indent="0">
              <a:buNone/>
            </a:pPr>
            <a:r>
              <a:rPr lang="en-US" sz="1600" b="1" dirty="0">
                <a:solidFill>
                  <a:schemeClr val="tx1"/>
                </a:solidFill>
              </a:rPr>
              <a:t>We do</a:t>
            </a:r>
            <a:endParaRPr lang="en-US" sz="1600" dirty="0"/>
          </a:p>
        </p:txBody>
      </p:sp>
      <p:sp>
        <p:nvSpPr>
          <p:cNvPr id="11" name="Text 6"/>
          <p:cNvSpPr txBox="1"/>
          <p:nvPr/>
        </p:nvSpPr>
        <p:spPr>
          <a:xfrm>
            <a:off x="3493008" y="2313432"/>
            <a:ext cx="2157984" cy="914400"/>
          </a:xfrm>
          <a:prstGeom prst="rect">
            <a:avLst/>
          </a:prstGeom>
          <a:noFill/>
          <a:ln/>
        </p:spPr>
        <p:txBody>
          <a:bodyPr wrap="square" lIns="0" tIns="0" rIns="0" bIns="0" rtlCol="0" anchor="t"/>
          <a:lstStyle/>
          <a:p>
            <a:pPr marL="0" indent="0">
              <a:buNone/>
            </a:pPr>
            <a:r>
              <a:rPr lang="en-US" sz="1600" dirty="0">
                <a:solidFill>
                  <a:schemeClr val="tx2"/>
                </a:solidFill>
              </a:rPr>
              <a:t>Same steps together, at the same pace.</a:t>
            </a:r>
            <a:endParaRPr lang="en-US" sz="1600" dirty="0"/>
          </a:p>
        </p:txBody>
      </p:sp>
      <p:sp>
        <p:nvSpPr>
          <p:cNvPr id="12" name="card You do"/>
          <p:cNvSpPr/>
          <p:nvPr/>
        </p:nvSpPr>
        <p:spPr>
          <a:xfrm>
            <a:off x="6126480" y="1188720"/>
            <a:ext cx="2560320" cy="2148840"/>
          </a:xfrm>
          <a:prstGeom prst="roundRect">
            <a:avLst>
              <a:gd name="adj" fmla="val 3404"/>
            </a:avLst>
          </a:prstGeom>
          <a:solidFill>
            <a:schemeClr val="bg2"/>
          </a:solidFill>
          <a:ln/>
        </p:spPr>
        <p:txBody>
          <a:bodyPr/>
          <a:lstStyle/>
          <a:p>
            <a:endParaRPr lang="en-US"/>
          </a:p>
        </p:txBody>
      </p:sp>
      <p:pic>
        <p:nvPicPr>
          <p:cNvPr id="13" name="icon You do" descr="preencoded.png"/>
          <p:cNvPicPr>
            <a:picLocks noChangeAspect="1"/>
          </p:cNvPicPr>
          <p:nvPr/>
        </p:nvPicPr>
        <p:blipFill>
          <a:blip r:embed="rId5"/>
          <a:stretch>
            <a:fillRect/>
          </a:stretch>
        </p:blipFill>
        <p:spPr>
          <a:xfrm>
            <a:off x="6327648" y="1371600"/>
            <a:ext cx="411480" cy="411480"/>
          </a:xfrm>
          <a:prstGeom prst="rect">
            <a:avLst/>
          </a:prstGeom>
        </p:spPr>
      </p:pic>
      <p:sp>
        <p:nvSpPr>
          <p:cNvPr id="14" name="Text 8"/>
          <p:cNvSpPr txBox="1"/>
          <p:nvPr/>
        </p:nvSpPr>
        <p:spPr>
          <a:xfrm>
            <a:off x="6327648" y="1901952"/>
            <a:ext cx="2157984" cy="365760"/>
          </a:xfrm>
          <a:prstGeom prst="rect">
            <a:avLst/>
          </a:prstGeom>
          <a:noFill/>
          <a:ln/>
        </p:spPr>
        <p:txBody>
          <a:bodyPr wrap="square" lIns="0" tIns="0" rIns="0" bIns="0" rtlCol="0" anchor="t"/>
          <a:lstStyle/>
          <a:p>
            <a:pPr marL="0" indent="0">
              <a:buNone/>
            </a:pPr>
            <a:r>
              <a:rPr lang="en-US" sz="1600" b="1" dirty="0">
                <a:solidFill>
                  <a:schemeClr val="tx1"/>
                </a:solidFill>
              </a:rPr>
              <a:t>You do</a:t>
            </a:r>
            <a:endParaRPr lang="en-US" sz="1600" dirty="0"/>
          </a:p>
        </p:txBody>
      </p:sp>
      <p:sp>
        <p:nvSpPr>
          <p:cNvPr id="15" name="Text 9"/>
          <p:cNvSpPr txBox="1"/>
          <p:nvPr/>
        </p:nvSpPr>
        <p:spPr>
          <a:xfrm>
            <a:off x="6327648" y="2313432"/>
            <a:ext cx="2157984" cy="914400"/>
          </a:xfrm>
          <a:prstGeom prst="rect">
            <a:avLst/>
          </a:prstGeom>
          <a:noFill/>
          <a:ln/>
        </p:spPr>
        <p:txBody>
          <a:bodyPr wrap="square" lIns="0" tIns="0" rIns="0" bIns="0" rtlCol="0" anchor="t"/>
          <a:lstStyle/>
          <a:p>
            <a:pPr marL="0" indent="0">
              <a:buNone/>
            </a:pPr>
            <a:r>
              <a:rPr lang="en-US" sz="1600" dirty="0">
                <a:solidFill>
                  <a:schemeClr val="tx2"/>
                </a:solidFill>
              </a:rPr>
              <a:t>A short exercise on your own. Pairs for the final project.</a:t>
            </a:r>
            <a:endParaRPr lang="en-US" sz="1600" dirty="0"/>
          </a:p>
        </p:txBody>
      </p:sp>
      <p:sp>
        <p:nvSpPr>
          <p:cNvPr id="16" name="callout"/>
          <p:cNvSpPr/>
          <p:nvPr/>
        </p:nvSpPr>
        <p:spPr>
          <a:xfrm>
            <a:off x="457200" y="3703320"/>
            <a:ext cx="8229600" cy="731520"/>
          </a:xfrm>
          <a:prstGeom prst="roundRect">
            <a:avLst>
              <a:gd name="adj" fmla="val 10000"/>
            </a:avLst>
          </a:prstGeom>
          <a:solidFill>
            <a:schemeClr val="tx1"/>
          </a:solidFill>
          <a:ln/>
        </p:spPr>
        <p:txBody>
          <a:bodyPr/>
          <a:lstStyle/>
          <a:p>
            <a:endParaRPr lang="en-US"/>
          </a:p>
        </p:txBody>
      </p:sp>
      <p:sp>
        <p:nvSpPr>
          <p:cNvPr id="17" name="callout text"/>
          <p:cNvSpPr txBox="1"/>
          <p:nvPr/>
        </p:nvSpPr>
        <p:spPr>
          <a:xfrm>
            <a:off x="685800" y="3703320"/>
            <a:ext cx="7772400" cy="731520"/>
          </a:xfrm>
          <a:prstGeom prst="rect">
            <a:avLst/>
          </a:prstGeom>
          <a:noFill/>
          <a:ln/>
        </p:spPr>
        <p:txBody>
          <a:bodyPr wrap="square" lIns="0" tIns="0" rIns="0" bIns="0" rtlCol="0" anchor="ctr"/>
          <a:lstStyle/>
          <a:p>
            <a:pPr marL="0" indent="0" algn="l">
              <a:buNone/>
            </a:pPr>
            <a:r>
              <a:rPr lang="en-US" sz="1800" dirty="0">
                <a:solidFill>
                  <a:schemeClr val="bg1"/>
                </a:solidFill>
              </a:rPr>
              <a:t>Rule for the day: the AI is not done until it has shown you something working.</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1</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How agents work</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20 min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The agent loop</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1</a:t>
            </a:r>
            <a:endParaRPr lang="en-US" sz="1200" dirty="0"/>
          </a:p>
        </p:txBody>
      </p:sp>
      <p:sp>
        <p:nvSpPr>
          <p:cNvPr id="5" name="step Read files"/>
          <p:cNvSpPr/>
          <p:nvPr/>
        </p:nvSpPr>
        <p:spPr>
          <a:xfrm>
            <a:off x="457200" y="1234440"/>
            <a:ext cx="1463040" cy="1234440"/>
          </a:xfrm>
          <a:prstGeom prst="roundRect">
            <a:avLst>
              <a:gd name="adj" fmla="val 5926"/>
            </a:avLst>
          </a:prstGeom>
          <a:solidFill>
            <a:schemeClr val="bg2"/>
          </a:solidFill>
          <a:ln/>
        </p:spPr>
        <p:txBody>
          <a:bodyPr/>
          <a:lstStyle/>
          <a:p>
            <a:endParaRPr lang="en-US"/>
          </a:p>
        </p:txBody>
      </p:sp>
      <p:sp>
        <p:nvSpPr>
          <p:cNvPr id="6" name="Text 3"/>
          <p:cNvSpPr txBox="1"/>
          <p:nvPr/>
        </p:nvSpPr>
        <p:spPr>
          <a:xfrm>
            <a:off x="530352" y="1371600"/>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Read files</a:t>
            </a:r>
            <a:endParaRPr lang="en-US" sz="1500" dirty="0"/>
          </a:p>
        </p:txBody>
      </p:sp>
      <p:sp>
        <p:nvSpPr>
          <p:cNvPr id="7" name="Text 4"/>
          <p:cNvSpPr txBox="1"/>
          <p:nvPr/>
        </p:nvSpPr>
        <p:spPr>
          <a:xfrm>
            <a:off x="530352" y="1783080"/>
            <a:ext cx="1316736" cy="612648"/>
          </a:xfrm>
          <a:prstGeom prst="rect">
            <a:avLst/>
          </a:prstGeom>
          <a:noFill/>
          <a:ln/>
        </p:spPr>
        <p:txBody>
          <a:bodyPr wrap="square" lIns="0" tIns="0" rIns="0" bIns="0" rtlCol="0" anchor="t"/>
          <a:lstStyle/>
          <a:p>
            <a:pPr marL="0" indent="0" algn="ctr">
              <a:buNone/>
            </a:pPr>
            <a:r>
              <a:rPr lang="en-US" sz="1200" dirty="0">
                <a:solidFill>
                  <a:schemeClr val="tx2"/>
                </a:solidFill>
              </a:rPr>
              <a:t>CLAUDE.md, code, data</a:t>
            </a:r>
            <a:endParaRPr lang="en-US" sz="1200" dirty="0"/>
          </a:p>
        </p:txBody>
      </p:sp>
      <p:sp>
        <p:nvSpPr>
          <p:cNvPr id="8" name="Shape 5"/>
          <p:cNvSpPr/>
          <p:nvPr/>
        </p:nvSpPr>
        <p:spPr>
          <a:xfrm>
            <a:off x="1956816" y="1851660"/>
            <a:ext cx="155448" cy="0"/>
          </a:xfrm>
          <a:prstGeom prst="line">
            <a:avLst/>
          </a:prstGeom>
          <a:noFill/>
          <a:ln w="19050">
            <a:solidFill>
              <a:schemeClr val="tx2"/>
            </a:solidFill>
            <a:prstDash val="solid"/>
            <a:tailEnd type="triangle"/>
          </a:ln>
        </p:spPr>
        <p:txBody>
          <a:bodyPr/>
          <a:lstStyle/>
          <a:p>
            <a:endParaRPr lang="en-US"/>
          </a:p>
        </p:txBody>
      </p:sp>
      <p:sp>
        <p:nvSpPr>
          <p:cNvPr id="9" name="step Plan"/>
          <p:cNvSpPr/>
          <p:nvPr/>
        </p:nvSpPr>
        <p:spPr>
          <a:xfrm>
            <a:off x="2148840" y="1234440"/>
            <a:ext cx="1463040" cy="1234440"/>
          </a:xfrm>
          <a:prstGeom prst="roundRect">
            <a:avLst>
              <a:gd name="adj" fmla="val 5926"/>
            </a:avLst>
          </a:prstGeom>
          <a:solidFill>
            <a:schemeClr val="bg2"/>
          </a:solidFill>
          <a:ln/>
        </p:spPr>
        <p:txBody>
          <a:bodyPr/>
          <a:lstStyle/>
          <a:p>
            <a:endParaRPr lang="en-US"/>
          </a:p>
        </p:txBody>
      </p:sp>
      <p:sp>
        <p:nvSpPr>
          <p:cNvPr id="10" name="Text 7"/>
          <p:cNvSpPr txBox="1"/>
          <p:nvPr/>
        </p:nvSpPr>
        <p:spPr>
          <a:xfrm>
            <a:off x="2221992" y="1371600"/>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Plan</a:t>
            </a:r>
            <a:endParaRPr lang="en-US" sz="1500" dirty="0"/>
          </a:p>
        </p:txBody>
      </p:sp>
      <p:sp>
        <p:nvSpPr>
          <p:cNvPr id="11" name="Text 8"/>
          <p:cNvSpPr txBox="1"/>
          <p:nvPr/>
        </p:nvSpPr>
        <p:spPr>
          <a:xfrm>
            <a:off x="2221992" y="1783080"/>
            <a:ext cx="1316736" cy="612648"/>
          </a:xfrm>
          <a:prstGeom prst="rect">
            <a:avLst/>
          </a:prstGeom>
          <a:noFill/>
          <a:ln/>
        </p:spPr>
        <p:txBody>
          <a:bodyPr wrap="square" lIns="0" tIns="0" rIns="0" bIns="0" rtlCol="0" anchor="t"/>
          <a:lstStyle/>
          <a:p>
            <a:pPr marL="0" indent="0" algn="ctr">
              <a:buNone/>
            </a:pPr>
            <a:r>
              <a:rPr lang="en-US" sz="1200" dirty="0">
                <a:solidFill>
                  <a:schemeClr val="tx2"/>
                </a:solidFill>
              </a:rPr>
              <a:t>decide the steps</a:t>
            </a:r>
            <a:endParaRPr lang="en-US" sz="1200" dirty="0"/>
          </a:p>
        </p:txBody>
      </p:sp>
      <p:sp>
        <p:nvSpPr>
          <p:cNvPr id="12" name="Shape 9"/>
          <p:cNvSpPr/>
          <p:nvPr/>
        </p:nvSpPr>
        <p:spPr>
          <a:xfrm>
            <a:off x="3648456" y="1851660"/>
            <a:ext cx="155448" cy="0"/>
          </a:xfrm>
          <a:prstGeom prst="line">
            <a:avLst/>
          </a:prstGeom>
          <a:noFill/>
          <a:ln w="19050">
            <a:solidFill>
              <a:schemeClr val="tx2"/>
            </a:solidFill>
            <a:prstDash val="solid"/>
            <a:tailEnd type="triangle"/>
          </a:ln>
        </p:spPr>
        <p:txBody>
          <a:bodyPr/>
          <a:lstStyle/>
          <a:p>
            <a:endParaRPr lang="en-US"/>
          </a:p>
        </p:txBody>
      </p:sp>
      <p:sp>
        <p:nvSpPr>
          <p:cNvPr id="13" name="step Edit code"/>
          <p:cNvSpPr/>
          <p:nvPr/>
        </p:nvSpPr>
        <p:spPr>
          <a:xfrm>
            <a:off x="3840480" y="1234440"/>
            <a:ext cx="1463040" cy="1234440"/>
          </a:xfrm>
          <a:prstGeom prst="roundRect">
            <a:avLst>
              <a:gd name="adj" fmla="val 5926"/>
            </a:avLst>
          </a:prstGeom>
          <a:solidFill>
            <a:schemeClr val="bg2"/>
          </a:solidFill>
          <a:ln/>
        </p:spPr>
        <p:txBody>
          <a:bodyPr/>
          <a:lstStyle/>
          <a:p>
            <a:endParaRPr lang="en-US"/>
          </a:p>
        </p:txBody>
      </p:sp>
      <p:sp>
        <p:nvSpPr>
          <p:cNvPr id="14" name="Text 11"/>
          <p:cNvSpPr txBox="1"/>
          <p:nvPr/>
        </p:nvSpPr>
        <p:spPr>
          <a:xfrm>
            <a:off x="3913632" y="1371600"/>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Edit code</a:t>
            </a:r>
            <a:endParaRPr lang="en-US" sz="1500" dirty="0"/>
          </a:p>
        </p:txBody>
      </p:sp>
      <p:sp>
        <p:nvSpPr>
          <p:cNvPr id="15" name="Text 12"/>
          <p:cNvSpPr txBox="1"/>
          <p:nvPr/>
        </p:nvSpPr>
        <p:spPr>
          <a:xfrm>
            <a:off x="3913632" y="1783080"/>
            <a:ext cx="1316736" cy="612648"/>
          </a:xfrm>
          <a:prstGeom prst="rect">
            <a:avLst/>
          </a:prstGeom>
          <a:noFill/>
          <a:ln/>
        </p:spPr>
        <p:txBody>
          <a:bodyPr wrap="square" lIns="0" tIns="0" rIns="0" bIns="0" rtlCol="0" anchor="t"/>
          <a:lstStyle/>
          <a:p>
            <a:pPr marL="0" indent="0" algn="ctr">
              <a:buNone/>
            </a:pPr>
            <a:r>
              <a:rPr lang="en-US" sz="1200" dirty="0">
                <a:solidFill>
                  <a:schemeClr val="tx2"/>
                </a:solidFill>
              </a:rPr>
              <a:t>write the changes</a:t>
            </a:r>
            <a:endParaRPr lang="en-US" sz="1200" dirty="0"/>
          </a:p>
        </p:txBody>
      </p:sp>
      <p:sp>
        <p:nvSpPr>
          <p:cNvPr id="16" name="Shape 13"/>
          <p:cNvSpPr/>
          <p:nvPr/>
        </p:nvSpPr>
        <p:spPr>
          <a:xfrm>
            <a:off x="5340096" y="1851660"/>
            <a:ext cx="155448" cy="0"/>
          </a:xfrm>
          <a:prstGeom prst="line">
            <a:avLst/>
          </a:prstGeom>
          <a:noFill/>
          <a:ln w="19050">
            <a:solidFill>
              <a:schemeClr val="tx2"/>
            </a:solidFill>
            <a:prstDash val="solid"/>
            <a:tailEnd type="triangle"/>
          </a:ln>
        </p:spPr>
        <p:txBody>
          <a:bodyPr/>
          <a:lstStyle/>
          <a:p>
            <a:endParaRPr lang="en-US"/>
          </a:p>
        </p:txBody>
      </p:sp>
      <p:sp>
        <p:nvSpPr>
          <p:cNvPr id="17" name="step Run commands"/>
          <p:cNvSpPr/>
          <p:nvPr/>
        </p:nvSpPr>
        <p:spPr>
          <a:xfrm>
            <a:off x="5532120" y="1234440"/>
            <a:ext cx="1463040" cy="1234440"/>
          </a:xfrm>
          <a:prstGeom prst="roundRect">
            <a:avLst>
              <a:gd name="adj" fmla="val 5926"/>
            </a:avLst>
          </a:prstGeom>
          <a:solidFill>
            <a:schemeClr val="bg2"/>
          </a:solidFill>
          <a:ln/>
        </p:spPr>
        <p:txBody>
          <a:bodyPr/>
          <a:lstStyle/>
          <a:p>
            <a:endParaRPr lang="en-US"/>
          </a:p>
        </p:txBody>
      </p:sp>
      <p:sp>
        <p:nvSpPr>
          <p:cNvPr id="18" name="Text 15"/>
          <p:cNvSpPr txBox="1"/>
          <p:nvPr/>
        </p:nvSpPr>
        <p:spPr>
          <a:xfrm>
            <a:off x="5605272" y="1371600"/>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Run commands</a:t>
            </a:r>
            <a:endParaRPr lang="en-US" sz="1500" dirty="0"/>
          </a:p>
        </p:txBody>
      </p:sp>
      <p:sp>
        <p:nvSpPr>
          <p:cNvPr id="19" name="Text 16"/>
          <p:cNvSpPr txBox="1"/>
          <p:nvPr/>
        </p:nvSpPr>
        <p:spPr>
          <a:xfrm>
            <a:off x="5605272" y="1783080"/>
            <a:ext cx="1316736" cy="612648"/>
          </a:xfrm>
          <a:prstGeom prst="rect">
            <a:avLst/>
          </a:prstGeom>
          <a:noFill/>
          <a:ln/>
        </p:spPr>
        <p:txBody>
          <a:bodyPr wrap="square" lIns="0" tIns="0" rIns="0" bIns="0" rtlCol="0" anchor="t"/>
          <a:lstStyle/>
          <a:p>
            <a:pPr marL="0" indent="0" algn="ctr">
              <a:buNone/>
            </a:pPr>
            <a:r>
              <a:rPr lang="en-US" sz="1200" dirty="0">
                <a:solidFill>
                  <a:schemeClr val="tx2"/>
                </a:solidFill>
              </a:rPr>
              <a:t>tests, builds, scripts</a:t>
            </a:r>
            <a:endParaRPr lang="en-US" sz="1200" dirty="0"/>
          </a:p>
        </p:txBody>
      </p:sp>
      <p:sp>
        <p:nvSpPr>
          <p:cNvPr id="20" name="Shape 17"/>
          <p:cNvSpPr/>
          <p:nvPr/>
        </p:nvSpPr>
        <p:spPr>
          <a:xfrm>
            <a:off x="7031736" y="1851660"/>
            <a:ext cx="155448" cy="0"/>
          </a:xfrm>
          <a:prstGeom prst="line">
            <a:avLst/>
          </a:prstGeom>
          <a:noFill/>
          <a:ln w="19050">
            <a:solidFill>
              <a:schemeClr val="tx2"/>
            </a:solidFill>
            <a:prstDash val="solid"/>
            <a:tailEnd type="triangle"/>
          </a:ln>
        </p:spPr>
        <p:txBody>
          <a:bodyPr/>
          <a:lstStyle/>
          <a:p>
            <a:endParaRPr lang="en-US"/>
          </a:p>
        </p:txBody>
      </p:sp>
      <p:sp>
        <p:nvSpPr>
          <p:cNvPr id="21" name="step Check results"/>
          <p:cNvSpPr/>
          <p:nvPr/>
        </p:nvSpPr>
        <p:spPr>
          <a:xfrm>
            <a:off x="7223760" y="1234440"/>
            <a:ext cx="1463040" cy="1234440"/>
          </a:xfrm>
          <a:prstGeom prst="roundRect">
            <a:avLst>
              <a:gd name="adj" fmla="val 5926"/>
            </a:avLst>
          </a:prstGeom>
          <a:solidFill>
            <a:schemeClr val="bg2"/>
          </a:solidFill>
          <a:ln/>
        </p:spPr>
        <p:txBody>
          <a:bodyPr/>
          <a:lstStyle/>
          <a:p>
            <a:endParaRPr lang="en-US"/>
          </a:p>
        </p:txBody>
      </p:sp>
      <p:sp>
        <p:nvSpPr>
          <p:cNvPr id="22" name="Text 19"/>
          <p:cNvSpPr txBox="1"/>
          <p:nvPr/>
        </p:nvSpPr>
        <p:spPr>
          <a:xfrm>
            <a:off x="7296912" y="1371600"/>
            <a:ext cx="1316736" cy="365760"/>
          </a:xfrm>
          <a:prstGeom prst="rect">
            <a:avLst/>
          </a:prstGeom>
          <a:noFill/>
          <a:ln/>
        </p:spPr>
        <p:txBody>
          <a:bodyPr wrap="square" lIns="0" tIns="0" rIns="0" bIns="0" rtlCol="0" anchor="t"/>
          <a:lstStyle/>
          <a:p>
            <a:pPr marL="0" indent="0" algn="ctr">
              <a:buNone/>
            </a:pPr>
            <a:r>
              <a:rPr lang="en-US" sz="1500" b="1" dirty="0">
                <a:solidFill>
                  <a:schemeClr val="tx1"/>
                </a:solidFill>
              </a:rPr>
              <a:t>Check results</a:t>
            </a:r>
            <a:endParaRPr lang="en-US" sz="1500" dirty="0"/>
          </a:p>
        </p:txBody>
      </p:sp>
      <p:sp>
        <p:nvSpPr>
          <p:cNvPr id="23" name="Text 20"/>
          <p:cNvSpPr txBox="1"/>
          <p:nvPr/>
        </p:nvSpPr>
        <p:spPr>
          <a:xfrm>
            <a:off x="7296912" y="1783080"/>
            <a:ext cx="1316736" cy="612648"/>
          </a:xfrm>
          <a:prstGeom prst="rect">
            <a:avLst/>
          </a:prstGeom>
          <a:noFill/>
          <a:ln/>
        </p:spPr>
        <p:txBody>
          <a:bodyPr wrap="square" lIns="0" tIns="0" rIns="0" bIns="0" rtlCol="0" anchor="t"/>
          <a:lstStyle/>
          <a:p>
            <a:pPr marL="0" indent="0" algn="ctr">
              <a:buNone/>
            </a:pPr>
            <a:r>
              <a:rPr lang="en-US" sz="1200" dirty="0">
                <a:solidFill>
                  <a:schemeClr val="tx2"/>
                </a:solidFill>
              </a:rPr>
              <a:t>did it work?</a:t>
            </a:r>
            <a:endParaRPr lang="en-US" sz="1200" dirty="0"/>
          </a:p>
        </p:txBody>
      </p:sp>
      <p:sp>
        <p:nvSpPr>
          <p:cNvPr id="24" name="Shape 21"/>
          <p:cNvSpPr/>
          <p:nvPr/>
        </p:nvSpPr>
        <p:spPr>
          <a:xfrm>
            <a:off x="7955280" y="2468880"/>
            <a:ext cx="0" cy="274320"/>
          </a:xfrm>
          <a:prstGeom prst="line">
            <a:avLst/>
          </a:prstGeom>
          <a:noFill/>
          <a:ln w="19050">
            <a:solidFill>
              <a:schemeClr val="tx2"/>
            </a:solidFill>
            <a:prstDash val="solid"/>
          </a:ln>
        </p:spPr>
        <p:txBody>
          <a:bodyPr/>
          <a:lstStyle/>
          <a:p>
            <a:endParaRPr lang="en-US"/>
          </a:p>
        </p:txBody>
      </p:sp>
      <p:sp>
        <p:nvSpPr>
          <p:cNvPr id="25" name="Shape 22"/>
          <p:cNvSpPr/>
          <p:nvPr/>
        </p:nvSpPr>
        <p:spPr>
          <a:xfrm>
            <a:off x="1188720" y="2743200"/>
            <a:ext cx="6766560" cy="0"/>
          </a:xfrm>
          <a:prstGeom prst="line">
            <a:avLst/>
          </a:prstGeom>
          <a:noFill/>
          <a:ln w="19050">
            <a:solidFill>
              <a:schemeClr val="tx2"/>
            </a:solidFill>
            <a:prstDash val="solid"/>
          </a:ln>
        </p:spPr>
        <p:txBody>
          <a:bodyPr/>
          <a:lstStyle/>
          <a:p>
            <a:endParaRPr lang="en-US"/>
          </a:p>
        </p:txBody>
      </p:sp>
      <p:sp>
        <p:nvSpPr>
          <p:cNvPr id="26" name="Shape 23"/>
          <p:cNvSpPr/>
          <p:nvPr/>
        </p:nvSpPr>
        <p:spPr>
          <a:xfrm>
            <a:off x="1188720" y="2468880"/>
            <a:ext cx="0" cy="274320"/>
          </a:xfrm>
          <a:prstGeom prst="line">
            <a:avLst/>
          </a:prstGeom>
          <a:noFill/>
          <a:ln w="19050">
            <a:solidFill>
              <a:schemeClr val="tx2"/>
            </a:solidFill>
            <a:prstDash val="solid"/>
            <a:headEnd type="triangle"/>
          </a:ln>
        </p:spPr>
        <p:txBody>
          <a:bodyPr/>
          <a:lstStyle/>
          <a:p>
            <a:endParaRPr lang="en-US"/>
          </a:p>
        </p:txBody>
      </p:sp>
      <p:sp>
        <p:nvSpPr>
          <p:cNvPr id="27" name="Text 24"/>
          <p:cNvSpPr txBox="1"/>
          <p:nvPr/>
        </p:nvSpPr>
        <p:spPr>
          <a:xfrm>
            <a:off x="3200400" y="2816352"/>
            <a:ext cx="2743200" cy="274320"/>
          </a:xfrm>
          <a:prstGeom prst="rect">
            <a:avLst/>
          </a:prstGeom>
          <a:noFill/>
          <a:ln/>
        </p:spPr>
        <p:txBody>
          <a:bodyPr wrap="square" lIns="0" tIns="0" rIns="0" bIns="0" rtlCol="0" anchor="t"/>
          <a:lstStyle/>
          <a:p>
            <a:pPr marL="0" indent="0" algn="ctr">
              <a:buNone/>
            </a:pPr>
            <a:r>
              <a:rPr lang="en-US" sz="1200" i="1" dirty="0">
                <a:solidFill>
                  <a:schemeClr val="tx2"/>
                </a:solidFill>
              </a:rPr>
              <a:t>repeat until it works</a:t>
            </a:r>
            <a:endParaRPr lang="en-US" sz="1200" dirty="0"/>
          </a:p>
        </p:txBody>
      </p:sp>
      <p:sp>
        <p:nvSpPr>
          <p:cNvPr id="28" name="callout"/>
          <p:cNvSpPr/>
          <p:nvPr/>
        </p:nvSpPr>
        <p:spPr>
          <a:xfrm>
            <a:off x="457200" y="3566160"/>
            <a:ext cx="8229600" cy="685800"/>
          </a:xfrm>
          <a:prstGeom prst="roundRect">
            <a:avLst>
              <a:gd name="adj" fmla="val 10667"/>
            </a:avLst>
          </a:prstGeom>
          <a:solidFill>
            <a:schemeClr val="tx1"/>
          </a:solidFill>
          <a:ln/>
        </p:spPr>
        <p:txBody>
          <a:bodyPr/>
          <a:lstStyle/>
          <a:p>
            <a:endParaRPr lang="en-US"/>
          </a:p>
        </p:txBody>
      </p:sp>
      <p:sp>
        <p:nvSpPr>
          <p:cNvPr id="29" name="callout text"/>
          <p:cNvSpPr txBox="1"/>
          <p:nvPr/>
        </p:nvSpPr>
        <p:spPr>
          <a:xfrm>
            <a:off x="685800" y="3566160"/>
            <a:ext cx="7772400" cy="685800"/>
          </a:xfrm>
          <a:prstGeom prst="rect">
            <a:avLst/>
          </a:prstGeom>
          <a:noFill/>
          <a:ln/>
        </p:spPr>
        <p:txBody>
          <a:bodyPr wrap="square" lIns="0" tIns="0" rIns="0" bIns="0" rtlCol="0" anchor="ctr"/>
          <a:lstStyle/>
          <a:p>
            <a:pPr marL="0" indent="0" algn="l">
              <a:buNone/>
            </a:pPr>
            <a:r>
              <a:rPr lang="en-US" sz="1600" dirty="0">
                <a:solidFill>
                  <a:schemeClr val="bg1"/>
                </a:solidFill>
              </a:rPr>
              <a:t>Your job: steer, review, verify. The agent does the typing.</a:t>
            </a:r>
            <a:endParaRPr lang="en-US" sz="16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Why agents go wrong</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1</a:t>
            </a:r>
            <a:endParaRPr lang="en-US" sz="1200" dirty="0"/>
          </a:p>
        </p:txBody>
      </p:sp>
      <p:sp>
        <p:nvSpPr>
          <p:cNvPr id="5" name="card The context fills up"/>
          <p:cNvSpPr/>
          <p:nvPr/>
        </p:nvSpPr>
        <p:spPr>
          <a:xfrm>
            <a:off x="457200" y="1188720"/>
            <a:ext cx="3977640" cy="3291840"/>
          </a:xfrm>
          <a:prstGeom prst="roundRect">
            <a:avLst>
              <a:gd name="adj" fmla="val 2222"/>
            </a:avLst>
          </a:prstGeom>
          <a:solidFill>
            <a:schemeClr val="bg2"/>
          </a:solidFill>
          <a:ln/>
        </p:spPr>
        <p:txBody>
          <a:bodyPr/>
          <a:lstStyle/>
          <a:p>
            <a:endParaRPr lang="en-US"/>
          </a:p>
        </p:txBody>
      </p:sp>
      <p:sp>
        <p:nvSpPr>
          <p:cNvPr id="6" name="Text 3"/>
          <p:cNvSpPr txBox="1"/>
          <p:nvPr/>
        </p:nvSpPr>
        <p:spPr>
          <a:xfrm>
            <a:off x="658368" y="1353312"/>
            <a:ext cx="3575304" cy="365760"/>
          </a:xfrm>
          <a:prstGeom prst="rect">
            <a:avLst/>
          </a:prstGeom>
          <a:noFill/>
          <a:ln/>
        </p:spPr>
        <p:txBody>
          <a:bodyPr wrap="square" lIns="0" tIns="0" rIns="0" bIns="0" rtlCol="0" anchor="t"/>
          <a:lstStyle/>
          <a:p>
            <a:pPr marL="0" indent="0">
              <a:buNone/>
            </a:pPr>
            <a:r>
              <a:rPr lang="en-US" sz="1600" b="1" dirty="0">
                <a:solidFill>
                  <a:schemeClr val="tx1"/>
                </a:solidFill>
              </a:rPr>
              <a:t>The context fills up</a:t>
            </a:r>
            <a:endParaRPr lang="en-US" sz="1600" dirty="0"/>
          </a:p>
        </p:txBody>
      </p:sp>
      <p:sp>
        <p:nvSpPr>
          <p:cNvPr id="7" name="Text 4"/>
          <p:cNvSpPr txBox="1"/>
          <p:nvPr/>
        </p:nvSpPr>
        <p:spPr>
          <a:xfrm>
            <a:off x="658368" y="1764792"/>
            <a:ext cx="3575304" cy="2606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One window holds CLAUDE.md, files read, your messages and command output</a:t>
            </a:r>
            <a:endParaRPr lang="en-US" sz="1600" dirty="0"/>
          </a:p>
          <a:p>
            <a:pPr marL="177800" indent="-177800">
              <a:spcAft>
                <a:spcPts val="600"/>
              </a:spcAft>
              <a:buSzPct val="100000"/>
              <a:buChar char="•"/>
            </a:pPr>
            <a:r>
              <a:rPr lang="en-US" sz="1600" dirty="0">
                <a:solidFill>
                  <a:schemeClr val="tx2"/>
                </a:solidFill>
              </a:rPr>
              <a:t>Long sessions get slower and forget early details</a:t>
            </a:r>
            <a:endParaRPr lang="en-US" sz="1600" dirty="0"/>
          </a:p>
          <a:p>
            <a:pPr marL="177800" indent="-177800">
              <a:spcAft>
                <a:spcPts val="600"/>
              </a:spcAft>
              <a:buSzPct val="100000"/>
              <a:buChar char="•"/>
            </a:pPr>
            <a:r>
              <a:rPr lang="en-US" sz="1600" dirty="0">
                <a:solidFill>
                  <a:schemeClr val="tx2"/>
                </a:solidFill>
              </a:rPr>
              <a:t>Fix: small tasks, /clear between tasks, /compact when needed</a:t>
            </a:r>
            <a:endParaRPr lang="en-US" sz="1600" dirty="0"/>
          </a:p>
        </p:txBody>
      </p:sp>
      <p:sp>
        <p:nvSpPr>
          <p:cNvPr id="8" name="card Models make things up"/>
          <p:cNvSpPr/>
          <p:nvPr/>
        </p:nvSpPr>
        <p:spPr>
          <a:xfrm>
            <a:off x="4709160" y="1188720"/>
            <a:ext cx="3977640" cy="3291840"/>
          </a:xfrm>
          <a:prstGeom prst="roundRect">
            <a:avLst>
              <a:gd name="adj" fmla="val 2222"/>
            </a:avLst>
          </a:prstGeom>
          <a:solidFill>
            <a:schemeClr val="bg2"/>
          </a:solidFill>
          <a:ln/>
        </p:spPr>
        <p:txBody>
          <a:bodyPr/>
          <a:lstStyle/>
          <a:p>
            <a:endParaRPr lang="en-US"/>
          </a:p>
        </p:txBody>
      </p:sp>
      <p:sp>
        <p:nvSpPr>
          <p:cNvPr id="9" name="Text 6"/>
          <p:cNvSpPr txBox="1"/>
          <p:nvPr/>
        </p:nvSpPr>
        <p:spPr>
          <a:xfrm>
            <a:off x="4910328" y="1353312"/>
            <a:ext cx="3575304" cy="365760"/>
          </a:xfrm>
          <a:prstGeom prst="rect">
            <a:avLst/>
          </a:prstGeom>
          <a:noFill/>
          <a:ln/>
        </p:spPr>
        <p:txBody>
          <a:bodyPr wrap="square" lIns="0" tIns="0" rIns="0" bIns="0" rtlCol="0" anchor="t"/>
          <a:lstStyle/>
          <a:p>
            <a:pPr marL="0" indent="0">
              <a:buNone/>
            </a:pPr>
            <a:r>
              <a:rPr lang="en-US" sz="1600" b="1" dirty="0">
                <a:solidFill>
                  <a:schemeClr val="tx1"/>
                </a:solidFill>
              </a:rPr>
              <a:t>Models make things up</a:t>
            </a:r>
            <a:endParaRPr lang="en-US" sz="1600" dirty="0"/>
          </a:p>
        </p:txBody>
      </p:sp>
      <p:sp>
        <p:nvSpPr>
          <p:cNvPr id="10" name="Text 7"/>
          <p:cNvSpPr txBox="1"/>
          <p:nvPr/>
        </p:nvSpPr>
        <p:spPr>
          <a:xfrm>
            <a:off x="4910328" y="1764792"/>
            <a:ext cx="3575304" cy="2606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Confident but wrong function names, options and packages</a:t>
            </a:r>
            <a:endParaRPr lang="en-US" sz="1600" dirty="0"/>
          </a:p>
          <a:p>
            <a:pPr marL="177800" indent="-177800">
              <a:spcAft>
                <a:spcPts val="600"/>
              </a:spcAft>
              <a:buSzPct val="100000"/>
              <a:buChar char="•"/>
            </a:pPr>
            <a:r>
              <a:rPr lang="en-US" sz="1600" dirty="0">
                <a:solidFill>
                  <a:schemeClr val="tx2"/>
                </a:solidFill>
              </a:rPr>
              <a:t>Worse for new or niche libraries</a:t>
            </a:r>
            <a:endParaRPr lang="en-US" sz="1600" dirty="0"/>
          </a:p>
          <a:p>
            <a:pPr marL="177800" indent="-177800">
              <a:spcAft>
                <a:spcPts val="600"/>
              </a:spcAft>
              <a:buSzPct val="100000"/>
              <a:buChar char="•"/>
            </a:pPr>
            <a:r>
              <a:rPr lang="en-US" sz="1600" dirty="0">
                <a:solidFill>
                  <a:schemeClr val="tx2"/>
                </a:solidFill>
              </a:rPr>
              <a:t>Fix: Context7 for current docs, tests, check that packages exist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Vibecoding vs engineering</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1</a:t>
            </a:r>
            <a:endParaRPr lang="en-US" sz="1200" dirty="0"/>
          </a:p>
        </p:txBody>
      </p:sp>
      <p:sp>
        <p:nvSpPr>
          <p:cNvPr id="5" name="Text 2"/>
          <p:cNvSpPr txBox="1"/>
          <p:nvPr/>
        </p:nvSpPr>
        <p:spPr>
          <a:xfrm>
            <a:off x="457200" y="1188720"/>
            <a:ext cx="3977640" cy="548640"/>
          </a:xfrm>
          <a:prstGeom prst="roundRect">
            <a:avLst>
              <a:gd name="adj" fmla="val 13333"/>
            </a:avLst>
          </a:prstGeom>
          <a:solidFill>
            <a:schemeClr val="bg2"/>
          </a:solidFill>
          <a:ln/>
        </p:spPr>
        <p:txBody>
          <a:bodyPr wrap="square" lIns="0" tIns="0" rIns="0" bIns="0" rtlCol="0" anchor="ctr"/>
          <a:lstStyle/>
          <a:p>
            <a:pPr marL="0" indent="0" algn="ctr">
              <a:buNone/>
            </a:pPr>
            <a:r>
              <a:rPr lang="en-US" sz="1800" b="1" dirty="0">
                <a:solidFill>
                  <a:schemeClr val="tx1"/>
                </a:solidFill>
              </a:rPr>
              <a:t>Vibecoding</a:t>
            </a:r>
            <a:endParaRPr lang="en-US" sz="1800" dirty="0"/>
          </a:p>
        </p:txBody>
      </p:sp>
      <p:sp>
        <p:nvSpPr>
          <p:cNvPr id="6" name="Text 3"/>
          <p:cNvSpPr txBox="1"/>
          <p:nvPr/>
        </p:nvSpPr>
        <p:spPr>
          <a:xfrm>
            <a:off x="4709160" y="1188720"/>
            <a:ext cx="3977640" cy="548640"/>
          </a:xfrm>
          <a:prstGeom prst="roundRect">
            <a:avLst>
              <a:gd name="adj" fmla="val 13333"/>
            </a:avLst>
          </a:prstGeom>
          <a:solidFill>
            <a:schemeClr val="accent2"/>
          </a:solidFill>
          <a:ln/>
        </p:spPr>
        <p:txBody>
          <a:bodyPr wrap="square" lIns="0" tIns="0" rIns="0" bIns="0" rtlCol="0" anchor="ctr"/>
          <a:lstStyle/>
          <a:p>
            <a:pPr marL="0" indent="0" algn="ctr">
              <a:buNone/>
            </a:pPr>
            <a:r>
              <a:rPr lang="en-US" sz="1800" b="1" dirty="0">
                <a:solidFill>
                  <a:schemeClr val="bg1"/>
                </a:solidFill>
              </a:rPr>
              <a:t>AI-assisted engineering</a:t>
            </a:r>
            <a:endParaRPr lang="en-US" sz="1800" dirty="0"/>
          </a:p>
        </p:txBody>
      </p:sp>
      <p:sp>
        <p:nvSpPr>
          <p:cNvPr id="7" name="Text 4"/>
          <p:cNvSpPr txBox="1"/>
          <p:nvPr/>
        </p:nvSpPr>
        <p:spPr>
          <a:xfrm>
            <a:off x="640080" y="1965960"/>
            <a:ext cx="3657600" cy="237744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tx2"/>
                </a:solidFill>
              </a:rPr>
              <a:t>Accept every change unread</a:t>
            </a:r>
            <a:endParaRPr lang="en-US" sz="1600" dirty="0"/>
          </a:p>
          <a:p>
            <a:pPr marL="177800" indent="-177800">
              <a:spcAft>
                <a:spcPts val="1000"/>
              </a:spcAft>
              <a:buSzPct val="100000"/>
              <a:buChar char="•"/>
            </a:pPr>
            <a:r>
              <a:rPr lang="en-US" sz="1600" dirty="0">
                <a:solidFill>
                  <a:schemeClr val="tx2"/>
                </a:solidFill>
              </a:rPr>
              <a:t>No tests</a:t>
            </a:r>
            <a:endParaRPr lang="en-US" sz="1600" dirty="0"/>
          </a:p>
          <a:p>
            <a:pPr marL="177800" indent="-177800">
              <a:spcAft>
                <a:spcPts val="1000"/>
              </a:spcAft>
              <a:buSzPct val="100000"/>
              <a:buChar char="•"/>
            </a:pPr>
            <a:r>
              <a:rPr lang="en-US" sz="1600" dirty="0">
                <a:solidFill>
                  <a:schemeClr val="tx2"/>
                </a:solidFill>
              </a:rPr>
              <a:t>No commits, so no way back</a:t>
            </a:r>
            <a:endParaRPr lang="en-US" sz="1600" dirty="0"/>
          </a:p>
          <a:p>
            <a:pPr marL="177800" indent="-177800">
              <a:spcAft>
                <a:spcPts val="1000"/>
              </a:spcAft>
              <a:buSzPct val="100000"/>
              <a:buChar char="•"/>
            </a:pPr>
            <a:r>
              <a:rPr lang="en-US" sz="1600" dirty="0">
                <a:solidFill>
                  <a:schemeClr val="tx2"/>
                </a:solidFill>
              </a:rPr>
              <a:t>One giant prompt</a:t>
            </a:r>
            <a:endParaRPr lang="en-US" sz="1600" dirty="0"/>
          </a:p>
        </p:txBody>
      </p:sp>
      <p:sp>
        <p:nvSpPr>
          <p:cNvPr id="8" name="Text 5"/>
          <p:cNvSpPr txBox="1"/>
          <p:nvPr/>
        </p:nvSpPr>
        <p:spPr>
          <a:xfrm>
            <a:off x="4892040" y="1965960"/>
            <a:ext cx="3657600" cy="237744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chemeClr val="tx1"/>
                </a:solidFill>
              </a:rPr>
              <a:t>Plan first, then build</a:t>
            </a:r>
            <a:endParaRPr lang="en-US" sz="1600" dirty="0"/>
          </a:p>
          <a:p>
            <a:pPr marL="177800" indent="-177800">
              <a:spcAft>
                <a:spcPts val="1000"/>
              </a:spcAft>
              <a:buSzPct val="100000"/>
              <a:buChar char="•"/>
            </a:pPr>
            <a:r>
              <a:rPr lang="en-US" sz="1600" dirty="0">
                <a:solidFill>
                  <a:schemeClr val="tx1"/>
                </a:solidFill>
              </a:rPr>
              <a:t>Read the diff before accepting</a:t>
            </a:r>
            <a:endParaRPr lang="en-US" sz="1600" dirty="0"/>
          </a:p>
          <a:p>
            <a:pPr marL="177800" indent="-177800">
              <a:spcAft>
                <a:spcPts val="1000"/>
              </a:spcAft>
              <a:buSzPct val="100000"/>
              <a:buChar char="•"/>
            </a:pPr>
            <a:r>
              <a:rPr lang="en-US" sz="1600" dirty="0">
                <a:solidFill>
                  <a:schemeClr val="tx1"/>
                </a:solidFill>
              </a:rPr>
              <a:t>Tests and a check command</a:t>
            </a:r>
            <a:endParaRPr lang="en-US" sz="1600" dirty="0"/>
          </a:p>
          <a:p>
            <a:pPr marL="177800" indent="-177800">
              <a:spcAft>
                <a:spcPts val="1000"/>
              </a:spcAft>
              <a:buSzPct val="100000"/>
              <a:buChar char="•"/>
            </a:pPr>
            <a:r>
              <a:rPr lang="en-US" sz="1600" dirty="0">
                <a:solidFill>
                  <a:schemeClr val="tx1"/>
                </a:solidFill>
              </a:rPr>
              <a:t>Commit after every working step</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2</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Terminal, Git and GitHub</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60 min</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Terminal basics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2</a:t>
            </a:r>
            <a:endParaRPr lang="en-US" sz="1200" dirty="0"/>
          </a:p>
        </p:txBody>
      </p:sp>
      <p:sp>
        <p:nvSpPr>
          <p:cNvPr id="5" name="Text 2"/>
          <p:cNvSpPr txBox="1"/>
          <p:nvPr/>
        </p:nvSpPr>
        <p:spPr>
          <a:xfrm>
            <a:off x="457200" y="1188720"/>
            <a:ext cx="3749040" cy="32918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Open it in Cursor: Terminal &gt; New Terminal</a:t>
            </a:r>
            <a:endParaRPr lang="en-US" sz="1500" dirty="0"/>
          </a:p>
          <a:p>
            <a:pPr marL="177800" indent="-177800">
              <a:spcAft>
                <a:spcPts val="1000"/>
              </a:spcAft>
              <a:buSzPct val="100000"/>
              <a:buChar char="•"/>
            </a:pPr>
            <a:r>
              <a:rPr lang="en-US" sz="1500" dirty="0">
                <a:solidFill>
                  <a:schemeClr val="tx1"/>
                </a:solidFill>
              </a:rPr>
              <a:t>Windows: PowerShell. macOS and Linux: zsh or bash. These commands work in all of them</a:t>
            </a:r>
            <a:endParaRPr lang="en-US" sz="1500" dirty="0"/>
          </a:p>
          <a:p>
            <a:pPr marL="177800" indent="-177800">
              <a:spcAft>
                <a:spcPts val="1000"/>
              </a:spcAft>
              <a:buSzPct val="100000"/>
              <a:buChar char="•"/>
            </a:pPr>
            <a:r>
              <a:rPr lang="en-US" sz="1500" dirty="0">
                <a:solidFill>
                  <a:schemeClr val="tx1"/>
                </a:solidFill>
              </a:rPr>
              <a:t>Package managers: uv for Python, npm for JavaScript</a:t>
            </a:r>
            <a:endParaRPr lang="en-US" sz="1500" dirty="0"/>
          </a:p>
          <a:p>
            <a:pPr marL="177800" indent="-177800">
              <a:spcAft>
                <a:spcPts val="1000"/>
              </a:spcAft>
              <a:buSzPct val="100000"/>
              <a:buChar char="•"/>
            </a:pPr>
            <a:r>
              <a:rPr lang="en-US" sz="1500" dirty="0">
                <a:solidFill>
                  <a:schemeClr val="tx1"/>
                </a:solidFill>
              </a:rPr>
              <a:t>Stuck? Read the error, then check which folder you are in</a:t>
            </a:r>
            <a:endParaRPr lang="en-US" sz="1500" dirty="0"/>
          </a:p>
        </p:txBody>
      </p:sp>
      <p:sp>
        <p:nvSpPr>
          <p:cNvPr id="6" name="code box"/>
          <p:cNvSpPr/>
          <p:nvPr/>
        </p:nvSpPr>
        <p:spPr>
          <a:xfrm>
            <a:off x="4434840" y="1188720"/>
            <a:ext cx="4251960" cy="2377440"/>
          </a:xfrm>
          <a:prstGeom prst="roundRect">
            <a:avLst>
              <a:gd name="adj" fmla="val 3077"/>
            </a:avLst>
          </a:prstGeom>
          <a:solidFill>
            <a:schemeClr val="tx1"/>
          </a:solidFill>
          <a:ln/>
        </p:spPr>
        <p:txBody>
          <a:bodyPr/>
          <a:lstStyle/>
          <a:p>
            <a:endParaRPr lang="en-US"/>
          </a:p>
        </p:txBody>
      </p:sp>
      <p:sp>
        <p:nvSpPr>
          <p:cNvPr id="7" name="Text 4"/>
          <p:cNvSpPr txBox="1"/>
          <p:nvPr/>
        </p:nvSpPr>
        <p:spPr>
          <a:xfrm>
            <a:off x="4636008" y="1353312"/>
            <a:ext cx="3849624" cy="2048256"/>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pwd            </a:t>
            </a:r>
            <a:r>
              <a:rPr lang="en-US" sz="1300" dirty="0">
                <a:solidFill>
                  <a:schemeClr val="accent3"/>
                </a:solidFill>
                <a:latin typeface="Courier New" pitchFamily="34" charset="0"/>
                <a:ea typeface="Courier New" pitchFamily="34" charset="-122"/>
                <a:cs typeface="Courier New" pitchFamily="34" charset="-120"/>
              </a:rPr>
              <a:t># where am I?</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ls             </a:t>
            </a:r>
            <a:r>
              <a:rPr lang="en-US" sz="1300" dirty="0">
                <a:solidFill>
                  <a:schemeClr val="accent3"/>
                </a:solidFill>
                <a:latin typeface="Courier New" pitchFamily="34" charset="0"/>
                <a:ea typeface="Courier New" pitchFamily="34" charset="-122"/>
                <a:cs typeface="Courier New" pitchFamily="34" charset="-120"/>
              </a:rPr>
              <a:t># what is here?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cd data        </a:t>
            </a:r>
            <a:r>
              <a:rPr lang="en-US" sz="1300" dirty="0">
                <a:solidFill>
                  <a:schemeClr val="accent3"/>
                </a:solidFill>
                <a:latin typeface="Courier New" pitchFamily="34" charset="0"/>
                <a:ea typeface="Courier New" pitchFamily="34" charset="-122"/>
                <a:cs typeface="Courier New" pitchFamily="34" charset="-120"/>
              </a:rPr>
              <a:t># into a folder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cd ..          </a:t>
            </a:r>
            <a:r>
              <a:rPr lang="en-US" sz="1300" dirty="0">
                <a:solidFill>
                  <a:schemeClr val="accent3"/>
                </a:solidFill>
                <a:latin typeface="Courier New" pitchFamily="34" charset="0"/>
                <a:ea typeface="Courier New" pitchFamily="34" charset="-122"/>
                <a:cs typeface="Courier New" pitchFamily="34" charset="-120"/>
              </a:rPr>
              <a:t># back up one level</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node -v        </a:t>
            </a:r>
            <a:r>
              <a:rPr lang="en-US" sz="1300" dirty="0">
                <a:solidFill>
                  <a:schemeClr val="accent3"/>
                </a:solidFill>
                <a:latin typeface="Courier New" pitchFamily="34" charset="0"/>
                <a:ea typeface="Courier New" pitchFamily="34" charset="-122"/>
                <a:cs typeface="Courier New" pitchFamily="34" charset="-120"/>
              </a:rPr>
              <a:t># run a program</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uv run pytest  </a:t>
            </a:r>
            <a:r>
              <a:rPr lang="en-US" sz="1300" dirty="0">
                <a:solidFill>
                  <a:schemeClr val="accent3"/>
                </a:solidFill>
                <a:latin typeface="Courier New" pitchFamily="34" charset="0"/>
                <a:ea typeface="Courier New" pitchFamily="34" charset="-122"/>
                <a:cs typeface="Courier New" pitchFamily="34" charset="-120"/>
              </a:rPr>
              <a:t># Python, via uv</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npm run dev    </a:t>
            </a:r>
            <a:r>
              <a:rPr lang="en-US" sz="1300" dirty="0">
                <a:solidFill>
                  <a:schemeClr val="accent3"/>
                </a:solidFill>
                <a:latin typeface="Courier New" pitchFamily="34" charset="0"/>
                <a:ea typeface="Courier New" pitchFamily="34" charset="-122"/>
                <a:cs typeface="Courier New" pitchFamily="34" charset="-120"/>
              </a:rPr>
              <a:t># JavaScript, via npm</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Git in six words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2</a:t>
            </a:r>
            <a:endParaRPr lang="en-US" sz="1200" dirty="0"/>
          </a:p>
        </p:txBody>
      </p:sp>
      <p:sp>
        <p:nvSpPr>
          <p:cNvPr id="5" name="card Repository"/>
          <p:cNvSpPr/>
          <p:nvPr/>
        </p:nvSpPr>
        <p:spPr>
          <a:xfrm>
            <a:off x="457200" y="1188720"/>
            <a:ext cx="2606040" cy="1508760"/>
          </a:xfrm>
          <a:prstGeom prst="roundRect">
            <a:avLst>
              <a:gd name="adj" fmla="val 4848"/>
            </a:avLst>
          </a:prstGeom>
          <a:solidFill>
            <a:schemeClr val="bg2"/>
          </a:solidFill>
          <a:ln/>
        </p:spPr>
        <p:txBody>
          <a:bodyPr/>
          <a:lstStyle/>
          <a:p>
            <a:endParaRPr lang="en-US"/>
          </a:p>
        </p:txBody>
      </p:sp>
      <p:sp>
        <p:nvSpPr>
          <p:cNvPr id="6" name="Text 3"/>
          <p:cNvSpPr txBox="1"/>
          <p:nvPr/>
        </p:nvSpPr>
        <p:spPr>
          <a:xfrm>
            <a:off x="658368" y="1353312"/>
            <a:ext cx="2203704" cy="365760"/>
          </a:xfrm>
          <a:prstGeom prst="rect">
            <a:avLst/>
          </a:prstGeom>
          <a:noFill/>
          <a:ln/>
        </p:spPr>
        <p:txBody>
          <a:bodyPr wrap="square" lIns="0" tIns="0" rIns="0" bIns="0" rtlCol="0" anchor="t"/>
          <a:lstStyle/>
          <a:p>
            <a:pPr marL="0" indent="0">
              <a:buNone/>
            </a:pPr>
            <a:r>
              <a:rPr lang="en-US" sz="1600" b="1" dirty="0">
                <a:solidFill>
                  <a:schemeClr val="tx1"/>
                </a:solidFill>
              </a:rPr>
              <a:t>Repository</a:t>
            </a:r>
            <a:endParaRPr lang="en-US" sz="1600" dirty="0"/>
          </a:p>
        </p:txBody>
      </p:sp>
      <p:sp>
        <p:nvSpPr>
          <p:cNvPr id="7" name="Text 4"/>
          <p:cNvSpPr txBox="1"/>
          <p:nvPr/>
        </p:nvSpPr>
        <p:spPr>
          <a:xfrm>
            <a:off x="658368" y="1764792"/>
            <a:ext cx="2203704" cy="822960"/>
          </a:xfrm>
          <a:prstGeom prst="rect">
            <a:avLst/>
          </a:prstGeom>
          <a:noFill/>
          <a:ln/>
        </p:spPr>
        <p:txBody>
          <a:bodyPr wrap="square" lIns="0" tIns="0" rIns="0" bIns="0" rtlCol="0" anchor="t"/>
          <a:lstStyle/>
          <a:p>
            <a:pPr marL="0" indent="0">
              <a:buNone/>
            </a:pPr>
            <a:r>
              <a:rPr lang="en-US" sz="1600" dirty="0">
                <a:solidFill>
                  <a:schemeClr val="tx2"/>
                </a:solidFill>
              </a:rPr>
              <a:t>Your project folder plus its full history</a:t>
            </a:r>
            <a:endParaRPr lang="en-US" sz="1600" dirty="0"/>
          </a:p>
        </p:txBody>
      </p:sp>
      <p:sp>
        <p:nvSpPr>
          <p:cNvPr id="8" name="card Commit"/>
          <p:cNvSpPr/>
          <p:nvPr/>
        </p:nvSpPr>
        <p:spPr>
          <a:xfrm>
            <a:off x="3268980" y="1188720"/>
            <a:ext cx="2606040" cy="1508760"/>
          </a:xfrm>
          <a:prstGeom prst="roundRect">
            <a:avLst>
              <a:gd name="adj" fmla="val 4848"/>
            </a:avLst>
          </a:prstGeom>
          <a:solidFill>
            <a:schemeClr val="bg2"/>
          </a:solidFill>
          <a:ln/>
        </p:spPr>
        <p:txBody>
          <a:bodyPr/>
          <a:lstStyle/>
          <a:p>
            <a:endParaRPr lang="en-US"/>
          </a:p>
        </p:txBody>
      </p:sp>
      <p:sp>
        <p:nvSpPr>
          <p:cNvPr id="9" name="Text 6"/>
          <p:cNvSpPr txBox="1"/>
          <p:nvPr/>
        </p:nvSpPr>
        <p:spPr>
          <a:xfrm>
            <a:off x="3470148" y="1353312"/>
            <a:ext cx="2203704" cy="365760"/>
          </a:xfrm>
          <a:prstGeom prst="rect">
            <a:avLst/>
          </a:prstGeom>
          <a:noFill/>
          <a:ln/>
        </p:spPr>
        <p:txBody>
          <a:bodyPr wrap="square" lIns="0" tIns="0" rIns="0" bIns="0" rtlCol="0" anchor="t"/>
          <a:lstStyle/>
          <a:p>
            <a:pPr marL="0" indent="0">
              <a:buNone/>
            </a:pPr>
            <a:r>
              <a:rPr lang="en-US" sz="1600" b="1" dirty="0">
                <a:solidFill>
                  <a:schemeClr val="tx1"/>
                </a:solidFill>
              </a:rPr>
              <a:t>Commit</a:t>
            </a:r>
            <a:endParaRPr lang="en-US" sz="1600" dirty="0"/>
          </a:p>
        </p:txBody>
      </p:sp>
      <p:sp>
        <p:nvSpPr>
          <p:cNvPr id="10" name="Text 7"/>
          <p:cNvSpPr txBox="1"/>
          <p:nvPr/>
        </p:nvSpPr>
        <p:spPr>
          <a:xfrm>
            <a:off x="3470148" y="1764792"/>
            <a:ext cx="2203704" cy="822960"/>
          </a:xfrm>
          <a:prstGeom prst="rect">
            <a:avLst/>
          </a:prstGeom>
          <a:noFill/>
          <a:ln/>
        </p:spPr>
        <p:txBody>
          <a:bodyPr wrap="square" lIns="0" tIns="0" rIns="0" bIns="0" rtlCol="0" anchor="t"/>
          <a:lstStyle/>
          <a:p>
            <a:pPr marL="0" indent="0">
              <a:buNone/>
            </a:pPr>
            <a:r>
              <a:rPr lang="en-US" sz="1600" dirty="0">
                <a:solidFill>
                  <a:schemeClr val="tx2"/>
                </a:solidFill>
              </a:rPr>
              <a:t>A saved snapshot with a message</a:t>
            </a:r>
            <a:endParaRPr lang="en-US" sz="1600" dirty="0"/>
          </a:p>
        </p:txBody>
      </p:sp>
      <p:sp>
        <p:nvSpPr>
          <p:cNvPr id="11" name="card Branch"/>
          <p:cNvSpPr/>
          <p:nvPr/>
        </p:nvSpPr>
        <p:spPr>
          <a:xfrm>
            <a:off x="6080760" y="1188720"/>
            <a:ext cx="2606040" cy="1508760"/>
          </a:xfrm>
          <a:prstGeom prst="roundRect">
            <a:avLst>
              <a:gd name="adj" fmla="val 4848"/>
            </a:avLst>
          </a:prstGeom>
          <a:solidFill>
            <a:schemeClr val="bg2"/>
          </a:solidFill>
          <a:ln/>
        </p:spPr>
        <p:txBody>
          <a:bodyPr/>
          <a:lstStyle/>
          <a:p>
            <a:endParaRPr lang="en-US"/>
          </a:p>
        </p:txBody>
      </p:sp>
      <p:sp>
        <p:nvSpPr>
          <p:cNvPr id="12" name="Text 9"/>
          <p:cNvSpPr txBox="1"/>
          <p:nvPr/>
        </p:nvSpPr>
        <p:spPr>
          <a:xfrm>
            <a:off x="6281928" y="1353312"/>
            <a:ext cx="2203704" cy="365760"/>
          </a:xfrm>
          <a:prstGeom prst="rect">
            <a:avLst/>
          </a:prstGeom>
          <a:noFill/>
          <a:ln/>
        </p:spPr>
        <p:txBody>
          <a:bodyPr wrap="square" lIns="0" tIns="0" rIns="0" bIns="0" rtlCol="0" anchor="t"/>
          <a:lstStyle/>
          <a:p>
            <a:pPr marL="0" indent="0">
              <a:buNone/>
            </a:pPr>
            <a:r>
              <a:rPr lang="en-US" sz="1600" b="1" dirty="0">
                <a:solidFill>
                  <a:schemeClr val="tx1"/>
                </a:solidFill>
              </a:rPr>
              <a:t>Branch</a:t>
            </a:r>
            <a:endParaRPr lang="en-US" sz="1600" dirty="0"/>
          </a:p>
        </p:txBody>
      </p:sp>
      <p:sp>
        <p:nvSpPr>
          <p:cNvPr id="13" name="Text 10"/>
          <p:cNvSpPr txBox="1"/>
          <p:nvPr/>
        </p:nvSpPr>
        <p:spPr>
          <a:xfrm>
            <a:off x="6281928" y="1764792"/>
            <a:ext cx="2203704" cy="822960"/>
          </a:xfrm>
          <a:prstGeom prst="rect">
            <a:avLst/>
          </a:prstGeom>
          <a:noFill/>
          <a:ln/>
        </p:spPr>
        <p:txBody>
          <a:bodyPr wrap="square" lIns="0" tIns="0" rIns="0" bIns="0" rtlCol="0" anchor="t"/>
          <a:lstStyle/>
          <a:p>
            <a:pPr marL="0" indent="0">
              <a:buNone/>
            </a:pPr>
            <a:r>
              <a:rPr lang="en-US" sz="1600" dirty="0">
                <a:solidFill>
                  <a:schemeClr val="tx2"/>
                </a:solidFill>
              </a:rPr>
              <a:t>A separate line of work</a:t>
            </a:r>
            <a:endParaRPr lang="en-US" sz="1600" dirty="0"/>
          </a:p>
        </p:txBody>
      </p:sp>
      <p:sp>
        <p:nvSpPr>
          <p:cNvPr id="14" name="card Push"/>
          <p:cNvSpPr/>
          <p:nvPr/>
        </p:nvSpPr>
        <p:spPr>
          <a:xfrm>
            <a:off x="457200" y="2880360"/>
            <a:ext cx="2606040" cy="1508760"/>
          </a:xfrm>
          <a:prstGeom prst="roundRect">
            <a:avLst>
              <a:gd name="adj" fmla="val 4848"/>
            </a:avLst>
          </a:prstGeom>
          <a:solidFill>
            <a:schemeClr val="bg2"/>
          </a:solidFill>
          <a:ln/>
        </p:spPr>
        <p:txBody>
          <a:bodyPr/>
          <a:lstStyle/>
          <a:p>
            <a:endParaRPr lang="en-US"/>
          </a:p>
        </p:txBody>
      </p:sp>
      <p:sp>
        <p:nvSpPr>
          <p:cNvPr id="15" name="Text 12"/>
          <p:cNvSpPr txBox="1"/>
          <p:nvPr/>
        </p:nvSpPr>
        <p:spPr>
          <a:xfrm>
            <a:off x="658368" y="30449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Push</a:t>
            </a:r>
            <a:endParaRPr lang="en-US" sz="1600" dirty="0"/>
          </a:p>
        </p:txBody>
      </p:sp>
      <p:sp>
        <p:nvSpPr>
          <p:cNvPr id="16" name="Text 13"/>
          <p:cNvSpPr txBox="1"/>
          <p:nvPr/>
        </p:nvSpPr>
        <p:spPr>
          <a:xfrm>
            <a:off x="658368" y="3456432"/>
            <a:ext cx="2203704" cy="822960"/>
          </a:xfrm>
          <a:prstGeom prst="rect">
            <a:avLst/>
          </a:prstGeom>
          <a:noFill/>
          <a:ln/>
        </p:spPr>
        <p:txBody>
          <a:bodyPr wrap="square" lIns="0" tIns="0" rIns="0" bIns="0" rtlCol="0" anchor="t"/>
          <a:lstStyle/>
          <a:p>
            <a:pPr marL="0" indent="0">
              <a:buNone/>
            </a:pPr>
            <a:r>
              <a:rPr lang="en-US" sz="1600" dirty="0">
                <a:solidFill>
                  <a:schemeClr val="tx2"/>
                </a:solidFill>
              </a:rPr>
              <a:t>Send your commits to GitHub</a:t>
            </a:r>
            <a:endParaRPr lang="en-US" sz="1600" dirty="0"/>
          </a:p>
        </p:txBody>
      </p:sp>
      <p:sp>
        <p:nvSpPr>
          <p:cNvPr id="17" name="card Pull request"/>
          <p:cNvSpPr/>
          <p:nvPr/>
        </p:nvSpPr>
        <p:spPr>
          <a:xfrm>
            <a:off x="3374136" y="2926080"/>
            <a:ext cx="2606040" cy="1508760"/>
          </a:xfrm>
          <a:prstGeom prst="roundRect">
            <a:avLst>
              <a:gd name="adj" fmla="val 4848"/>
            </a:avLst>
          </a:prstGeom>
          <a:solidFill>
            <a:schemeClr val="bg2"/>
          </a:solidFill>
          <a:ln/>
        </p:spPr>
        <p:txBody>
          <a:bodyPr/>
          <a:lstStyle/>
          <a:p>
            <a:endParaRPr lang="en-US"/>
          </a:p>
        </p:txBody>
      </p:sp>
      <p:sp>
        <p:nvSpPr>
          <p:cNvPr id="18" name="Text 15"/>
          <p:cNvSpPr txBox="1"/>
          <p:nvPr/>
        </p:nvSpPr>
        <p:spPr>
          <a:xfrm>
            <a:off x="3470148" y="30449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Pull request</a:t>
            </a:r>
            <a:endParaRPr lang="en-US" sz="1600" dirty="0"/>
          </a:p>
        </p:txBody>
      </p:sp>
      <p:sp>
        <p:nvSpPr>
          <p:cNvPr id="19" name="Text 16"/>
          <p:cNvSpPr txBox="1"/>
          <p:nvPr/>
        </p:nvSpPr>
        <p:spPr>
          <a:xfrm>
            <a:off x="3470148" y="3456432"/>
            <a:ext cx="2203704" cy="822960"/>
          </a:xfrm>
          <a:prstGeom prst="rect">
            <a:avLst/>
          </a:prstGeom>
          <a:noFill/>
          <a:ln/>
        </p:spPr>
        <p:txBody>
          <a:bodyPr wrap="square" lIns="0" tIns="0" rIns="0" bIns="0" rtlCol="0" anchor="t"/>
          <a:lstStyle/>
          <a:p>
            <a:pPr marL="0" indent="0">
              <a:buNone/>
            </a:pPr>
            <a:r>
              <a:rPr lang="en-US" sz="1600" dirty="0">
                <a:solidFill>
                  <a:schemeClr val="tx2"/>
                </a:solidFill>
              </a:rPr>
              <a:t>Ask to merge a branch, with review</a:t>
            </a:r>
            <a:endParaRPr lang="en-US" sz="1600" dirty="0"/>
          </a:p>
        </p:txBody>
      </p:sp>
      <p:sp>
        <p:nvSpPr>
          <p:cNvPr id="20" name="card .gitignore"/>
          <p:cNvSpPr/>
          <p:nvPr/>
        </p:nvSpPr>
        <p:spPr>
          <a:xfrm>
            <a:off x="6080760" y="2880360"/>
            <a:ext cx="2606040" cy="1508760"/>
          </a:xfrm>
          <a:prstGeom prst="roundRect">
            <a:avLst>
              <a:gd name="adj" fmla="val 4848"/>
            </a:avLst>
          </a:prstGeom>
          <a:solidFill>
            <a:schemeClr val="bg2"/>
          </a:solidFill>
          <a:ln/>
        </p:spPr>
        <p:txBody>
          <a:bodyPr/>
          <a:lstStyle/>
          <a:p>
            <a:endParaRPr lang="en-US"/>
          </a:p>
        </p:txBody>
      </p:sp>
      <p:sp>
        <p:nvSpPr>
          <p:cNvPr id="21" name="Text 18"/>
          <p:cNvSpPr txBox="1"/>
          <p:nvPr/>
        </p:nvSpPr>
        <p:spPr>
          <a:xfrm>
            <a:off x="6281928" y="30449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.gitignore</a:t>
            </a:r>
            <a:endParaRPr lang="en-US" sz="1600" dirty="0"/>
          </a:p>
        </p:txBody>
      </p:sp>
      <p:sp>
        <p:nvSpPr>
          <p:cNvPr id="22" name="Text 19"/>
          <p:cNvSpPr txBox="1"/>
          <p:nvPr/>
        </p:nvSpPr>
        <p:spPr>
          <a:xfrm>
            <a:off x="6281928" y="3456432"/>
            <a:ext cx="2203704" cy="822960"/>
          </a:xfrm>
          <a:prstGeom prst="rect">
            <a:avLst/>
          </a:prstGeom>
          <a:noFill/>
          <a:ln/>
        </p:spPr>
        <p:txBody>
          <a:bodyPr wrap="square" lIns="0" tIns="0" rIns="0" bIns="0" rtlCol="0" anchor="t"/>
          <a:lstStyle/>
          <a:p>
            <a:pPr marL="0" indent="0">
              <a:buNone/>
            </a:pPr>
            <a:r>
              <a:rPr lang="en-US" sz="1600" dirty="0">
                <a:solidFill>
                  <a:schemeClr val="tx2"/>
                </a:solidFill>
              </a:rPr>
              <a:t>Files Git must never track, like .env</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We do: first commit and PR</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2</a:t>
            </a:r>
            <a:endParaRPr lang="en-US" sz="1200" dirty="0"/>
          </a:p>
        </p:txBody>
      </p:sp>
      <p:sp>
        <p:nvSpPr>
          <p:cNvPr id="5" name="number 1"/>
          <p:cNvSpPr txBox="1"/>
          <p:nvPr/>
        </p:nvSpPr>
        <p:spPr>
          <a:xfrm>
            <a:off x="457200" y="12801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6" name="Text 3"/>
          <p:cNvSpPr txBox="1"/>
          <p:nvPr/>
        </p:nvSpPr>
        <p:spPr>
          <a:xfrm>
            <a:off x="960120" y="1261872"/>
            <a:ext cx="3520440" cy="548640"/>
          </a:xfrm>
          <a:prstGeom prst="rect">
            <a:avLst/>
          </a:prstGeom>
          <a:noFill/>
          <a:ln/>
        </p:spPr>
        <p:txBody>
          <a:bodyPr wrap="square" lIns="0" tIns="0" rIns="0" bIns="0" rtlCol="0" anchor="t"/>
          <a:lstStyle/>
          <a:p>
            <a:pPr marL="0" indent="0">
              <a:buNone/>
            </a:pPr>
            <a:r>
              <a:rPr lang="en-US" sz="1500" dirty="0">
                <a:solidFill>
                  <a:schemeClr val="tx1"/>
                </a:solidFill>
              </a:rPr>
              <a:t>Add your name to README.md</a:t>
            </a:r>
            <a:endParaRPr lang="en-US" sz="1500" dirty="0"/>
          </a:p>
        </p:txBody>
      </p:sp>
      <p:sp>
        <p:nvSpPr>
          <p:cNvPr id="7" name="number 2"/>
          <p:cNvSpPr txBox="1"/>
          <p:nvPr/>
        </p:nvSpPr>
        <p:spPr>
          <a:xfrm>
            <a:off x="457200" y="187452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8" name="Text 5"/>
          <p:cNvSpPr txBox="1"/>
          <p:nvPr/>
        </p:nvSpPr>
        <p:spPr>
          <a:xfrm>
            <a:off x="960120" y="1856232"/>
            <a:ext cx="3520440" cy="548640"/>
          </a:xfrm>
          <a:prstGeom prst="rect">
            <a:avLst/>
          </a:prstGeom>
          <a:noFill/>
          <a:ln/>
        </p:spPr>
        <p:txBody>
          <a:bodyPr wrap="square" lIns="0" tIns="0" rIns="0" bIns="0" rtlCol="0" anchor="t"/>
          <a:lstStyle/>
          <a:p>
            <a:pPr marL="0" indent="0">
              <a:buNone/>
            </a:pPr>
            <a:r>
              <a:rPr lang="en-US" sz="1500" dirty="0">
                <a:solidFill>
                  <a:schemeClr val="tx1"/>
                </a:solidFill>
              </a:rPr>
              <a:t>Commit it and push</a:t>
            </a:r>
            <a:endParaRPr lang="en-US" sz="1500" dirty="0"/>
          </a:p>
        </p:txBody>
      </p:sp>
      <p:sp>
        <p:nvSpPr>
          <p:cNvPr id="9" name="number 3"/>
          <p:cNvSpPr txBox="1"/>
          <p:nvPr/>
        </p:nvSpPr>
        <p:spPr>
          <a:xfrm>
            <a:off x="457200" y="246888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0" name="Text 7"/>
          <p:cNvSpPr txBox="1"/>
          <p:nvPr/>
        </p:nvSpPr>
        <p:spPr>
          <a:xfrm>
            <a:off x="960120" y="2450592"/>
            <a:ext cx="3520440" cy="548640"/>
          </a:xfrm>
          <a:prstGeom prst="rect">
            <a:avLst/>
          </a:prstGeom>
          <a:noFill/>
          <a:ln/>
        </p:spPr>
        <p:txBody>
          <a:bodyPr wrap="square" lIns="0" tIns="0" rIns="0" bIns="0" rtlCol="0" anchor="t"/>
          <a:lstStyle/>
          <a:p>
            <a:pPr marL="0" indent="0">
              <a:buNone/>
            </a:pPr>
            <a:r>
              <a:rPr lang="en-US" sz="1500" dirty="0">
                <a:solidFill>
                  <a:schemeClr val="tx1"/>
                </a:solidFill>
              </a:rPr>
              <a:t>Make a branch and change something</a:t>
            </a:r>
            <a:endParaRPr lang="en-US" sz="1500" dirty="0"/>
          </a:p>
        </p:txBody>
      </p:sp>
      <p:sp>
        <p:nvSpPr>
          <p:cNvPr id="11" name="number 4"/>
          <p:cNvSpPr txBox="1"/>
          <p:nvPr/>
        </p:nvSpPr>
        <p:spPr>
          <a:xfrm>
            <a:off x="457200" y="30632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2" name="Text 9"/>
          <p:cNvSpPr txBox="1"/>
          <p:nvPr/>
        </p:nvSpPr>
        <p:spPr>
          <a:xfrm>
            <a:off x="960120" y="3044952"/>
            <a:ext cx="3520440" cy="548640"/>
          </a:xfrm>
          <a:prstGeom prst="rect">
            <a:avLst/>
          </a:prstGeom>
          <a:noFill/>
          <a:ln/>
        </p:spPr>
        <p:txBody>
          <a:bodyPr wrap="square" lIns="0" tIns="0" rIns="0" bIns="0" rtlCol="0" anchor="t"/>
          <a:lstStyle/>
          <a:p>
            <a:pPr marL="0" indent="0">
              <a:buNone/>
            </a:pPr>
            <a:r>
              <a:rPr lang="en-US" sz="1500" dirty="0">
                <a:solidFill>
                  <a:schemeClr val="tx1"/>
                </a:solidFill>
              </a:rPr>
              <a:t>Push the branch, open a pull request on GitHub</a:t>
            </a:r>
            <a:endParaRPr lang="en-US" sz="1500" dirty="0"/>
          </a:p>
        </p:txBody>
      </p:sp>
      <p:sp>
        <p:nvSpPr>
          <p:cNvPr id="13" name="number 5"/>
          <p:cNvSpPr txBox="1"/>
          <p:nvPr/>
        </p:nvSpPr>
        <p:spPr>
          <a:xfrm>
            <a:off x="457200" y="365760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14" name="Text 11"/>
          <p:cNvSpPr txBox="1"/>
          <p:nvPr/>
        </p:nvSpPr>
        <p:spPr>
          <a:xfrm>
            <a:off x="960120" y="3639312"/>
            <a:ext cx="3520440" cy="548640"/>
          </a:xfrm>
          <a:prstGeom prst="rect">
            <a:avLst/>
          </a:prstGeom>
          <a:noFill/>
          <a:ln/>
        </p:spPr>
        <p:txBody>
          <a:bodyPr wrap="square" lIns="0" tIns="0" rIns="0" bIns="0" rtlCol="0" anchor="t"/>
          <a:lstStyle/>
          <a:p>
            <a:pPr marL="0" indent="0">
              <a:buNone/>
            </a:pPr>
            <a:r>
              <a:rPr lang="en-US" sz="1500" dirty="0">
                <a:solidFill>
                  <a:schemeClr val="tx1"/>
                </a:solidFill>
              </a:rPr>
              <a:t>Merge it, then pull main</a:t>
            </a:r>
            <a:endParaRPr lang="en-US" sz="1500" dirty="0"/>
          </a:p>
        </p:txBody>
      </p:sp>
      <p:sp>
        <p:nvSpPr>
          <p:cNvPr id="15" name="code box"/>
          <p:cNvSpPr/>
          <p:nvPr/>
        </p:nvSpPr>
        <p:spPr>
          <a:xfrm>
            <a:off x="4663440" y="1188720"/>
            <a:ext cx="4023360" cy="3291840"/>
          </a:xfrm>
          <a:prstGeom prst="roundRect">
            <a:avLst>
              <a:gd name="adj" fmla="val 2222"/>
            </a:avLst>
          </a:prstGeom>
          <a:solidFill>
            <a:schemeClr val="tx1"/>
          </a:solidFill>
          <a:ln/>
        </p:spPr>
        <p:txBody>
          <a:bodyPr/>
          <a:lstStyle/>
          <a:p>
            <a:endParaRPr lang="en-US"/>
          </a:p>
        </p:txBody>
      </p:sp>
      <p:sp>
        <p:nvSpPr>
          <p:cNvPr id="16" name="Text 13"/>
          <p:cNvSpPr txBox="1"/>
          <p:nvPr/>
        </p:nvSpPr>
        <p:spPr>
          <a:xfrm>
            <a:off x="4864608" y="1353312"/>
            <a:ext cx="3621024" cy="2962656"/>
          </a:xfrm>
          <a:prstGeom prst="rect">
            <a:avLst/>
          </a:prstGeom>
          <a:noFill/>
          <a:ln/>
        </p:spPr>
        <p:txBody>
          <a:bodyPr wrap="square" lIns="0" tIns="0" rIns="0" bIns="0" rtlCol="0" anchor="t"/>
          <a:lstStyle/>
          <a:p>
            <a:pPr marL="0" indent="0">
              <a:buNone/>
            </a:pPr>
            <a:r>
              <a:rPr lang="en-US" sz="1500" dirty="0">
                <a:solidFill>
                  <a:schemeClr val="accent3"/>
                </a:solidFill>
                <a:latin typeface="Courier New" pitchFamily="34" charset="0"/>
                <a:ea typeface="Courier New" pitchFamily="34" charset="-122"/>
                <a:cs typeface="Courier New" pitchFamily="34" charset="-120"/>
              </a:rPr>
              <a:t># steps 1 and 2</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status</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add -A</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commit -m "Add my name"</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push</a:t>
            </a:r>
            <a:endParaRPr lang="en-US" sz="1500" dirty="0"/>
          </a:p>
          <a:p>
            <a:pPr marL="0" indent="0">
              <a:buNone/>
            </a:pPr>
            <a:r>
              <a:rPr lang="en-US" sz="1500" dirty="0">
                <a:solidFill>
                  <a:schemeClr val="accent3"/>
                </a:solidFill>
                <a:latin typeface="Courier New" pitchFamily="34" charset="0"/>
                <a:ea typeface="Courier New" pitchFamily="34" charset="-122"/>
                <a:cs typeface="Courier New" pitchFamily="34" charset="-120"/>
              </a:rPr>
              <a:t># steps 3 and 4</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switch -c my-change</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push -u origin my-change</a:t>
            </a:r>
            <a:endParaRPr lang="en-US" sz="1500" dirty="0"/>
          </a:p>
          <a:p>
            <a:pPr marL="0" indent="0">
              <a:buNone/>
            </a:pPr>
            <a:r>
              <a:rPr lang="en-US" sz="1500" dirty="0">
                <a:solidFill>
                  <a:schemeClr val="accent3"/>
                </a:solidFill>
                <a:latin typeface="Courier New" pitchFamily="34" charset="0"/>
                <a:ea typeface="Courier New" pitchFamily="34" charset="-122"/>
                <a:cs typeface="Courier New" pitchFamily="34" charset="-120"/>
              </a:rPr>
              <a:t># step 5</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switch main</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git pull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3</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Cursor</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30 min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A quick tour of Cursor</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3</a:t>
            </a:r>
            <a:endParaRPr lang="en-US" sz="1200" dirty="0"/>
          </a:p>
        </p:txBody>
      </p:sp>
      <p:sp>
        <p:nvSpPr>
          <p:cNvPr id="5" name="card Files and editor"/>
          <p:cNvSpPr/>
          <p:nvPr/>
        </p:nvSpPr>
        <p:spPr>
          <a:xfrm>
            <a:off x="457200" y="1188720"/>
            <a:ext cx="4023360" cy="1325880"/>
          </a:xfrm>
          <a:prstGeom prst="roundRect">
            <a:avLst>
              <a:gd name="adj" fmla="val 5517"/>
            </a:avLst>
          </a:prstGeom>
          <a:solidFill>
            <a:schemeClr val="bg2"/>
          </a:solidFill>
          <a:ln/>
        </p:spPr>
        <p:txBody>
          <a:bodyPr/>
          <a:lstStyle/>
          <a:p>
            <a:endParaRPr lang="en-US"/>
          </a:p>
        </p:txBody>
      </p:sp>
      <p:sp>
        <p:nvSpPr>
          <p:cNvPr id="6" name="Text 3"/>
          <p:cNvSpPr txBox="1"/>
          <p:nvPr/>
        </p:nvSpPr>
        <p:spPr>
          <a:xfrm>
            <a:off x="65836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Files and editor</a:t>
            </a:r>
            <a:endParaRPr lang="en-US" sz="1600" dirty="0"/>
          </a:p>
        </p:txBody>
      </p:sp>
      <p:sp>
        <p:nvSpPr>
          <p:cNvPr id="7" name="Text 4"/>
          <p:cNvSpPr txBox="1"/>
          <p:nvPr/>
        </p:nvSpPr>
        <p:spPr>
          <a:xfrm>
            <a:off x="658368" y="1764792"/>
            <a:ext cx="3621024" cy="640080"/>
          </a:xfrm>
          <a:prstGeom prst="rect">
            <a:avLst/>
          </a:prstGeom>
          <a:noFill/>
          <a:ln/>
        </p:spPr>
        <p:txBody>
          <a:bodyPr wrap="square" lIns="0" tIns="0" rIns="0" bIns="0" rtlCol="0" anchor="t"/>
          <a:lstStyle/>
          <a:p>
            <a:pPr marL="0" indent="0">
              <a:buNone/>
            </a:pPr>
            <a:r>
              <a:rPr lang="en-US" sz="1600" dirty="0">
                <a:solidFill>
                  <a:schemeClr val="tx2"/>
                </a:solidFill>
              </a:rPr>
              <a:t>Find any file: Ctrl+P or Cmd+P</a:t>
            </a:r>
            <a:endParaRPr lang="en-US" sz="1600" dirty="0"/>
          </a:p>
        </p:txBody>
      </p:sp>
      <p:sp>
        <p:nvSpPr>
          <p:cNvPr id="8" name="card Terminal"/>
          <p:cNvSpPr/>
          <p:nvPr/>
        </p:nvSpPr>
        <p:spPr>
          <a:xfrm>
            <a:off x="4663440" y="1188720"/>
            <a:ext cx="4023360" cy="1325880"/>
          </a:xfrm>
          <a:prstGeom prst="roundRect">
            <a:avLst>
              <a:gd name="adj" fmla="val 5517"/>
            </a:avLst>
          </a:prstGeom>
          <a:solidFill>
            <a:schemeClr val="bg2"/>
          </a:solidFill>
          <a:ln/>
        </p:spPr>
        <p:txBody>
          <a:bodyPr/>
          <a:lstStyle/>
          <a:p>
            <a:endParaRPr lang="en-US"/>
          </a:p>
        </p:txBody>
      </p:sp>
      <p:sp>
        <p:nvSpPr>
          <p:cNvPr id="9" name="Text 6"/>
          <p:cNvSpPr txBox="1"/>
          <p:nvPr/>
        </p:nvSpPr>
        <p:spPr>
          <a:xfrm>
            <a:off x="486460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Terminal</a:t>
            </a:r>
            <a:endParaRPr lang="en-US" sz="1600" dirty="0"/>
          </a:p>
        </p:txBody>
      </p:sp>
      <p:sp>
        <p:nvSpPr>
          <p:cNvPr id="10" name="Text 7"/>
          <p:cNvSpPr txBox="1"/>
          <p:nvPr/>
        </p:nvSpPr>
        <p:spPr>
          <a:xfrm>
            <a:off x="4864608" y="1764792"/>
            <a:ext cx="3621024" cy="640080"/>
          </a:xfrm>
          <a:prstGeom prst="rect">
            <a:avLst/>
          </a:prstGeom>
          <a:noFill/>
          <a:ln/>
        </p:spPr>
        <p:txBody>
          <a:bodyPr wrap="square" lIns="0" tIns="0" rIns="0" bIns="0" rtlCol="0" anchor="t"/>
          <a:lstStyle/>
          <a:p>
            <a:pPr marL="0" indent="0">
              <a:buNone/>
            </a:pPr>
            <a:r>
              <a:rPr lang="en-US" sz="1600" dirty="0">
                <a:solidFill>
                  <a:schemeClr val="tx2"/>
                </a:solidFill>
              </a:rPr>
              <a:t>Where Claude Code runs. Terminal &gt; New Terminal</a:t>
            </a:r>
            <a:endParaRPr lang="en-US" sz="1600" dirty="0"/>
          </a:p>
        </p:txBody>
      </p:sp>
      <p:sp>
        <p:nvSpPr>
          <p:cNvPr id="11" name="card Source control and diffs"/>
          <p:cNvSpPr/>
          <p:nvPr/>
        </p:nvSpPr>
        <p:spPr>
          <a:xfrm>
            <a:off x="457200" y="2697480"/>
            <a:ext cx="4023360" cy="1325880"/>
          </a:xfrm>
          <a:prstGeom prst="roundRect">
            <a:avLst>
              <a:gd name="adj" fmla="val 5517"/>
            </a:avLst>
          </a:prstGeom>
          <a:solidFill>
            <a:schemeClr val="bg2"/>
          </a:solidFill>
          <a:ln/>
        </p:spPr>
        <p:txBody>
          <a:bodyPr/>
          <a:lstStyle/>
          <a:p>
            <a:endParaRPr lang="en-US"/>
          </a:p>
        </p:txBody>
      </p:sp>
      <p:sp>
        <p:nvSpPr>
          <p:cNvPr id="12" name="Text 9"/>
          <p:cNvSpPr txBox="1"/>
          <p:nvPr/>
        </p:nvSpPr>
        <p:spPr>
          <a:xfrm>
            <a:off x="658368" y="2862072"/>
            <a:ext cx="3621024" cy="365760"/>
          </a:xfrm>
          <a:prstGeom prst="rect">
            <a:avLst/>
          </a:prstGeom>
          <a:noFill/>
          <a:ln/>
        </p:spPr>
        <p:txBody>
          <a:bodyPr wrap="square" lIns="0" tIns="0" rIns="0" bIns="0" rtlCol="0" anchor="t"/>
          <a:lstStyle/>
          <a:p>
            <a:pPr marL="0" indent="0">
              <a:buNone/>
            </a:pPr>
            <a:r>
              <a:rPr lang="en-US" sz="1600" b="1" dirty="0">
                <a:solidFill>
                  <a:schemeClr val="tx1"/>
                </a:solidFill>
              </a:rPr>
              <a:t>Source control and diffs</a:t>
            </a:r>
            <a:endParaRPr lang="en-US" sz="1600" dirty="0"/>
          </a:p>
        </p:txBody>
      </p:sp>
      <p:sp>
        <p:nvSpPr>
          <p:cNvPr id="13" name="Text 10"/>
          <p:cNvSpPr txBox="1"/>
          <p:nvPr/>
        </p:nvSpPr>
        <p:spPr>
          <a:xfrm>
            <a:off x="658368" y="3273552"/>
            <a:ext cx="3621024" cy="640080"/>
          </a:xfrm>
          <a:prstGeom prst="rect">
            <a:avLst/>
          </a:prstGeom>
          <a:noFill/>
          <a:ln/>
        </p:spPr>
        <p:txBody>
          <a:bodyPr wrap="square" lIns="0" tIns="0" rIns="0" bIns="0" rtlCol="0" anchor="t"/>
          <a:lstStyle/>
          <a:p>
            <a:pPr marL="0" indent="0">
              <a:buNone/>
            </a:pPr>
            <a:r>
              <a:rPr lang="en-US" sz="1600" dirty="0">
                <a:solidFill>
                  <a:schemeClr val="tx2"/>
                </a:solidFill>
              </a:rPr>
              <a:t>Every change before you commit. Git Graph for history</a:t>
            </a:r>
            <a:endParaRPr lang="en-US" sz="1600" dirty="0"/>
          </a:p>
        </p:txBody>
      </p:sp>
      <p:sp>
        <p:nvSpPr>
          <p:cNvPr id="14" name="card Extensions"/>
          <p:cNvSpPr/>
          <p:nvPr/>
        </p:nvSpPr>
        <p:spPr>
          <a:xfrm>
            <a:off x="4663440" y="2697480"/>
            <a:ext cx="4023360" cy="1325880"/>
          </a:xfrm>
          <a:prstGeom prst="roundRect">
            <a:avLst>
              <a:gd name="adj" fmla="val 5517"/>
            </a:avLst>
          </a:prstGeom>
          <a:solidFill>
            <a:schemeClr val="bg2"/>
          </a:solidFill>
          <a:ln/>
        </p:spPr>
        <p:txBody>
          <a:bodyPr/>
          <a:lstStyle/>
          <a:p>
            <a:endParaRPr lang="en-US"/>
          </a:p>
        </p:txBody>
      </p:sp>
      <p:sp>
        <p:nvSpPr>
          <p:cNvPr id="15" name="Text 12"/>
          <p:cNvSpPr txBox="1"/>
          <p:nvPr/>
        </p:nvSpPr>
        <p:spPr>
          <a:xfrm>
            <a:off x="4864608" y="2862072"/>
            <a:ext cx="3621024" cy="365760"/>
          </a:xfrm>
          <a:prstGeom prst="rect">
            <a:avLst/>
          </a:prstGeom>
          <a:noFill/>
          <a:ln/>
        </p:spPr>
        <p:txBody>
          <a:bodyPr wrap="square" lIns="0" tIns="0" rIns="0" bIns="0" rtlCol="0" anchor="t"/>
          <a:lstStyle/>
          <a:p>
            <a:pPr marL="0" indent="0">
              <a:buNone/>
            </a:pPr>
            <a:r>
              <a:rPr lang="en-US" sz="1600" b="1" dirty="0">
                <a:solidFill>
                  <a:schemeClr val="tx1"/>
                </a:solidFill>
              </a:rPr>
              <a:t>Extensions</a:t>
            </a:r>
            <a:endParaRPr lang="en-US" sz="1600" dirty="0"/>
          </a:p>
        </p:txBody>
      </p:sp>
      <p:sp>
        <p:nvSpPr>
          <p:cNvPr id="16" name="Text 13"/>
          <p:cNvSpPr txBox="1"/>
          <p:nvPr/>
        </p:nvSpPr>
        <p:spPr>
          <a:xfrm>
            <a:off x="4864608" y="3273552"/>
            <a:ext cx="3621024" cy="640080"/>
          </a:xfrm>
          <a:prstGeom prst="rect">
            <a:avLst/>
          </a:prstGeom>
          <a:noFill/>
          <a:ln/>
        </p:spPr>
        <p:txBody>
          <a:bodyPr wrap="square" lIns="0" tIns="0" rIns="0" bIns="0" rtlCol="0" anchor="t"/>
          <a:lstStyle/>
          <a:p>
            <a:pPr marL="0" indent="0">
              <a:buNone/>
            </a:pPr>
            <a:r>
              <a:rPr lang="en-US" sz="1600" dirty="0">
                <a:solidFill>
                  <a:schemeClr val="tx2"/>
                </a:solidFill>
              </a:rPr>
              <a:t>Ctrl+Shift+X or Cmd+Shift+X, then @recommended</a:t>
            </a:r>
            <a:endParaRPr lang="en-US" sz="1600" dirty="0"/>
          </a:p>
        </p:txBody>
      </p:sp>
      <p:sp>
        <p:nvSpPr>
          <p:cNvPr id="17" name="Text 14"/>
          <p:cNvSpPr txBox="1"/>
          <p:nvPr/>
        </p:nvSpPr>
        <p:spPr>
          <a:xfrm>
            <a:off x="457200" y="4206240"/>
            <a:ext cx="8229600" cy="411480"/>
          </a:xfrm>
          <a:prstGeom prst="rect">
            <a:avLst/>
          </a:prstGeom>
          <a:noFill/>
          <a:ln/>
        </p:spPr>
        <p:txBody>
          <a:bodyPr wrap="square" lIns="0" tIns="0" rIns="0" bIns="0" rtlCol="0" anchor="t"/>
          <a:lstStyle/>
          <a:p>
            <a:pPr marL="0" indent="0" algn="l">
              <a:buNone/>
            </a:pPr>
            <a:r>
              <a:rPr lang="en-US" sz="1400" i="1" dirty="0">
                <a:solidFill>
                  <a:schemeClr val="tx2"/>
                </a:solidFill>
              </a:rPr>
              <a:t>Cursor's own agent works much like Claude Code. Today Cursor is the editor, Claude Code is the agent.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Rules: how the agent should work</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3</a:t>
            </a:r>
            <a:endParaRPr lang="en-US" sz="1200" dirty="0"/>
          </a:p>
        </p:txBody>
      </p:sp>
      <p:sp>
        <p:nvSpPr>
          <p:cNvPr id="5" name="Text 2"/>
          <p:cNvSpPr txBox="1"/>
          <p:nvPr/>
        </p:nvSpPr>
        <p:spPr>
          <a:xfrm>
            <a:off x="457200" y="1188720"/>
            <a:ext cx="4023360" cy="33832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tx1"/>
                </a:solidFill>
              </a:rPr>
              <a:t>Cursor and Claude Code both read CLAUDE.md</a:t>
            </a:r>
            <a:endParaRPr lang="en-US" sz="1500" dirty="0"/>
          </a:p>
          <a:p>
            <a:pPr marL="177800" indent="-177800">
              <a:spcAft>
                <a:spcPts val="900"/>
              </a:spcAft>
              <a:buSzPct val="100000"/>
              <a:buChar char="•"/>
            </a:pPr>
            <a:r>
              <a:rPr lang="en-US" sz="1500" dirty="0">
                <a:solidFill>
                  <a:schemeClr val="tx1"/>
                </a:solidFill>
              </a:rPr>
              <a:t>Cursor-only rules live in .cursor/rules/*.mdc</a:t>
            </a:r>
            <a:endParaRPr lang="en-US" sz="1500" dirty="0"/>
          </a:p>
          <a:p>
            <a:pPr marL="177800" indent="-177800">
              <a:spcAft>
                <a:spcPts val="900"/>
              </a:spcAft>
              <a:buSzPct val="100000"/>
              <a:buChar char="•"/>
            </a:pPr>
            <a:r>
              <a:rPr lang="en-US" sz="1500" dirty="0">
                <a:solidFill>
                  <a:schemeClr val="tx1"/>
                </a:solidFill>
              </a:rPr>
              <a:t>globs attach a rule to matching files only</a:t>
            </a:r>
            <a:endParaRPr lang="en-US" sz="1500" dirty="0"/>
          </a:p>
          <a:p>
            <a:pPr marL="177800" indent="-177800">
              <a:spcAft>
                <a:spcPts val="900"/>
              </a:spcAft>
              <a:buSzPct val="100000"/>
              <a:buChar char="•"/>
            </a:pPr>
            <a:r>
              <a:rPr lang="en-US" sz="1500" dirty="0">
                <a:solidFill>
                  <a:schemeClr val="tx1"/>
                </a:solidFill>
              </a:rPr>
              <a:t>Inline edit: select code, ask for one change. Agent: a multi-step task</a:t>
            </a:r>
            <a:endParaRPr lang="en-US" sz="1500" dirty="0"/>
          </a:p>
          <a:p>
            <a:pPr marL="177800" indent="-177800">
              <a:spcAft>
                <a:spcPts val="900"/>
              </a:spcAft>
              <a:buSzPct val="100000"/>
              <a:buChar char="•"/>
            </a:pPr>
            <a:r>
              <a:rPr lang="en-US" sz="1500" dirty="0">
                <a:solidFill>
                  <a:schemeClr val="tx1"/>
                </a:solidFill>
              </a:rPr>
              <a:t>Live: write one rule together</a:t>
            </a:r>
            <a:endParaRPr lang="en-US" sz="1500" dirty="0"/>
          </a:p>
        </p:txBody>
      </p:sp>
      <p:sp>
        <p:nvSpPr>
          <p:cNvPr id="6" name="code box"/>
          <p:cNvSpPr/>
          <p:nvPr/>
        </p:nvSpPr>
        <p:spPr>
          <a:xfrm>
            <a:off x="4663440" y="1188720"/>
            <a:ext cx="4023360" cy="2514600"/>
          </a:xfrm>
          <a:prstGeom prst="roundRect">
            <a:avLst>
              <a:gd name="adj" fmla="val 2909"/>
            </a:avLst>
          </a:prstGeom>
          <a:solidFill>
            <a:schemeClr val="tx1"/>
          </a:solidFill>
          <a:ln/>
        </p:spPr>
        <p:txBody>
          <a:bodyPr/>
          <a:lstStyle/>
          <a:p>
            <a:endParaRPr lang="en-US"/>
          </a:p>
        </p:txBody>
      </p:sp>
      <p:sp>
        <p:nvSpPr>
          <p:cNvPr id="7" name="Text 4"/>
          <p:cNvSpPr txBox="1"/>
          <p:nvPr/>
        </p:nvSpPr>
        <p:spPr>
          <a:xfrm>
            <a:off x="4864608" y="1353312"/>
            <a:ext cx="3621024" cy="2185416"/>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description: Python style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globs: analysis/**/*.py</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alwaysApply: false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Use type hints everywhere.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Keep functions pure:</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  DataFrame in, plain data out.</a:t>
            </a:r>
            <a:endParaRPr lang="en-US" sz="1400" dirty="0"/>
          </a:p>
        </p:txBody>
      </p:sp>
      <p:sp>
        <p:nvSpPr>
          <p:cNvPr id="8" name="Text 5"/>
          <p:cNvSpPr txBox="1"/>
          <p:nvPr/>
        </p:nvSpPr>
        <p:spPr>
          <a:xfrm>
            <a:off x="4663440" y="3776472"/>
            <a:ext cx="4023360" cy="274320"/>
          </a:xfrm>
          <a:prstGeom prst="rect">
            <a:avLst/>
          </a:prstGeom>
          <a:noFill/>
          <a:ln/>
        </p:spPr>
        <p:txBody>
          <a:bodyPr wrap="square" lIns="0" tIns="0" rIns="0" bIns="0" rtlCol="0" anchor="ctr"/>
          <a:lstStyle/>
          <a:p>
            <a:pPr marL="0" indent="0">
              <a:buNone/>
            </a:pPr>
            <a:r>
              <a:rPr lang="en-US" sz="1100" i="1" dirty="0">
                <a:solidFill>
                  <a:schemeClr val="tx2"/>
                </a:solidFill>
              </a:rPr>
              <a:t>.cursor/rules/python.mdc</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4</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Claude Code core</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60 min</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Start a session</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4</a:t>
            </a:r>
            <a:endParaRPr lang="en-US" sz="1200" dirty="0"/>
          </a:p>
        </p:txBody>
      </p:sp>
      <p:sp>
        <p:nvSpPr>
          <p:cNvPr id="5" name="code box"/>
          <p:cNvSpPr/>
          <p:nvPr/>
        </p:nvSpPr>
        <p:spPr>
          <a:xfrm>
            <a:off x="457200" y="1188720"/>
            <a:ext cx="4023360" cy="2286000"/>
          </a:xfrm>
          <a:prstGeom prst="roundRect">
            <a:avLst>
              <a:gd name="adj" fmla="val 3200"/>
            </a:avLst>
          </a:prstGeom>
          <a:solidFill>
            <a:schemeClr val="tx1"/>
          </a:solidFill>
          <a:ln/>
        </p:spPr>
        <p:txBody>
          <a:bodyPr/>
          <a:lstStyle/>
          <a:p>
            <a:endParaRPr lang="en-US"/>
          </a:p>
        </p:txBody>
      </p:sp>
      <p:sp>
        <p:nvSpPr>
          <p:cNvPr id="6" name="Text 3"/>
          <p:cNvSpPr txBox="1"/>
          <p:nvPr/>
        </p:nvSpPr>
        <p:spPr>
          <a:xfrm>
            <a:off x="658368" y="1353312"/>
            <a:ext cx="3621024" cy="1956816"/>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claude     </a:t>
            </a:r>
            <a:r>
              <a:rPr lang="en-US" sz="1300" dirty="0">
                <a:solidFill>
                  <a:schemeClr val="accent3"/>
                </a:solidFill>
                <a:latin typeface="Courier New" pitchFamily="34" charset="0"/>
                <a:ea typeface="Courier New" pitchFamily="34" charset="-122"/>
                <a:cs typeface="Courier New" pitchFamily="34" charset="-120"/>
              </a:rPr>
              <a:t># start in this folder</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claude -c  </a:t>
            </a:r>
            <a:r>
              <a:rPr lang="en-US" sz="1300" dirty="0">
                <a:solidFill>
                  <a:schemeClr val="accent3"/>
                </a:solidFill>
                <a:latin typeface="Courier New" pitchFamily="34" charset="0"/>
                <a:ea typeface="Courier New" pitchFamily="34" charset="-122"/>
                <a:cs typeface="Courier New" pitchFamily="34" charset="-120"/>
              </a:rPr>
              <a:t># continue last session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/init      </a:t>
            </a:r>
            <a:r>
              <a:rPr lang="en-US" sz="1300" dirty="0">
                <a:solidFill>
                  <a:schemeClr val="accent3"/>
                </a:solidFill>
                <a:latin typeface="Courier New" pitchFamily="34" charset="0"/>
                <a:ea typeface="Courier New" pitchFamily="34" charset="-122"/>
                <a:cs typeface="Courier New" pitchFamily="34" charset="-120"/>
              </a:rPr>
              <a:t># create CLAUDE.md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/memory    </a:t>
            </a:r>
            <a:r>
              <a:rPr lang="en-US" sz="1300" dirty="0">
                <a:solidFill>
                  <a:schemeClr val="accent3"/>
                </a:solidFill>
                <a:latin typeface="Courier New" pitchFamily="34" charset="0"/>
                <a:ea typeface="Courier New" pitchFamily="34" charset="-122"/>
                <a:cs typeface="Courier New" pitchFamily="34" charset="-120"/>
              </a:rPr>
              <a:t># edit memory files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/exit      </a:t>
            </a:r>
            <a:r>
              <a:rPr lang="en-US" sz="1300" dirty="0">
                <a:solidFill>
                  <a:schemeClr val="accent3"/>
                </a:solidFill>
                <a:latin typeface="Courier New" pitchFamily="34" charset="0"/>
                <a:ea typeface="Courier New" pitchFamily="34" charset="-122"/>
                <a:cs typeface="Courier New" pitchFamily="34" charset="-120"/>
              </a:rPr>
              <a:t># quit</a:t>
            </a:r>
            <a:endParaRPr lang="en-US" sz="1300" dirty="0"/>
          </a:p>
        </p:txBody>
      </p:sp>
      <p:sp>
        <p:nvSpPr>
          <p:cNvPr id="7" name="card What our CLAUDE.md holds"/>
          <p:cNvSpPr/>
          <p:nvPr/>
        </p:nvSpPr>
        <p:spPr>
          <a:xfrm>
            <a:off x="4663440" y="1188720"/>
            <a:ext cx="4023360" cy="3291840"/>
          </a:xfrm>
          <a:prstGeom prst="roundRect">
            <a:avLst>
              <a:gd name="adj" fmla="val 2222"/>
            </a:avLst>
          </a:prstGeom>
          <a:solidFill>
            <a:schemeClr val="bg2"/>
          </a:solidFill>
          <a:ln/>
        </p:spPr>
        <p:txBody>
          <a:bodyPr/>
          <a:lstStyle/>
          <a:p>
            <a:endParaRPr lang="en-US"/>
          </a:p>
        </p:txBody>
      </p:sp>
      <p:sp>
        <p:nvSpPr>
          <p:cNvPr id="8" name="Text 5"/>
          <p:cNvSpPr txBox="1"/>
          <p:nvPr/>
        </p:nvSpPr>
        <p:spPr>
          <a:xfrm>
            <a:off x="486460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What our CLAUDE.md holds</a:t>
            </a:r>
            <a:endParaRPr lang="en-US" sz="1600" dirty="0"/>
          </a:p>
        </p:txBody>
      </p:sp>
      <p:sp>
        <p:nvSpPr>
          <p:cNvPr id="9" name="Text 6"/>
          <p:cNvSpPr txBox="1"/>
          <p:nvPr/>
        </p:nvSpPr>
        <p:spPr>
          <a:xfrm>
            <a:off x="4864608" y="1764792"/>
            <a:ext cx="3621024" cy="2606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The stack and the commands</a:t>
            </a:r>
            <a:endParaRPr lang="en-US" sz="1600" dirty="0"/>
          </a:p>
          <a:p>
            <a:pPr marL="177800" indent="-177800">
              <a:spcAft>
                <a:spcPts val="600"/>
              </a:spcAft>
              <a:buSzPct val="100000"/>
              <a:buChar char="•"/>
            </a:pPr>
            <a:r>
              <a:rPr lang="en-US" sz="1600" dirty="0">
                <a:solidFill>
                  <a:schemeClr val="tx2"/>
                </a:solidFill>
              </a:rPr>
              <a:t>The check command</a:t>
            </a:r>
            <a:endParaRPr lang="en-US" sz="1600" dirty="0"/>
          </a:p>
          <a:p>
            <a:pPr marL="177800" indent="-177800">
              <a:spcAft>
                <a:spcPts val="600"/>
              </a:spcAft>
              <a:buSzPct val="100000"/>
              <a:buChar char="•"/>
            </a:pPr>
            <a:r>
              <a:rPr lang="en-US" sz="1600" dirty="0">
                <a:solidFill>
                  <a:schemeClr val="tx2"/>
                </a:solidFill>
              </a:rPr>
              <a:t>Where things go</a:t>
            </a:r>
            <a:endParaRPr lang="en-US" sz="1600" dirty="0"/>
          </a:p>
          <a:p>
            <a:pPr marL="177800" indent="-177800">
              <a:spcAft>
                <a:spcPts val="600"/>
              </a:spcAft>
              <a:buSzPct val="100000"/>
              <a:buChar char="•"/>
            </a:pPr>
            <a:r>
              <a:rPr lang="en-US" sz="1600" dirty="0">
                <a:solidFill>
                  <a:schemeClr val="tx2"/>
                </a:solidFill>
              </a:rPr>
              <a:t>Files not to touch</a:t>
            </a:r>
            <a:endParaRPr lang="en-US" sz="1600" dirty="0"/>
          </a:p>
          <a:p>
            <a:pPr marL="177800" indent="-177800">
              <a:spcAft>
                <a:spcPts val="600"/>
              </a:spcAft>
              <a:buSzPct val="100000"/>
              <a:buChar char="•"/>
            </a:pPr>
            <a:r>
              <a:rPr lang="en-US" sz="1600" dirty="0">
                <a:solidFill>
                  <a:schemeClr val="tx2"/>
                </a:solidFill>
              </a:rPr>
              <a:t>The definition of done</a:t>
            </a:r>
            <a:endParaRPr lang="en-US" sz="1600" dirty="0"/>
          </a:p>
        </p:txBody>
      </p:sp>
      <p:sp>
        <p:nvSpPr>
          <p:cNvPr id="10" name="Text 7"/>
          <p:cNvSpPr txBox="1"/>
          <p:nvPr/>
        </p:nvSpPr>
        <p:spPr>
          <a:xfrm>
            <a:off x="457200" y="3703320"/>
            <a:ext cx="4023360" cy="731520"/>
          </a:xfrm>
          <a:prstGeom prst="rect">
            <a:avLst/>
          </a:prstGeom>
          <a:noFill/>
          <a:ln/>
        </p:spPr>
        <p:txBody>
          <a:bodyPr wrap="square" lIns="0" tIns="0" rIns="0" bIns="0" rtlCol="0" anchor="t"/>
          <a:lstStyle/>
          <a:p>
            <a:pPr marL="0" indent="0" algn="l">
              <a:buNone/>
            </a:pPr>
            <a:r>
              <a:rPr lang="en-US" sz="1400" i="1" dirty="0">
                <a:solidFill>
                  <a:schemeClr val="tx2"/>
                </a:solidFill>
              </a:rPr>
              <a:t>Run /init, then edit it by hand. It is the habit that pays off most.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Plan first, then build</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4</a:t>
            </a:r>
            <a:endParaRPr lang="en-US" sz="1200" dirty="0"/>
          </a:p>
        </p:txBody>
      </p:sp>
      <p:sp>
        <p:nvSpPr>
          <p:cNvPr id="5" name="step Plan mode"/>
          <p:cNvSpPr/>
          <p:nvPr/>
        </p:nvSpPr>
        <p:spPr>
          <a:xfrm>
            <a:off x="457200" y="1188720"/>
            <a:ext cx="1219200" cy="1325880"/>
          </a:xfrm>
          <a:prstGeom prst="roundRect">
            <a:avLst>
              <a:gd name="adj" fmla="val 6000"/>
            </a:avLst>
          </a:prstGeom>
          <a:solidFill>
            <a:schemeClr val="bg2"/>
          </a:solidFill>
          <a:ln/>
        </p:spPr>
        <p:txBody>
          <a:bodyPr/>
          <a:lstStyle/>
          <a:p>
            <a:endParaRPr lang="en-US"/>
          </a:p>
        </p:txBody>
      </p:sp>
      <p:sp>
        <p:nvSpPr>
          <p:cNvPr id="6" name="Text 3"/>
          <p:cNvSpPr txBox="1"/>
          <p:nvPr/>
        </p:nvSpPr>
        <p:spPr>
          <a:xfrm>
            <a:off x="530352" y="1325880"/>
            <a:ext cx="1072896" cy="502920"/>
          </a:xfrm>
          <a:prstGeom prst="rect">
            <a:avLst/>
          </a:prstGeom>
          <a:noFill/>
          <a:ln/>
        </p:spPr>
        <p:txBody>
          <a:bodyPr wrap="square" lIns="0" tIns="0" rIns="0" bIns="0" rtlCol="0" anchor="t"/>
          <a:lstStyle/>
          <a:p>
            <a:pPr marL="0" indent="0" algn="ctr">
              <a:buNone/>
            </a:pPr>
            <a:r>
              <a:rPr lang="en-US" sz="1500" b="1" dirty="0">
                <a:solidFill>
                  <a:schemeClr val="tx1"/>
                </a:solidFill>
              </a:rPr>
              <a:t>Plan mode</a:t>
            </a:r>
            <a:endParaRPr lang="en-US" sz="1500" dirty="0"/>
          </a:p>
        </p:txBody>
      </p:sp>
      <p:sp>
        <p:nvSpPr>
          <p:cNvPr id="7" name="Text 4"/>
          <p:cNvSpPr txBox="1"/>
          <p:nvPr/>
        </p:nvSpPr>
        <p:spPr>
          <a:xfrm>
            <a:off x="530352" y="187452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Shift+Tab</a:t>
            </a:r>
            <a:endParaRPr lang="en-US" sz="1200" dirty="0"/>
          </a:p>
        </p:txBody>
      </p:sp>
      <p:sp>
        <p:nvSpPr>
          <p:cNvPr id="8" name="Shape 5"/>
          <p:cNvSpPr/>
          <p:nvPr/>
        </p:nvSpPr>
        <p:spPr>
          <a:xfrm>
            <a:off x="1712976" y="1851660"/>
            <a:ext cx="109728" cy="0"/>
          </a:xfrm>
          <a:prstGeom prst="line">
            <a:avLst/>
          </a:prstGeom>
          <a:noFill/>
          <a:ln w="19050">
            <a:solidFill>
              <a:schemeClr val="tx2"/>
            </a:solidFill>
            <a:prstDash val="solid"/>
            <a:tailEnd type="triangle"/>
          </a:ln>
        </p:spPr>
        <p:txBody>
          <a:bodyPr/>
          <a:lstStyle/>
          <a:p>
            <a:endParaRPr lang="en-US"/>
          </a:p>
        </p:txBody>
      </p:sp>
      <p:sp>
        <p:nvSpPr>
          <p:cNvPr id="9" name="step Read the plan"/>
          <p:cNvSpPr/>
          <p:nvPr/>
        </p:nvSpPr>
        <p:spPr>
          <a:xfrm>
            <a:off x="1859280" y="1188720"/>
            <a:ext cx="1219200" cy="1325880"/>
          </a:xfrm>
          <a:prstGeom prst="roundRect">
            <a:avLst>
              <a:gd name="adj" fmla="val 6000"/>
            </a:avLst>
          </a:prstGeom>
          <a:solidFill>
            <a:schemeClr val="bg2"/>
          </a:solidFill>
          <a:ln/>
        </p:spPr>
        <p:txBody>
          <a:bodyPr/>
          <a:lstStyle/>
          <a:p>
            <a:endParaRPr lang="en-US"/>
          </a:p>
        </p:txBody>
      </p:sp>
      <p:sp>
        <p:nvSpPr>
          <p:cNvPr id="10" name="Text 7"/>
          <p:cNvSpPr txBox="1"/>
          <p:nvPr/>
        </p:nvSpPr>
        <p:spPr>
          <a:xfrm>
            <a:off x="1932432" y="1325880"/>
            <a:ext cx="1072896" cy="502920"/>
          </a:xfrm>
          <a:prstGeom prst="rect">
            <a:avLst/>
          </a:prstGeom>
          <a:noFill/>
          <a:ln/>
        </p:spPr>
        <p:txBody>
          <a:bodyPr wrap="square" lIns="0" tIns="0" rIns="0" bIns="0" rtlCol="0" anchor="t"/>
          <a:lstStyle/>
          <a:p>
            <a:pPr marL="0" indent="0" algn="ctr">
              <a:buNone/>
            </a:pPr>
            <a:r>
              <a:rPr lang="en-US" sz="1500" b="1" dirty="0">
                <a:solidFill>
                  <a:schemeClr val="tx1"/>
                </a:solidFill>
              </a:rPr>
              <a:t>Read the plan</a:t>
            </a:r>
            <a:endParaRPr lang="en-US" sz="1500" dirty="0"/>
          </a:p>
        </p:txBody>
      </p:sp>
      <p:sp>
        <p:nvSpPr>
          <p:cNvPr id="11" name="Text 8"/>
          <p:cNvSpPr txBox="1"/>
          <p:nvPr/>
        </p:nvSpPr>
        <p:spPr>
          <a:xfrm>
            <a:off x="1932432" y="187452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ask questions</a:t>
            </a:r>
            <a:endParaRPr lang="en-US" sz="1200" dirty="0"/>
          </a:p>
        </p:txBody>
      </p:sp>
      <p:sp>
        <p:nvSpPr>
          <p:cNvPr id="12" name="Shape 9"/>
          <p:cNvSpPr/>
          <p:nvPr/>
        </p:nvSpPr>
        <p:spPr>
          <a:xfrm>
            <a:off x="3115056" y="1851660"/>
            <a:ext cx="109728" cy="0"/>
          </a:xfrm>
          <a:prstGeom prst="line">
            <a:avLst/>
          </a:prstGeom>
          <a:noFill/>
          <a:ln w="19050">
            <a:solidFill>
              <a:schemeClr val="tx2"/>
            </a:solidFill>
            <a:prstDash val="solid"/>
            <a:tailEnd type="triangle"/>
          </a:ln>
        </p:spPr>
        <p:txBody>
          <a:bodyPr/>
          <a:lstStyle/>
          <a:p>
            <a:endParaRPr lang="en-US"/>
          </a:p>
        </p:txBody>
      </p:sp>
      <p:sp>
        <p:nvSpPr>
          <p:cNvPr id="13" name="step Accept edits"/>
          <p:cNvSpPr/>
          <p:nvPr/>
        </p:nvSpPr>
        <p:spPr>
          <a:xfrm>
            <a:off x="3261360" y="1188720"/>
            <a:ext cx="1219200" cy="1325880"/>
          </a:xfrm>
          <a:prstGeom prst="roundRect">
            <a:avLst>
              <a:gd name="adj" fmla="val 6000"/>
            </a:avLst>
          </a:prstGeom>
          <a:solidFill>
            <a:schemeClr val="bg2"/>
          </a:solidFill>
          <a:ln/>
        </p:spPr>
        <p:txBody>
          <a:bodyPr/>
          <a:lstStyle/>
          <a:p>
            <a:endParaRPr lang="en-US"/>
          </a:p>
        </p:txBody>
      </p:sp>
      <p:sp>
        <p:nvSpPr>
          <p:cNvPr id="14" name="Text 11"/>
          <p:cNvSpPr txBox="1"/>
          <p:nvPr/>
        </p:nvSpPr>
        <p:spPr>
          <a:xfrm>
            <a:off x="3334512" y="1325880"/>
            <a:ext cx="1072896" cy="502920"/>
          </a:xfrm>
          <a:prstGeom prst="rect">
            <a:avLst/>
          </a:prstGeom>
          <a:noFill/>
          <a:ln/>
        </p:spPr>
        <p:txBody>
          <a:bodyPr wrap="square" lIns="0" tIns="0" rIns="0" bIns="0" rtlCol="0" anchor="t"/>
          <a:lstStyle/>
          <a:p>
            <a:pPr marL="0" indent="0" algn="ctr">
              <a:buNone/>
            </a:pPr>
            <a:r>
              <a:rPr lang="en-US" sz="1500" b="1" dirty="0">
                <a:solidFill>
                  <a:schemeClr val="tx1"/>
                </a:solidFill>
              </a:rPr>
              <a:t>Accept edits</a:t>
            </a:r>
            <a:endParaRPr lang="en-US" sz="1500" dirty="0"/>
          </a:p>
        </p:txBody>
      </p:sp>
      <p:sp>
        <p:nvSpPr>
          <p:cNvPr id="15" name="Text 12"/>
          <p:cNvSpPr txBox="1"/>
          <p:nvPr/>
        </p:nvSpPr>
        <p:spPr>
          <a:xfrm>
            <a:off x="3334512" y="187452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Shift+Tab</a:t>
            </a:r>
            <a:endParaRPr lang="en-US" sz="1200" dirty="0"/>
          </a:p>
        </p:txBody>
      </p:sp>
      <p:sp>
        <p:nvSpPr>
          <p:cNvPr id="16" name="Shape 13"/>
          <p:cNvSpPr/>
          <p:nvPr/>
        </p:nvSpPr>
        <p:spPr>
          <a:xfrm>
            <a:off x="4517136" y="1851660"/>
            <a:ext cx="109728" cy="0"/>
          </a:xfrm>
          <a:prstGeom prst="line">
            <a:avLst/>
          </a:prstGeom>
          <a:noFill/>
          <a:ln w="19050">
            <a:solidFill>
              <a:schemeClr val="tx2"/>
            </a:solidFill>
            <a:prstDash val="solid"/>
            <a:tailEnd type="triangle"/>
          </a:ln>
        </p:spPr>
        <p:txBody>
          <a:bodyPr/>
          <a:lstStyle/>
          <a:p>
            <a:endParaRPr lang="en-US"/>
          </a:p>
        </p:txBody>
      </p:sp>
      <p:sp>
        <p:nvSpPr>
          <p:cNvPr id="17" name="step Review the diff"/>
          <p:cNvSpPr/>
          <p:nvPr/>
        </p:nvSpPr>
        <p:spPr>
          <a:xfrm>
            <a:off x="4663440" y="1188720"/>
            <a:ext cx="1219200" cy="1325880"/>
          </a:xfrm>
          <a:prstGeom prst="roundRect">
            <a:avLst>
              <a:gd name="adj" fmla="val 6000"/>
            </a:avLst>
          </a:prstGeom>
          <a:solidFill>
            <a:schemeClr val="bg2"/>
          </a:solidFill>
          <a:ln/>
        </p:spPr>
        <p:txBody>
          <a:bodyPr/>
          <a:lstStyle/>
          <a:p>
            <a:endParaRPr lang="en-US"/>
          </a:p>
        </p:txBody>
      </p:sp>
      <p:sp>
        <p:nvSpPr>
          <p:cNvPr id="18" name="Text 15"/>
          <p:cNvSpPr txBox="1"/>
          <p:nvPr/>
        </p:nvSpPr>
        <p:spPr>
          <a:xfrm>
            <a:off x="4736592" y="1325880"/>
            <a:ext cx="1072896" cy="502920"/>
          </a:xfrm>
          <a:prstGeom prst="rect">
            <a:avLst/>
          </a:prstGeom>
          <a:noFill/>
          <a:ln/>
        </p:spPr>
        <p:txBody>
          <a:bodyPr wrap="square" lIns="0" tIns="0" rIns="0" bIns="0" rtlCol="0" anchor="t"/>
          <a:lstStyle/>
          <a:p>
            <a:pPr marL="0" indent="0" algn="ctr">
              <a:buNone/>
            </a:pPr>
            <a:r>
              <a:rPr lang="en-US" sz="1500" b="1" dirty="0">
                <a:solidFill>
                  <a:schemeClr val="tx1"/>
                </a:solidFill>
              </a:rPr>
              <a:t>Review the diff</a:t>
            </a:r>
            <a:endParaRPr lang="en-US" sz="1500" dirty="0"/>
          </a:p>
        </p:txBody>
      </p:sp>
      <p:sp>
        <p:nvSpPr>
          <p:cNvPr id="19" name="Text 16"/>
          <p:cNvSpPr txBox="1"/>
          <p:nvPr/>
        </p:nvSpPr>
        <p:spPr>
          <a:xfrm>
            <a:off x="4736592" y="187452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in Cursor</a:t>
            </a:r>
            <a:endParaRPr lang="en-US" sz="1200" dirty="0"/>
          </a:p>
        </p:txBody>
      </p:sp>
      <p:sp>
        <p:nvSpPr>
          <p:cNvPr id="20" name="Shape 17"/>
          <p:cNvSpPr/>
          <p:nvPr/>
        </p:nvSpPr>
        <p:spPr>
          <a:xfrm>
            <a:off x="5919216" y="1851660"/>
            <a:ext cx="109728" cy="0"/>
          </a:xfrm>
          <a:prstGeom prst="line">
            <a:avLst/>
          </a:prstGeom>
          <a:noFill/>
          <a:ln w="19050">
            <a:solidFill>
              <a:schemeClr val="tx2"/>
            </a:solidFill>
            <a:prstDash val="solid"/>
            <a:tailEnd type="triangle"/>
          </a:ln>
        </p:spPr>
        <p:txBody>
          <a:bodyPr/>
          <a:lstStyle/>
          <a:p>
            <a:endParaRPr lang="en-US"/>
          </a:p>
        </p:txBody>
      </p:sp>
      <p:sp>
        <p:nvSpPr>
          <p:cNvPr id="21" name="step Run it"/>
          <p:cNvSpPr/>
          <p:nvPr/>
        </p:nvSpPr>
        <p:spPr>
          <a:xfrm>
            <a:off x="6065520" y="1188720"/>
            <a:ext cx="1219200" cy="1325880"/>
          </a:xfrm>
          <a:prstGeom prst="roundRect">
            <a:avLst>
              <a:gd name="adj" fmla="val 6000"/>
            </a:avLst>
          </a:prstGeom>
          <a:solidFill>
            <a:schemeClr val="bg2"/>
          </a:solidFill>
          <a:ln/>
        </p:spPr>
        <p:txBody>
          <a:bodyPr/>
          <a:lstStyle/>
          <a:p>
            <a:endParaRPr lang="en-US"/>
          </a:p>
        </p:txBody>
      </p:sp>
      <p:sp>
        <p:nvSpPr>
          <p:cNvPr id="22" name="Text 19"/>
          <p:cNvSpPr txBox="1"/>
          <p:nvPr/>
        </p:nvSpPr>
        <p:spPr>
          <a:xfrm>
            <a:off x="6138672" y="1325880"/>
            <a:ext cx="1072896" cy="502920"/>
          </a:xfrm>
          <a:prstGeom prst="rect">
            <a:avLst/>
          </a:prstGeom>
          <a:noFill/>
          <a:ln/>
        </p:spPr>
        <p:txBody>
          <a:bodyPr wrap="square" lIns="0" tIns="0" rIns="0" bIns="0" rtlCol="0" anchor="t"/>
          <a:lstStyle/>
          <a:p>
            <a:pPr marL="0" indent="0" algn="ctr">
              <a:buNone/>
            </a:pPr>
            <a:r>
              <a:rPr lang="en-US" sz="1500" b="1" dirty="0">
                <a:solidFill>
                  <a:schemeClr val="tx1"/>
                </a:solidFill>
              </a:rPr>
              <a:t>Run it</a:t>
            </a:r>
            <a:endParaRPr lang="en-US" sz="1500" dirty="0"/>
          </a:p>
        </p:txBody>
      </p:sp>
      <p:sp>
        <p:nvSpPr>
          <p:cNvPr id="23" name="Text 20"/>
          <p:cNvSpPr txBox="1"/>
          <p:nvPr/>
        </p:nvSpPr>
        <p:spPr>
          <a:xfrm>
            <a:off x="6138672" y="187452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check command</a:t>
            </a:r>
            <a:endParaRPr lang="en-US" sz="1200" dirty="0"/>
          </a:p>
        </p:txBody>
      </p:sp>
      <p:sp>
        <p:nvSpPr>
          <p:cNvPr id="24" name="Shape 21"/>
          <p:cNvSpPr/>
          <p:nvPr/>
        </p:nvSpPr>
        <p:spPr>
          <a:xfrm>
            <a:off x="7321296" y="1851660"/>
            <a:ext cx="109728" cy="0"/>
          </a:xfrm>
          <a:prstGeom prst="line">
            <a:avLst/>
          </a:prstGeom>
          <a:noFill/>
          <a:ln w="19050">
            <a:solidFill>
              <a:schemeClr val="tx2"/>
            </a:solidFill>
            <a:prstDash val="solid"/>
            <a:tailEnd type="triangle"/>
          </a:ln>
        </p:spPr>
        <p:txBody>
          <a:bodyPr/>
          <a:lstStyle/>
          <a:p>
            <a:endParaRPr lang="en-US"/>
          </a:p>
        </p:txBody>
      </p:sp>
      <p:sp>
        <p:nvSpPr>
          <p:cNvPr id="25" name="step Commit"/>
          <p:cNvSpPr/>
          <p:nvPr/>
        </p:nvSpPr>
        <p:spPr>
          <a:xfrm>
            <a:off x="7467600" y="1188720"/>
            <a:ext cx="1219200" cy="1325880"/>
          </a:xfrm>
          <a:prstGeom prst="roundRect">
            <a:avLst>
              <a:gd name="adj" fmla="val 6000"/>
            </a:avLst>
          </a:prstGeom>
          <a:solidFill>
            <a:schemeClr val="bg2"/>
          </a:solidFill>
          <a:ln/>
        </p:spPr>
        <p:txBody>
          <a:bodyPr/>
          <a:lstStyle/>
          <a:p>
            <a:endParaRPr lang="en-US"/>
          </a:p>
        </p:txBody>
      </p:sp>
      <p:sp>
        <p:nvSpPr>
          <p:cNvPr id="26" name="Text 23"/>
          <p:cNvSpPr txBox="1"/>
          <p:nvPr/>
        </p:nvSpPr>
        <p:spPr>
          <a:xfrm>
            <a:off x="7540752" y="1325880"/>
            <a:ext cx="1072896" cy="502920"/>
          </a:xfrm>
          <a:prstGeom prst="rect">
            <a:avLst/>
          </a:prstGeom>
          <a:noFill/>
          <a:ln/>
        </p:spPr>
        <p:txBody>
          <a:bodyPr wrap="square" lIns="0" tIns="0" rIns="0" bIns="0" rtlCol="0" anchor="t"/>
          <a:lstStyle/>
          <a:p>
            <a:pPr marL="0" indent="0" algn="ctr">
              <a:buNone/>
            </a:pPr>
            <a:r>
              <a:rPr lang="en-US" sz="1500" b="1" dirty="0">
                <a:solidFill>
                  <a:schemeClr val="tx1"/>
                </a:solidFill>
              </a:rPr>
              <a:t>Commit</a:t>
            </a:r>
            <a:endParaRPr lang="en-US" sz="1500" dirty="0"/>
          </a:p>
        </p:txBody>
      </p:sp>
      <p:sp>
        <p:nvSpPr>
          <p:cNvPr id="27" name="Text 24"/>
          <p:cNvSpPr txBox="1"/>
          <p:nvPr/>
        </p:nvSpPr>
        <p:spPr>
          <a:xfrm>
            <a:off x="7540752" y="187452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git commit</a:t>
            </a:r>
            <a:endParaRPr lang="en-US" sz="1200" dirty="0"/>
          </a:p>
        </p:txBody>
      </p:sp>
      <p:sp>
        <p:nvSpPr>
          <p:cNvPr id="28" name="Text 25"/>
          <p:cNvSpPr txBox="1"/>
          <p:nvPr/>
        </p:nvSpPr>
        <p:spPr>
          <a:xfrm>
            <a:off x="457200" y="2788920"/>
            <a:ext cx="8229600" cy="320040"/>
          </a:xfrm>
          <a:prstGeom prst="rect">
            <a:avLst/>
          </a:prstGeom>
          <a:noFill/>
          <a:ln/>
        </p:spPr>
        <p:txBody>
          <a:bodyPr wrap="square" lIns="0" tIns="0" rIns="0" bIns="0" rtlCol="0" anchor="t"/>
          <a:lstStyle/>
          <a:p>
            <a:pPr marL="0" indent="0" algn="l">
              <a:buNone/>
            </a:pPr>
            <a:r>
              <a:rPr lang="en-US" sz="1400" b="1" dirty="0">
                <a:solidFill>
                  <a:schemeClr val="tx1"/>
                </a:solidFill>
              </a:rPr>
              <a:t>Shift+Tab cycles the mode:</a:t>
            </a:r>
            <a:endParaRPr lang="en-US" sz="1400" dirty="0"/>
          </a:p>
        </p:txBody>
      </p:sp>
      <p:sp>
        <p:nvSpPr>
          <p:cNvPr id="29" name="card Manual"/>
          <p:cNvSpPr/>
          <p:nvPr/>
        </p:nvSpPr>
        <p:spPr>
          <a:xfrm>
            <a:off x="457200" y="3154680"/>
            <a:ext cx="2606040" cy="1325880"/>
          </a:xfrm>
          <a:prstGeom prst="roundRect">
            <a:avLst>
              <a:gd name="adj" fmla="val 5517"/>
            </a:avLst>
          </a:prstGeom>
          <a:solidFill>
            <a:schemeClr val="bg2"/>
          </a:solidFill>
          <a:ln/>
        </p:spPr>
        <p:txBody>
          <a:bodyPr/>
          <a:lstStyle/>
          <a:p>
            <a:endParaRPr lang="en-US"/>
          </a:p>
        </p:txBody>
      </p:sp>
      <p:sp>
        <p:nvSpPr>
          <p:cNvPr id="30" name="Text 27"/>
          <p:cNvSpPr txBox="1"/>
          <p:nvPr/>
        </p:nvSpPr>
        <p:spPr>
          <a:xfrm>
            <a:off x="658368" y="3319272"/>
            <a:ext cx="2203704" cy="365760"/>
          </a:xfrm>
          <a:prstGeom prst="rect">
            <a:avLst/>
          </a:prstGeom>
          <a:noFill/>
          <a:ln/>
        </p:spPr>
        <p:txBody>
          <a:bodyPr wrap="square" lIns="0" tIns="0" rIns="0" bIns="0" rtlCol="0" anchor="t"/>
          <a:lstStyle/>
          <a:p>
            <a:pPr marL="0" indent="0">
              <a:buNone/>
            </a:pPr>
            <a:r>
              <a:rPr lang="en-US" sz="1600" b="1" dirty="0">
                <a:solidFill>
                  <a:schemeClr val="tx1"/>
                </a:solidFill>
              </a:rPr>
              <a:t>Manual</a:t>
            </a:r>
            <a:endParaRPr lang="en-US" sz="1600" dirty="0"/>
          </a:p>
        </p:txBody>
      </p:sp>
      <p:sp>
        <p:nvSpPr>
          <p:cNvPr id="31" name="Text 28"/>
          <p:cNvSpPr txBox="1"/>
          <p:nvPr/>
        </p:nvSpPr>
        <p:spPr>
          <a:xfrm>
            <a:off x="658368" y="3730752"/>
            <a:ext cx="2203704" cy="640080"/>
          </a:xfrm>
          <a:prstGeom prst="rect">
            <a:avLst/>
          </a:prstGeom>
          <a:noFill/>
          <a:ln/>
        </p:spPr>
        <p:txBody>
          <a:bodyPr wrap="square" lIns="0" tIns="0" rIns="0" bIns="0" rtlCol="0" anchor="t"/>
          <a:lstStyle/>
          <a:p>
            <a:pPr marL="0" indent="0">
              <a:buNone/>
            </a:pPr>
            <a:r>
              <a:rPr lang="en-US" sz="1600" dirty="0">
                <a:solidFill>
                  <a:schemeClr val="tx2"/>
                </a:solidFill>
              </a:rPr>
              <a:t>Asks before each edit</a:t>
            </a:r>
            <a:endParaRPr lang="en-US" sz="1600" dirty="0"/>
          </a:p>
        </p:txBody>
      </p:sp>
      <p:sp>
        <p:nvSpPr>
          <p:cNvPr id="32" name="card Accept edits"/>
          <p:cNvSpPr/>
          <p:nvPr/>
        </p:nvSpPr>
        <p:spPr>
          <a:xfrm>
            <a:off x="3268980" y="3154680"/>
            <a:ext cx="2606040" cy="1325880"/>
          </a:xfrm>
          <a:prstGeom prst="roundRect">
            <a:avLst>
              <a:gd name="adj" fmla="val 5517"/>
            </a:avLst>
          </a:prstGeom>
          <a:solidFill>
            <a:schemeClr val="bg2"/>
          </a:solidFill>
          <a:ln/>
        </p:spPr>
        <p:txBody>
          <a:bodyPr/>
          <a:lstStyle/>
          <a:p>
            <a:endParaRPr lang="en-US"/>
          </a:p>
        </p:txBody>
      </p:sp>
      <p:sp>
        <p:nvSpPr>
          <p:cNvPr id="33" name="Text 30"/>
          <p:cNvSpPr txBox="1"/>
          <p:nvPr/>
        </p:nvSpPr>
        <p:spPr>
          <a:xfrm>
            <a:off x="3470148" y="3319272"/>
            <a:ext cx="2203704" cy="365760"/>
          </a:xfrm>
          <a:prstGeom prst="rect">
            <a:avLst/>
          </a:prstGeom>
          <a:noFill/>
          <a:ln/>
        </p:spPr>
        <p:txBody>
          <a:bodyPr wrap="square" lIns="0" tIns="0" rIns="0" bIns="0" rtlCol="0" anchor="t"/>
          <a:lstStyle/>
          <a:p>
            <a:pPr marL="0" indent="0">
              <a:buNone/>
            </a:pPr>
            <a:r>
              <a:rPr lang="en-US" sz="1600" b="1" dirty="0">
                <a:solidFill>
                  <a:schemeClr val="tx1"/>
                </a:solidFill>
              </a:rPr>
              <a:t>Accept edits</a:t>
            </a:r>
            <a:endParaRPr lang="en-US" sz="1600" dirty="0"/>
          </a:p>
        </p:txBody>
      </p:sp>
      <p:sp>
        <p:nvSpPr>
          <p:cNvPr id="34" name="Text 31"/>
          <p:cNvSpPr txBox="1"/>
          <p:nvPr/>
        </p:nvSpPr>
        <p:spPr>
          <a:xfrm>
            <a:off x="3470148" y="3730752"/>
            <a:ext cx="2203704" cy="640080"/>
          </a:xfrm>
          <a:prstGeom prst="rect">
            <a:avLst/>
          </a:prstGeom>
          <a:noFill/>
          <a:ln/>
        </p:spPr>
        <p:txBody>
          <a:bodyPr wrap="square" lIns="0" tIns="0" rIns="0" bIns="0" rtlCol="0" anchor="t"/>
          <a:lstStyle/>
          <a:p>
            <a:pPr marL="0" indent="0">
              <a:buNone/>
            </a:pPr>
            <a:r>
              <a:rPr lang="en-US" sz="1600" dirty="0">
                <a:solidFill>
                  <a:schemeClr val="tx2"/>
                </a:solidFill>
              </a:rPr>
              <a:t>Edits files without asking</a:t>
            </a:r>
            <a:endParaRPr lang="en-US" sz="1600" dirty="0"/>
          </a:p>
        </p:txBody>
      </p:sp>
      <p:sp>
        <p:nvSpPr>
          <p:cNvPr id="35" name="card Plan"/>
          <p:cNvSpPr/>
          <p:nvPr/>
        </p:nvSpPr>
        <p:spPr>
          <a:xfrm>
            <a:off x="6080760" y="3154680"/>
            <a:ext cx="2606040" cy="1325880"/>
          </a:xfrm>
          <a:prstGeom prst="roundRect">
            <a:avLst>
              <a:gd name="adj" fmla="val 5517"/>
            </a:avLst>
          </a:prstGeom>
          <a:solidFill>
            <a:schemeClr val="bg2"/>
          </a:solidFill>
          <a:ln/>
        </p:spPr>
        <p:txBody>
          <a:bodyPr/>
          <a:lstStyle/>
          <a:p>
            <a:endParaRPr lang="en-US"/>
          </a:p>
        </p:txBody>
      </p:sp>
      <p:sp>
        <p:nvSpPr>
          <p:cNvPr id="36" name="Text 33"/>
          <p:cNvSpPr txBox="1"/>
          <p:nvPr/>
        </p:nvSpPr>
        <p:spPr>
          <a:xfrm>
            <a:off x="6281928" y="3319272"/>
            <a:ext cx="2203704" cy="365760"/>
          </a:xfrm>
          <a:prstGeom prst="rect">
            <a:avLst/>
          </a:prstGeom>
          <a:noFill/>
          <a:ln/>
        </p:spPr>
        <p:txBody>
          <a:bodyPr wrap="square" lIns="0" tIns="0" rIns="0" bIns="0" rtlCol="0" anchor="t"/>
          <a:lstStyle/>
          <a:p>
            <a:pPr marL="0" indent="0">
              <a:buNone/>
            </a:pPr>
            <a:r>
              <a:rPr lang="en-US" sz="1600" b="1" dirty="0">
                <a:solidFill>
                  <a:schemeClr val="tx1"/>
                </a:solidFill>
              </a:rPr>
              <a:t>Plan</a:t>
            </a:r>
            <a:endParaRPr lang="en-US" sz="1600" dirty="0"/>
          </a:p>
        </p:txBody>
      </p:sp>
      <p:sp>
        <p:nvSpPr>
          <p:cNvPr id="37" name="Text 34"/>
          <p:cNvSpPr txBox="1"/>
          <p:nvPr/>
        </p:nvSpPr>
        <p:spPr>
          <a:xfrm>
            <a:off x="6281928" y="3730752"/>
            <a:ext cx="2203704" cy="640080"/>
          </a:xfrm>
          <a:prstGeom prst="rect">
            <a:avLst/>
          </a:prstGeom>
          <a:noFill/>
          <a:ln/>
        </p:spPr>
        <p:txBody>
          <a:bodyPr wrap="square" lIns="0" tIns="0" rIns="0" bIns="0" rtlCol="0" anchor="t"/>
          <a:lstStyle/>
          <a:p>
            <a:pPr marL="0" indent="0">
              <a:buNone/>
            </a:pPr>
            <a:r>
              <a:rPr lang="en-US" sz="1600" dirty="0">
                <a:solidFill>
                  <a:schemeClr val="tx2"/>
                </a:solidFill>
              </a:rPr>
              <a:t>Reads and plans, changes nothing</a:t>
            </a:r>
            <a:endParaRPr lang="en-US" sz="16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Permissions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4</a:t>
            </a:r>
            <a:endParaRPr lang="en-US" sz="1200" dirty="0"/>
          </a:p>
        </p:txBody>
      </p:sp>
      <p:sp>
        <p:nvSpPr>
          <p:cNvPr id="5" name="Text 2"/>
          <p:cNvSpPr txBox="1"/>
          <p:nvPr/>
        </p:nvSpPr>
        <p:spPr>
          <a:xfrm>
            <a:off x="457200" y="1188720"/>
            <a:ext cx="4023360" cy="274320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/permissions: what Claude may do without asking</a:t>
            </a:r>
            <a:endParaRPr lang="en-US" sz="1500" dirty="0"/>
          </a:p>
          <a:p>
            <a:pPr marL="177800" indent="-177800">
              <a:spcAft>
                <a:spcPts val="1000"/>
              </a:spcAft>
              <a:buSzPct val="100000"/>
              <a:buChar char="•"/>
            </a:pPr>
            <a:r>
              <a:rPr lang="en-US" sz="1500" dirty="0">
                <a:solidFill>
                  <a:schemeClr val="tx1"/>
                </a:solidFill>
              </a:rPr>
              <a:t>Deny always beats allow</a:t>
            </a:r>
            <a:endParaRPr lang="en-US" sz="1500" dirty="0"/>
          </a:p>
          <a:p>
            <a:pPr marL="177800" indent="-177800">
              <a:spcAft>
                <a:spcPts val="1000"/>
              </a:spcAft>
              <a:buSzPct val="100000"/>
              <a:buChar char="•"/>
            </a:pPr>
            <a:r>
              <a:rPr lang="en-US" sz="1500" dirty="0">
                <a:solidFill>
                  <a:schemeClr val="tx1"/>
                </a:solidFill>
              </a:rPr>
              <a:t>Team rules: .claude/settings.json. Personal: settings.local.json</a:t>
            </a:r>
            <a:endParaRPr lang="en-US" sz="1500" dirty="0"/>
          </a:p>
          <a:p>
            <a:pPr marL="177800" indent="-177800">
              <a:spcAft>
                <a:spcPts val="1000"/>
              </a:spcAft>
              <a:buSzPct val="100000"/>
              <a:buChar char="•"/>
            </a:pPr>
            <a:r>
              <a:rPr lang="en-US" sz="1500" dirty="0">
                <a:solidFill>
                  <a:schemeClr val="tx1"/>
                </a:solidFill>
              </a:rPr>
              <a:t>Never use --dangerously-skip-permissions on your own machine</a:t>
            </a:r>
            <a:endParaRPr lang="en-US" sz="1500" dirty="0"/>
          </a:p>
        </p:txBody>
      </p:sp>
      <p:sp>
        <p:nvSpPr>
          <p:cNvPr id="6" name="Text 3"/>
          <p:cNvSpPr txBox="1"/>
          <p:nvPr/>
        </p:nvSpPr>
        <p:spPr>
          <a:xfrm>
            <a:off x="457200" y="4023360"/>
            <a:ext cx="4023360" cy="365760"/>
          </a:xfrm>
          <a:prstGeom prst="rect">
            <a:avLst/>
          </a:prstGeom>
          <a:noFill/>
          <a:ln/>
        </p:spPr>
        <p:txBody>
          <a:bodyPr wrap="square" lIns="0" tIns="0" rIns="0" bIns="0" rtlCol="0" anchor="t"/>
          <a:lstStyle/>
          <a:p>
            <a:pPr marL="0" indent="0" algn="l">
              <a:buNone/>
            </a:pPr>
            <a:r>
              <a:rPr lang="en-US" sz="1400" i="1" dirty="0">
                <a:solidFill>
                  <a:schemeClr val="tx2"/>
                </a:solidFill>
              </a:rPr>
              <a:t>Demo: ask Claude to open .env</a:t>
            </a:r>
            <a:endParaRPr lang="en-US" sz="1400" dirty="0"/>
          </a:p>
        </p:txBody>
      </p:sp>
      <p:sp>
        <p:nvSpPr>
          <p:cNvPr id="7" name="code box"/>
          <p:cNvSpPr/>
          <p:nvPr/>
        </p:nvSpPr>
        <p:spPr>
          <a:xfrm>
            <a:off x="4663440" y="1188720"/>
            <a:ext cx="4023360" cy="2651760"/>
          </a:xfrm>
          <a:prstGeom prst="roundRect">
            <a:avLst>
              <a:gd name="adj" fmla="val 2759"/>
            </a:avLst>
          </a:prstGeom>
          <a:solidFill>
            <a:schemeClr val="tx1"/>
          </a:solidFill>
          <a:ln/>
        </p:spPr>
        <p:txBody>
          <a:bodyPr/>
          <a:lstStyle/>
          <a:p>
            <a:endParaRPr lang="en-US"/>
          </a:p>
        </p:txBody>
      </p:sp>
      <p:sp>
        <p:nvSpPr>
          <p:cNvPr id="8" name="Text 5"/>
          <p:cNvSpPr txBox="1"/>
          <p:nvPr/>
        </p:nvSpPr>
        <p:spPr>
          <a:xfrm>
            <a:off x="4864608" y="1353312"/>
            <a:ext cx="3621024" cy="2322576"/>
          </a:xfrm>
          <a:prstGeom prst="rect">
            <a:avLst/>
          </a:prstGeom>
          <a:noFill/>
          <a:ln/>
        </p:spPr>
        <p:txBody>
          <a:bodyPr wrap="square" lIns="0" tIns="0" rIns="0" bIns="0" rtlCol="0" anchor="t"/>
          <a:lstStyle/>
          <a:p>
            <a:pPr marL="0" indent="0">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"permissions": {</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"deny": [</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"Read(./.env)",</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"Read(./secrets/**)",</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"Read(./docs/**)"</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9" name="Text 6"/>
          <p:cNvSpPr txBox="1"/>
          <p:nvPr/>
        </p:nvSpPr>
        <p:spPr>
          <a:xfrm>
            <a:off x="4663440" y="3913632"/>
            <a:ext cx="4023360" cy="274320"/>
          </a:xfrm>
          <a:prstGeom prst="rect">
            <a:avLst/>
          </a:prstGeom>
          <a:noFill/>
          <a:ln/>
        </p:spPr>
        <p:txBody>
          <a:bodyPr wrap="square" lIns="0" tIns="0" rIns="0" bIns="0" rtlCol="0" anchor="ctr"/>
          <a:lstStyle/>
          <a:p>
            <a:pPr marL="0" indent="0">
              <a:buNone/>
            </a:pPr>
            <a:r>
              <a:rPr lang="en-US" sz="1100" i="1" dirty="0">
                <a:solidFill>
                  <a:schemeClr val="tx2"/>
                </a:solidFill>
              </a:rPr>
              <a:t>.claude/settings.json (excerpt)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When things go wrong</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4</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357120"/>
        </p:xfrm>
        <a:graphic>
          <a:graphicData uri="http://schemas.openxmlformats.org/drawingml/2006/table">
            <a:tbl>
              <a:tblPr/>
              <a:tblGrid>
                <a:gridCol w="32918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457200">
                <a:tc>
                  <a:txBody>
                    <a:bodyPr/>
                    <a:lstStyle/>
                    <a:p>
                      <a:pPr marL="0" indent="0">
                        <a:buNone/>
                      </a:pPr>
                      <a:r>
                        <a:rPr lang="en-US" sz="1400" b="1" dirty="0">
                          <a:solidFill>
                            <a:schemeClr val="bg1"/>
                          </a:solidFill>
                        </a:rPr>
                        <a:t>Situation</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Do this</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rPr>
                        <a:t>Claude is heading the wrong way</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Esc: stops, keeps the work so far</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chemeClr val="tx1"/>
                          </a:solidFill>
                        </a:rPr>
                        <a:t>Undo Claude's recent edits</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Esc Esc or /rewind</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chemeClr val="tx1"/>
                          </a:solidFill>
                        </a:rPr>
                        <a:t>Claude deleted or installed something</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git status, then git restore &lt;file&gt;. Rewind does not undo commands</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1"/>
                          </a:solidFill>
                        </a:rPr>
                        <a:t>Everything is broken</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git restore . to go back to your last commit</a:t>
                      </a:r>
                      <a:endParaRPr lang="en-US" sz="1400" dirty="0"/>
                    </a:p>
                  </a:txBody>
                  <a:tcPr marL="101600" marR="101600" marT="50800" marB="50800" anchor="ctr">
                    <a:lnL w="12700" cap="flat" cmpd="sng" algn="ctr">
                      <a:solidFill>
                        <a:srgbClr val="EEF2F5"/>
                      </a:solidFill>
                      <a:prstDash val="solid"/>
                      <a:round/>
                      <a:headEnd type="none" w="med" len="med"/>
                      <a:tailEnd type="none" w="med" len="med"/>
                    </a:lnL>
                    <a:lnR w="12700" cap="flat" cmpd="sng" algn="ctr">
                      <a:solidFill>
                        <a:srgbClr val="EEF2F5"/>
                      </a:solidFill>
                      <a:prstDash val="solid"/>
                      <a:round/>
                      <a:headEnd type="none" w="med" len="med"/>
                      <a:tailEnd type="none" w="med" len="med"/>
                    </a:lnR>
                    <a:lnT w="12700" cap="flat" cmpd="sng" algn="ctr">
                      <a:solidFill>
                        <a:srgbClr val="EEF2F5"/>
                      </a:solidFill>
                      <a:prstDash val="solid"/>
                      <a:round/>
                      <a:headEnd type="none" w="med" len="med"/>
                      <a:tailEnd type="none" w="med" len="med"/>
                    </a:lnT>
                    <a:lnB w="12700" cap="flat" cmpd="sng" algn="ctr">
                      <a:solidFill>
                        <a:srgbClr val="EEF2F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6" name="callout"/>
          <p:cNvSpPr/>
          <p:nvPr/>
        </p:nvSpPr>
        <p:spPr>
          <a:xfrm>
            <a:off x="457200" y="3840480"/>
            <a:ext cx="8229600" cy="640080"/>
          </a:xfrm>
          <a:prstGeom prst="roundRect">
            <a:avLst>
              <a:gd name="adj" fmla="val 11429"/>
            </a:avLst>
          </a:prstGeom>
          <a:solidFill>
            <a:schemeClr val="tx1"/>
          </a:solidFill>
          <a:ln/>
        </p:spPr>
        <p:txBody>
          <a:bodyPr/>
          <a:lstStyle/>
          <a:p>
            <a:endParaRPr lang="en-US"/>
          </a:p>
        </p:txBody>
      </p:sp>
      <p:sp>
        <p:nvSpPr>
          <p:cNvPr id="7" name="callout text"/>
          <p:cNvSpPr txBox="1"/>
          <p:nvPr/>
        </p:nvSpPr>
        <p:spPr>
          <a:xfrm>
            <a:off x="685800" y="3840480"/>
            <a:ext cx="7772400" cy="640080"/>
          </a:xfrm>
          <a:prstGeom prst="rect">
            <a:avLst/>
          </a:prstGeom>
          <a:noFill/>
          <a:ln/>
        </p:spPr>
        <p:txBody>
          <a:bodyPr wrap="square" lIns="0" tIns="0" rIns="0" bIns="0" rtlCol="0" anchor="ctr"/>
          <a:lstStyle/>
          <a:p>
            <a:pPr marL="0" indent="0" algn="l">
              <a:buNone/>
            </a:pPr>
            <a:r>
              <a:rPr lang="en-US" sz="1600" dirty="0">
                <a:solidFill>
                  <a:schemeClr val="bg1"/>
                </a:solidFill>
              </a:rPr>
              <a:t>Commit after every step that works. It is your real undo button.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Keep the context sharp</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4</a:t>
            </a:r>
            <a:endParaRPr lang="en-US" sz="1200" dirty="0"/>
          </a:p>
        </p:txBody>
      </p:sp>
      <p:sp>
        <p:nvSpPr>
          <p:cNvPr id="5" name="card /clear"/>
          <p:cNvSpPr/>
          <p:nvPr/>
        </p:nvSpPr>
        <p:spPr>
          <a:xfrm>
            <a:off x="457200" y="1188720"/>
            <a:ext cx="1499616" cy="1828800"/>
          </a:xfrm>
          <a:prstGeom prst="roundRect">
            <a:avLst>
              <a:gd name="adj" fmla="val 4878"/>
            </a:avLst>
          </a:prstGeom>
          <a:solidFill>
            <a:schemeClr val="bg2"/>
          </a:solidFill>
          <a:ln/>
        </p:spPr>
        <p:txBody>
          <a:bodyPr/>
          <a:lstStyle/>
          <a:p>
            <a:endParaRPr lang="en-US"/>
          </a:p>
        </p:txBody>
      </p:sp>
      <p:sp>
        <p:nvSpPr>
          <p:cNvPr id="6" name="Text 3"/>
          <p:cNvSpPr txBox="1"/>
          <p:nvPr/>
        </p:nvSpPr>
        <p:spPr>
          <a:xfrm>
            <a:off x="548640" y="1371600"/>
            <a:ext cx="1316736"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/clear</a:t>
            </a:r>
            <a:endParaRPr lang="en-US" sz="1600" dirty="0"/>
          </a:p>
        </p:txBody>
      </p:sp>
      <p:sp>
        <p:nvSpPr>
          <p:cNvPr id="7" name="Text 4"/>
          <p:cNvSpPr txBox="1"/>
          <p:nvPr/>
        </p:nvSpPr>
        <p:spPr>
          <a:xfrm>
            <a:off x="566928" y="1874520"/>
            <a:ext cx="1280160" cy="1005840"/>
          </a:xfrm>
          <a:prstGeom prst="rect">
            <a:avLst/>
          </a:prstGeom>
          <a:noFill/>
          <a:ln/>
        </p:spPr>
        <p:txBody>
          <a:bodyPr wrap="square" lIns="0" tIns="0" rIns="0" bIns="0" rtlCol="0" anchor="t"/>
          <a:lstStyle/>
          <a:p>
            <a:pPr marL="0" indent="0" algn="ctr">
              <a:buNone/>
            </a:pPr>
            <a:r>
              <a:rPr lang="en-US" sz="1400" dirty="0">
                <a:solidFill>
                  <a:schemeClr val="tx2"/>
                </a:solidFill>
              </a:rPr>
              <a:t>Fresh start between tasks</a:t>
            </a:r>
            <a:endParaRPr lang="en-US" sz="1400" dirty="0"/>
          </a:p>
        </p:txBody>
      </p:sp>
      <p:sp>
        <p:nvSpPr>
          <p:cNvPr id="8" name="card /compact"/>
          <p:cNvSpPr/>
          <p:nvPr/>
        </p:nvSpPr>
        <p:spPr>
          <a:xfrm>
            <a:off x="2139696" y="1188720"/>
            <a:ext cx="1499616" cy="1828800"/>
          </a:xfrm>
          <a:prstGeom prst="roundRect">
            <a:avLst>
              <a:gd name="adj" fmla="val 4878"/>
            </a:avLst>
          </a:prstGeom>
          <a:solidFill>
            <a:schemeClr val="bg2"/>
          </a:solidFill>
          <a:ln/>
        </p:spPr>
        <p:txBody>
          <a:bodyPr/>
          <a:lstStyle/>
          <a:p>
            <a:endParaRPr lang="en-US"/>
          </a:p>
        </p:txBody>
      </p:sp>
      <p:sp>
        <p:nvSpPr>
          <p:cNvPr id="9" name="Text 6"/>
          <p:cNvSpPr txBox="1"/>
          <p:nvPr/>
        </p:nvSpPr>
        <p:spPr>
          <a:xfrm>
            <a:off x="2231136" y="1371600"/>
            <a:ext cx="1316736"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/compact</a:t>
            </a:r>
            <a:endParaRPr lang="en-US" sz="1600" dirty="0"/>
          </a:p>
        </p:txBody>
      </p:sp>
      <p:sp>
        <p:nvSpPr>
          <p:cNvPr id="10" name="Text 7"/>
          <p:cNvSpPr txBox="1"/>
          <p:nvPr/>
        </p:nvSpPr>
        <p:spPr>
          <a:xfrm>
            <a:off x="2249424" y="1874520"/>
            <a:ext cx="1280160" cy="1005840"/>
          </a:xfrm>
          <a:prstGeom prst="rect">
            <a:avLst/>
          </a:prstGeom>
          <a:noFill/>
          <a:ln/>
        </p:spPr>
        <p:txBody>
          <a:bodyPr wrap="square" lIns="0" tIns="0" rIns="0" bIns="0" rtlCol="0" anchor="t"/>
          <a:lstStyle/>
          <a:p>
            <a:pPr marL="0" indent="0" algn="ctr">
              <a:buNone/>
            </a:pPr>
            <a:r>
              <a:rPr lang="en-US" sz="1400" dirty="0">
                <a:solidFill>
                  <a:schemeClr val="tx2"/>
                </a:solidFill>
              </a:rPr>
              <a:t>Shrink a long session</a:t>
            </a:r>
            <a:endParaRPr lang="en-US" sz="1400" dirty="0"/>
          </a:p>
        </p:txBody>
      </p:sp>
      <p:sp>
        <p:nvSpPr>
          <p:cNvPr id="11" name="card /context"/>
          <p:cNvSpPr/>
          <p:nvPr/>
        </p:nvSpPr>
        <p:spPr>
          <a:xfrm>
            <a:off x="3822192" y="1188720"/>
            <a:ext cx="1499616" cy="1828800"/>
          </a:xfrm>
          <a:prstGeom prst="roundRect">
            <a:avLst>
              <a:gd name="adj" fmla="val 4878"/>
            </a:avLst>
          </a:prstGeom>
          <a:solidFill>
            <a:schemeClr val="bg2"/>
          </a:solidFill>
          <a:ln/>
        </p:spPr>
        <p:txBody>
          <a:bodyPr/>
          <a:lstStyle/>
          <a:p>
            <a:endParaRPr lang="en-US"/>
          </a:p>
        </p:txBody>
      </p:sp>
      <p:sp>
        <p:nvSpPr>
          <p:cNvPr id="12" name="Text 9"/>
          <p:cNvSpPr txBox="1"/>
          <p:nvPr/>
        </p:nvSpPr>
        <p:spPr>
          <a:xfrm>
            <a:off x="3913632" y="1371600"/>
            <a:ext cx="1316736"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/context</a:t>
            </a:r>
            <a:endParaRPr lang="en-US" sz="1600" dirty="0"/>
          </a:p>
        </p:txBody>
      </p:sp>
      <p:sp>
        <p:nvSpPr>
          <p:cNvPr id="13" name="Text 10"/>
          <p:cNvSpPr txBox="1"/>
          <p:nvPr/>
        </p:nvSpPr>
        <p:spPr>
          <a:xfrm>
            <a:off x="3931920" y="1874520"/>
            <a:ext cx="1280160" cy="1005840"/>
          </a:xfrm>
          <a:prstGeom prst="rect">
            <a:avLst/>
          </a:prstGeom>
          <a:noFill/>
          <a:ln/>
        </p:spPr>
        <p:txBody>
          <a:bodyPr wrap="square" lIns="0" tIns="0" rIns="0" bIns="0" rtlCol="0" anchor="t"/>
          <a:lstStyle/>
          <a:p>
            <a:pPr marL="0" indent="0" algn="ctr">
              <a:buNone/>
            </a:pPr>
            <a:r>
              <a:rPr lang="en-US" sz="1400" dirty="0">
                <a:solidFill>
                  <a:schemeClr val="tx2"/>
                </a:solidFill>
              </a:rPr>
              <a:t>See what fills the window</a:t>
            </a:r>
            <a:endParaRPr lang="en-US" sz="1400" dirty="0"/>
          </a:p>
        </p:txBody>
      </p:sp>
      <p:sp>
        <p:nvSpPr>
          <p:cNvPr id="14" name="card /usage"/>
          <p:cNvSpPr/>
          <p:nvPr/>
        </p:nvSpPr>
        <p:spPr>
          <a:xfrm>
            <a:off x="5504688" y="1188720"/>
            <a:ext cx="1499616" cy="1828800"/>
          </a:xfrm>
          <a:prstGeom prst="roundRect">
            <a:avLst>
              <a:gd name="adj" fmla="val 4878"/>
            </a:avLst>
          </a:prstGeom>
          <a:solidFill>
            <a:schemeClr val="bg2"/>
          </a:solidFill>
          <a:ln/>
        </p:spPr>
        <p:txBody>
          <a:bodyPr/>
          <a:lstStyle/>
          <a:p>
            <a:endParaRPr lang="en-US"/>
          </a:p>
        </p:txBody>
      </p:sp>
      <p:sp>
        <p:nvSpPr>
          <p:cNvPr id="15" name="Text 12"/>
          <p:cNvSpPr txBox="1"/>
          <p:nvPr/>
        </p:nvSpPr>
        <p:spPr>
          <a:xfrm>
            <a:off x="5596128" y="1371600"/>
            <a:ext cx="1316736"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/usage</a:t>
            </a:r>
            <a:endParaRPr lang="en-US" sz="1600" dirty="0"/>
          </a:p>
        </p:txBody>
      </p:sp>
      <p:sp>
        <p:nvSpPr>
          <p:cNvPr id="16" name="Text 13"/>
          <p:cNvSpPr txBox="1"/>
          <p:nvPr/>
        </p:nvSpPr>
        <p:spPr>
          <a:xfrm>
            <a:off x="5614416" y="1874520"/>
            <a:ext cx="1280160" cy="1005840"/>
          </a:xfrm>
          <a:prstGeom prst="rect">
            <a:avLst/>
          </a:prstGeom>
          <a:noFill/>
          <a:ln/>
        </p:spPr>
        <p:txBody>
          <a:bodyPr wrap="square" lIns="0" tIns="0" rIns="0" bIns="0" rtlCol="0" anchor="t"/>
          <a:lstStyle/>
          <a:p>
            <a:pPr marL="0" indent="0" algn="ctr">
              <a:buNone/>
            </a:pPr>
            <a:r>
              <a:rPr lang="en-US" sz="1400" dirty="0">
                <a:solidFill>
                  <a:schemeClr val="tx2"/>
                </a:solidFill>
              </a:rPr>
              <a:t>See your plan usage</a:t>
            </a:r>
            <a:endParaRPr lang="en-US" sz="1400" dirty="0"/>
          </a:p>
        </p:txBody>
      </p:sp>
      <p:sp>
        <p:nvSpPr>
          <p:cNvPr id="17" name="card /resume"/>
          <p:cNvSpPr/>
          <p:nvPr/>
        </p:nvSpPr>
        <p:spPr>
          <a:xfrm>
            <a:off x="7187184" y="1188720"/>
            <a:ext cx="1499616" cy="1828800"/>
          </a:xfrm>
          <a:prstGeom prst="roundRect">
            <a:avLst>
              <a:gd name="adj" fmla="val 4878"/>
            </a:avLst>
          </a:prstGeom>
          <a:solidFill>
            <a:schemeClr val="bg2"/>
          </a:solidFill>
          <a:ln/>
        </p:spPr>
        <p:txBody>
          <a:bodyPr/>
          <a:lstStyle/>
          <a:p>
            <a:endParaRPr lang="en-US"/>
          </a:p>
        </p:txBody>
      </p:sp>
      <p:sp>
        <p:nvSpPr>
          <p:cNvPr id="18" name="Text 15"/>
          <p:cNvSpPr txBox="1"/>
          <p:nvPr/>
        </p:nvSpPr>
        <p:spPr>
          <a:xfrm>
            <a:off x="7278624" y="1371600"/>
            <a:ext cx="1316736" cy="411480"/>
          </a:xfrm>
          <a:prstGeom prst="rect">
            <a:avLst/>
          </a:prstGeom>
          <a:noFill/>
          <a:ln/>
        </p:spPr>
        <p:txBody>
          <a:bodyPr wrap="square" lIns="0" tIns="0" rIns="0" bIns="0" rtlCol="0" anchor="ctr"/>
          <a:lstStyle/>
          <a:p>
            <a:pPr marL="0" indent="0" algn="ctr">
              <a:buNone/>
            </a:pPr>
            <a:r>
              <a:rPr lang="en-US" sz="1600" b="1" dirty="0">
                <a:solidFill>
                  <a:schemeClr val="tx1"/>
                </a:solidFill>
                <a:latin typeface="Courier New" pitchFamily="34" charset="0"/>
                <a:ea typeface="Courier New" pitchFamily="34" charset="-122"/>
                <a:cs typeface="Courier New" pitchFamily="34" charset="-120"/>
              </a:rPr>
              <a:t>/resume</a:t>
            </a:r>
            <a:endParaRPr lang="en-US" sz="1600" dirty="0"/>
          </a:p>
        </p:txBody>
      </p:sp>
      <p:sp>
        <p:nvSpPr>
          <p:cNvPr id="19" name="Text 16"/>
          <p:cNvSpPr txBox="1"/>
          <p:nvPr/>
        </p:nvSpPr>
        <p:spPr>
          <a:xfrm>
            <a:off x="7296912" y="1874520"/>
            <a:ext cx="1280160" cy="1005840"/>
          </a:xfrm>
          <a:prstGeom prst="rect">
            <a:avLst/>
          </a:prstGeom>
          <a:noFill/>
          <a:ln/>
        </p:spPr>
        <p:txBody>
          <a:bodyPr wrap="square" lIns="0" tIns="0" rIns="0" bIns="0" rtlCol="0" anchor="t"/>
          <a:lstStyle/>
          <a:p>
            <a:pPr marL="0" indent="0" algn="ctr">
              <a:buNone/>
            </a:pPr>
            <a:r>
              <a:rPr lang="en-US" sz="1400" dirty="0">
                <a:solidFill>
                  <a:schemeClr val="tx2"/>
                </a:solidFill>
              </a:rPr>
              <a:t>Go back to an old session</a:t>
            </a:r>
            <a:endParaRPr lang="en-US" sz="1400" dirty="0"/>
          </a:p>
        </p:txBody>
      </p:sp>
      <p:sp>
        <p:nvSpPr>
          <p:cNvPr id="20" name="callout"/>
          <p:cNvSpPr/>
          <p:nvPr/>
        </p:nvSpPr>
        <p:spPr>
          <a:xfrm>
            <a:off x="457200" y="3429000"/>
            <a:ext cx="8229600" cy="685800"/>
          </a:xfrm>
          <a:prstGeom prst="roundRect">
            <a:avLst>
              <a:gd name="adj" fmla="val 10667"/>
            </a:avLst>
          </a:prstGeom>
          <a:solidFill>
            <a:schemeClr val="tx1"/>
          </a:solidFill>
          <a:ln/>
        </p:spPr>
        <p:txBody>
          <a:bodyPr/>
          <a:lstStyle/>
          <a:p>
            <a:endParaRPr lang="en-US"/>
          </a:p>
        </p:txBody>
      </p:sp>
      <p:sp>
        <p:nvSpPr>
          <p:cNvPr id="21" name="callout text"/>
          <p:cNvSpPr txBox="1"/>
          <p:nvPr/>
        </p:nvSpPr>
        <p:spPr>
          <a:xfrm>
            <a:off x="685800" y="3429000"/>
            <a:ext cx="7772400" cy="685800"/>
          </a:xfrm>
          <a:prstGeom prst="rect">
            <a:avLst/>
          </a:prstGeom>
          <a:noFill/>
          <a:ln/>
        </p:spPr>
        <p:txBody>
          <a:bodyPr wrap="square" lIns="0" tIns="0" rIns="0" bIns="0" rtlCol="0" anchor="ctr"/>
          <a:lstStyle/>
          <a:p>
            <a:pPr marL="0" indent="0" algn="l">
              <a:buNone/>
            </a:pPr>
            <a:r>
              <a:rPr lang="en-US" sz="1600" dirty="0">
                <a:solidFill>
                  <a:schemeClr val="bg1"/>
                </a:solidFill>
              </a:rPr>
              <a:t>One task per session. Small steps. /clear when you switch topics.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You do: scaffold the analysis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4</a:t>
            </a:r>
            <a:endParaRPr lang="en-US" sz="1200" dirty="0"/>
          </a:p>
        </p:txBody>
      </p:sp>
      <p:sp>
        <p:nvSpPr>
          <p:cNvPr id="5" name="number 1"/>
          <p:cNvSpPr txBox="1"/>
          <p:nvPr/>
        </p:nvSpPr>
        <p:spPr>
          <a:xfrm>
            <a:off x="457200" y="12801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6" name="Text 3"/>
          <p:cNvSpPr txBox="1"/>
          <p:nvPr/>
        </p:nvSpPr>
        <p:spPr>
          <a:xfrm>
            <a:off x="960120" y="1261872"/>
            <a:ext cx="3520440" cy="548640"/>
          </a:xfrm>
          <a:prstGeom prst="rect">
            <a:avLst/>
          </a:prstGeom>
          <a:noFill/>
          <a:ln/>
        </p:spPr>
        <p:txBody>
          <a:bodyPr wrap="square" lIns="0" tIns="0" rIns="0" bIns="0" rtlCol="0" anchor="t"/>
          <a:lstStyle/>
          <a:p>
            <a:pPr marL="0" indent="0">
              <a:buNone/>
            </a:pPr>
            <a:r>
              <a:rPr lang="en-US" sz="1500" dirty="0">
                <a:solidFill>
                  <a:schemeClr val="tx1"/>
                </a:solidFill>
              </a:rPr>
              <a:t>Start claude, switch to plan mode</a:t>
            </a:r>
            <a:endParaRPr lang="en-US" sz="1500" dirty="0"/>
          </a:p>
        </p:txBody>
      </p:sp>
      <p:sp>
        <p:nvSpPr>
          <p:cNvPr id="7" name="number 2"/>
          <p:cNvSpPr txBox="1"/>
          <p:nvPr/>
        </p:nvSpPr>
        <p:spPr>
          <a:xfrm>
            <a:off x="457200" y="187452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8" name="Text 5"/>
          <p:cNvSpPr txBox="1"/>
          <p:nvPr/>
        </p:nvSpPr>
        <p:spPr>
          <a:xfrm>
            <a:off x="960120" y="1856232"/>
            <a:ext cx="3520440" cy="548640"/>
          </a:xfrm>
          <a:prstGeom prst="rect">
            <a:avLst/>
          </a:prstGeom>
          <a:noFill/>
          <a:ln/>
        </p:spPr>
        <p:txBody>
          <a:bodyPr wrap="square" lIns="0" tIns="0" rIns="0" bIns="0" rtlCol="0" anchor="t"/>
          <a:lstStyle/>
          <a:p>
            <a:pPr marL="0" indent="0">
              <a:buNone/>
            </a:pPr>
            <a:r>
              <a:rPr lang="en-US" sz="1500" dirty="0">
                <a:solidFill>
                  <a:schemeClr val="tx1"/>
                </a:solidFill>
              </a:rPr>
              <a:t>Paste the prompt on the right</a:t>
            </a:r>
            <a:endParaRPr lang="en-US" sz="1500" dirty="0"/>
          </a:p>
        </p:txBody>
      </p:sp>
      <p:sp>
        <p:nvSpPr>
          <p:cNvPr id="9" name="number 3"/>
          <p:cNvSpPr txBox="1"/>
          <p:nvPr/>
        </p:nvSpPr>
        <p:spPr>
          <a:xfrm>
            <a:off x="457200" y="246888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0" name="Text 7"/>
          <p:cNvSpPr txBox="1"/>
          <p:nvPr/>
        </p:nvSpPr>
        <p:spPr>
          <a:xfrm>
            <a:off x="960120" y="2450592"/>
            <a:ext cx="3520440" cy="548640"/>
          </a:xfrm>
          <a:prstGeom prst="rect">
            <a:avLst/>
          </a:prstGeom>
          <a:noFill/>
          <a:ln/>
        </p:spPr>
        <p:txBody>
          <a:bodyPr wrap="square" lIns="0" tIns="0" rIns="0" bIns="0" rtlCol="0" anchor="t"/>
          <a:lstStyle/>
          <a:p>
            <a:pPr marL="0" indent="0">
              <a:buNone/>
            </a:pPr>
            <a:r>
              <a:rPr lang="en-US" sz="1500" dirty="0">
                <a:solidFill>
                  <a:schemeClr val="tx1"/>
                </a:solidFill>
              </a:rPr>
              <a:t>Read the plan, then accept edits</a:t>
            </a:r>
            <a:endParaRPr lang="en-US" sz="1500" dirty="0"/>
          </a:p>
        </p:txBody>
      </p:sp>
      <p:sp>
        <p:nvSpPr>
          <p:cNvPr id="11" name="number 4"/>
          <p:cNvSpPr txBox="1"/>
          <p:nvPr/>
        </p:nvSpPr>
        <p:spPr>
          <a:xfrm>
            <a:off x="457200" y="30632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2" name="Text 9"/>
          <p:cNvSpPr txBox="1"/>
          <p:nvPr/>
        </p:nvSpPr>
        <p:spPr>
          <a:xfrm>
            <a:off x="960120" y="3044952"/>
            <a:ext cx="3520440" cy="548640"/>
          </a:xfrm>
          <a:prstGeom prst="rect">
            <a:avLst/>
          </a:prstGeom>
          <a:noFill/>
          <a:ln/>
        </p:spPr>
        <p:txBody>
          <a:bodyPr wrap="square" lIns="0" tIns="0" rIns="0" bIns="0" rtlCol="0" anchor="t"/>
          <a:lstStyle/>
          <a:p>
            <a:pPr marL="0" indent="0">
              <a:buNone/>
            </a:pPr>
            <a:r>
              <a:rPr lang="en-US" sz="1500" dirty="0">
                <a:solidFill>
                  <a:schemeClr val="tx1"/>
                </a:solidFill>
              </a:rPr>
              <a:t>Check: uv run pytest</a:t>
            </a:r>
            <a:endParaRPr lang="en-US" sz="1500" dirty="0"/>
          </a:p>
        </p:txBody>
      </p:sp>
      <p:sp>
        <p:nvSpPr>
          <p:cNvPr id="13" name="number 5"/>
          <p:cNvSpPr txBox="1"/>
          <p:nvPr/>
        </p:nvSpPr>
        <p:spPr>
          <a:xfrm>
            <a:off x="457200" y="365760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14" name="Text 11"/>
          <p:cNvSpPr txBox="1"/>
          <p:nvPr/>
        </p:nvSpPr>
        <p:spPr>
          <a:xfrm>
            <a:off x="960120" y="3639312"/>
            <a:ext cx="3520440" cy="548640"/>
          </a:xfrm>
          <a:prstGeom prst="rect">
            <a:avLst/>
          </a:prstGeom>
          <a:noFill/>
          <a:ln/>
        </p:spPr>
        <p:txBody>
          <a:bodyPr wrap="square" lIns="0" tIns="0" rIns="0" bIns="0" rtlCol="0" anchor="t"/>
          <a:lstStyle/>
          <a:p>
            <a:pPr marL="0" indent="0">
              <a:buNone/>
            </a:pPr>
            <a:r>
              <a:rPr lang="en-US" sz="1500" dirty="0">
                <a:solidFill>
                  <a:schemeClr val="tx1"/>
                </a:solidFill>
              </a:rPr>
              <a:t>Commit: git add -A, git commit</a:t>
            </a:r>
            <a:endParaRPr lang="en-US" sz="1500" dirty="0"/>
          </a:p>
        </p:txBody>
      </p:sp>
      <p:sp>
        <p:nvSpPr>
          <p:cNvPr id="15" name="card Prompt"/>
          <p:cNvSpPr/>
          <p:nvPr/>
        </p:nvSpPr>
        <p:spPr>
          <a:xfrm>
            <a:off x="4663440" y="1188720"/>
            <a:ext cx="4023360" cy="3291840"/>
          </a:xfrm>
          <a:prstGeom prst="roundRect">
            <a:avLst>
              <a:gd name="adj" fmla="val 2222"/>
            </a:avLst>
          </a:prstGeom>
          <a:solidFill>
            <a:schemeClr val="bg2"/>
          </a:solidFill>
          <a:ln/>
        </p:spPr>
        <p:txBody>
          <a:bodyPr/>
          <a:lstStyle/>
          <a:p>
            <a:endParaRPr lang="en-US"/>
          </a:p>
        </p:txBody>
      </p:sp>
      <p:sp>
        <p:nvSpPr>
          <p:cNvPr id="16" name="Text 13"/>
          <p:cNvSpPr txBox="1"/>
          <p:nvPr/>
        </p:nvSpPr>
        <p:spPr>
          <a:xfrm>
            <a:off x="486460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Prompt</a:t>
            </a:r>
            <a:endParaRPr lang="en-US" sz="1600" dirty="0"/>
          </a:p>
        </p:txBody>
      </p:sp>
      <p:sp>
        <p:nvSpPr>
          <p:cNvPr id="17" name="Text 14"/>
          <p:cNvSpPr txBox="1"/>
          <p:nvPr/>
        </p:nvSpPr>
        <p:spPr>
          <a:xfrm>
            <a:off x="4864608" y="1764792"/>
            <a:ext cx="3621024" cy="2606040"/>
          </a:xfrm>
          <a:prstGeom prst="rect">
            <a:avLst/>
          </a:prstGeom>
          <a:noFill/>
          <a:ln/>
        </p:spPr>
        <p:txBody>
          <a:bodyPr wrap="square" lIns="0" tIns="0" rIns="0" bIns="0" rtlCol="0" anchor="t"/>
          <a:lstStyle/>
          <a:p>
            <a:pPr marL="0" indent="0">
              <a:buNone/>
            </a:pPr>
            <a:r>
              <a:rPr lang="en-US" sz="1500" dirty="0">
                <a:solidFill>
                  <a:schemeClr val="tx2"/>
                </a:solidFill>
              </a:rPr>
              <a:t>Scaffold the Python side as CLAUDE.md describes, with one function that counts penguins per species and a test for it. Then update the Status section of CLAUDE.md.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5</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Environments and secrets</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20 min</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Environments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5</a:t>
            </a:r>
            <a:endParaRPr lang="en-US" sz="1200" dirty="0"/>
          </a:p>
        </p:txBody>
      </p:sp>
      <p:sp>
        <p:nvSpPr>
          <p:cNvPr id="5" name="card Python with uv"/>
          <p:cNvSpPr/>
          <p:nvPr/>
        </p:nvSpPr>
        <p:spPr>
          <a:xfrm>
            <a:off x="457200" y="1188720"/>
            <a:ext cx="3977640" cy="3291840"/>
          </a:xfrm>
          <a:prstGeom prst="roundRect">
            <a:avLst>
              <a:gd name="adj" fmla="val 2222"/>
            </a:avLst>
          </a:prstGeom>
          <a:solidFill>
            <a:schemeClr val="bg2"/>
          </a:solidFill>
          <a:ln/>
        </p:spPr>
        <p:txBody>
          <a:bodyPr/>
          <a:lstStyle/>
          <a:p>
            <a:endParaRPr lang="en-US"/>
          </a:p>
        </p:txBody>
      </p:sp>
      <p:pic>
        <p:nvPicPr>
          <p:cNvPr id="6" name="icon Python with uv" descr="preencoded.png"/>
          <p:cNvPicPr>
            <a:picLocks noChangeAspect="1"/>
          </p:cNvPicPr>
          <p:nvPr/>
        </p:nvPicPr>
        <p:blipFill>
          <a:blip r:embed="rId3"/>
          <a:stretch>
            <a:fillRect/>
          </a:stretch>
        </p:blipFill>
        <p:spPr>
          <a:xfrm>
            <a:off x="658368" y="1371600"/>
            <a:ext cx="411480" cy="411480"/>
          </a:xfrm>
          <a:prstGeom prst="rect">
            <a:avLst/>
          </a:prstGeom>
        </p:spPr>
      </p:pic>
      <p:sp>
        <p:nvSpPr>
          <p:cNvPr id="7" name="Text 3"/>
          <p:cNvSpPr txBox="1"/>
          <p:nvPr/>
        </p:nvSpPr>
        <p:spPr>
          <a:xfrm>
            <a:off x="658368" y="1901952"/>
            <a:ext cx="3575304" cy="365760"/>
          </a:xfrm>
          <a:prstGeom prst="rect">
            <a:avLst/>
          </a:prstGeom>
          <a:noFill/>
          <a:ln/>
        </p:spPr>
        <p:txBody>
          <a:bodyPr wrap="square" lIns="0" tIns="0" rIns="0" bIns="0" rtlCol="0" anchor="t"/>
          <a:lstStyle/>
          <a:p>
            <a:pPr marL="0" indent="0">
              <a:buNone/>
            </a:pPr>
            <a:r>
              <a:rPr lang="en-US" sz="1600" b="1" dirty="0">
                <a:solidFill>
                  <a:schemeClr val="tx1"/>
                </a:solidFill>
              </a:rPr>
              <a:t>Python with uv</a:t>
            </a:r>
            <a:endParaRPr lang="en-US" sz="1600" dirty="0"/>
          </a:p>
        </p:txBody>
      </p:sp>
      <p:sp>
        <p:nvSpPr>
          <p:cNvPr id="8" name="Text 4"/>
          <p:cNvSpPr txBox="1"/>
          <p:nvPr/>
        </p:nvSpPr>
        <p:spPr>
          <a:xfrm>
            <a:off x="658368" y="2313432"/>
            <a:ext cx="3575304" cy="20574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pyproject.toml: your dependencies</a:t>
            </a:r>
            <a:endParaRPr lang="en-US" sz="1600" dirty="0"/>
          </a:p>
          <a:p>
            <a:pPr marL="177800" indent="-177800">
              <a:spcAft>
                <a:spcPts val="600"/>
              </a:spcAft>
              <a:buSzPct val="100000"/>
              <a:buChar char="•"/>
            </a:pPr>
            <a:r>
              <a:rPr lang="en-US" sz="1600" dirty="0">
                <a:solidFill>
                  <a:schemeClr val="tx2"/>
                </a:solidFill>
              </a:rPr>
              <a:t>uv.lock: exact versions, commit it</a:t>
            </a:r>
            <a:endParaRPr lang="en-US" sz="1600" dirty="0"/>
          </a:p>
          <a:p>
            <a:pPr marL="177800" indent="-177800">
              <a:spcAft>
                <a:spcPts val="600"/>
              </a:spcAft>
              <a:buSzPct val="100000"/>
              <a:buChar char="•"/>
            </a:pPr>
            <a:r>
              <a:rPr lang="en-US" sz="1600" dirty="0">
                <a:solidFill>
                  <a:schemeClr val="tx2"/>
                </a:solidFill>
              </a:rPr>
              <a:t>.venv: installed packages, never commit</a:t>
            </a:r>
            <a:endParaRPr lang="en-US" sz="1600" dirty="0"/>
          </a:p>
          <a:p>
            <a:pPr marL="177800" indent="-177800">
              <a:spcAft>
                <a:spcPts val="600"/>
              </a:spcAft>
              <a:buSzPct val="100000"/>
              <a:buChar char="•"/>
            </a:pPr>
            <a:r>
              <a:rPr lang="en-US" sz="1600" dirty="0">
                <a:solidFill>
                  <a:schemeClr val="tx2"/>
                </a:solidFill>
              </a:rPr>
              <a:t>uv add pandas, uv run pytest. Never pip</a:t>
            </a:r>
            <a:endParaRPr lang="en-US" sz="1600" dirty="0"/>
          </a:p>
        </p:txBody>
      </p:sp>
      <p:sp>
        <p:nvSpPr>
          <p:cNvPr id="9" name="card JavaScript with npm"/>
          <p:cNvSpPr/>
          <p:nvPr/>
        </p:nvSpPr>
        <p:spPr>
          <a:xfrm>
            <a:off x="4709160" y="1188720"/>
            <a:ext cx="3977640" cy="3291840"/>
          </a:xfrm>
          <a:prstGeom prst="roundRect">
            <a:avLst>
              <a:gd name="adj" fmla="val 2222"/>
            </a:avLst>
          </a:prstGeom>
          <a:solidFill>
            <a:schemeClr val="bg2"/>
          </a:solidFill>
          <a:ln/>
        </p:spPr>
        <p:txBody>
          <a:bodyPr/>
          <a:lstStyle/>
          <a:p>
            <a:endParaRPr lang="en-US"/>
          </a:p>
        </p:txBody>
      </p:sp>
      <p:pic>
        <p:nvPicPr>
          <p:cNvPr id="10" name="icon JavaScript with npm" descr="preencoded.png"/>
          <p:cNvPicPr>
            <a:picLocks noChangeAspect="1"/>
          </p:cNvPicPr>
          <p:nvPr/>
        </p:nvPicPr>
        <p:blipFill>
          <a:blip r:embed="rId4"/>
          <a:stretch>
            <a:fillRect/>
          </a:stretch>
        </p:blipFill>
        <p:spPr>
          <a:xfrm>
            <a:off x="4910328" y="1371600"/>
            <a:ext cx="411480" cy="411480"/>
          </a:xfrm>
          <a:prstGeom prst="rect">
            <a:avLst/>
          </a:prstGeom>
        </p:spPr>
      </p:pic>
      <p:sp>
        <p:nvSpPr>
          <p:cNvPr id="11" name="Text 6"/>
          <p:cNvSpPr txBox="1"/>
          <p:nvPr/>
        </p:nvSpPr>
        <p:spPr>
          <a:xfrm>
            <a:off x="4910328" y="1901952"/>
            <a:ext cx="3575304" cy="365760"/>
          </a:xfrm>
          <a:prstGeom prst="rect">
            <a:avLst/>
          </a:prstGeom>
          <a:noFill/>
          <a:ln/>
        </p:spPr>
        <p:txBody>
          <a:bodyPr wrap="square" lIns="0" tIns="0" rIns="0" bIns="0" rtlCol="0" anchor="t"/>
          <a:lstStyle/>
          <a:p>
            <a:pPr marL="0" indent="0">
              <a:buNone/>
            </a:pPr>
            <a:r>
              <a:rPr lang="en-US" sz="1600" b="1" dirty="0">
                <a:solidFill>
                  <a:schemeClr val="tx1"/>
                </a:solidFill>
              </a:rPr>
              <a:t>JavaScript with npm</a:t>
            </a:r>
            <a:endParaRPr lang="en-US" sz="1600" dirty="0"/>
          </a:p>
        </p:txBody>
      </p:sp>
      <p:sp>
        <p:nvSpPr>
          <p:cNvPr id="12" name="Text 7"/>
          <p:cNvSpPr txBox="1"/>
          <p:nvPr/>
        </p:nvSpPr>
        <p:spPr>
          <a:xfrm>
            <a:off x="4910328" y="2313432"/>
            <a:ext cx="3575304" cy="205740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package.json: your dependencies</a:t>
            </a:r>
            <a:endParaRPr lang="en-US" sz="1600" dirty="0"/>
          </a:p>
          <a:p>
            <a:pPr marL="177800" indent="-177800">
              <a:spcAft>
                <a:spcPts val="600"/>
              </a:spcAft>
              <a:buSzPct val="100000"/>
              <a:buChar char="•"/>
            </a:pPr>
            <a:r>
              <a:rPr lang="en-US" sz="1600" dirty="0">
                <a:solidFill>
                  <a:schemeClr val="tx2"/>
                </a:solidFill>
              </a:rPr>
              <a:t>package-lock.json: exact versions, commit it</a:t>
            </a:r>
            <a:endParaRPr lang="en-US" sz="1600" dirty="0"/>
          </a:p>
          <a:p>
            <a:pPr marL="177800" indent="-177800">
              <a:spcAft>
                <a:spcPts val="600"/>
              </a:spcAft>
              <a:buSzPct val="100000"/>
              <a:buChar char="•"/>
            </a:pPr>
            <a:r>
              <a:rPr lang="en-US" sz="1600" dirty="0">
                <a:solidFill>
                  <a:schemeClr val="tx2"/>
                </a:solidFill>
              </a:rPr>
              <a:t>node_modules: installed packages, never commit</a:t>
            </a:r>
            <a:endParaRPr lang="en-US" sz="1600" dirty="0"/>
          </a:p>
          <a:p>
            <a:pPr marL="177800" indent="-177800">
              <a:spcAft>
                <a:spcPts val="600"/>
              </a:spcAft>
              <a:buSzPct val="100000"/>
              <a:buChar char="•"/>
            </a:pPr>
            <a:r>
              <a:rPr lang="en-US" sz="1600" dirty="0">
                <a:solidFill>
                  <a:schemeClr val="tx2"/>
                </a:solidFill>
              </a:rPr>
              <a:t>npm install, npm run dev</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Secrets and safety</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5</a:t>
            </a:r>
            <a:endParaRPr lang="en-US" sz="1200" dirty="0"/>
          </a:p>
        </p:txBody>
      </p:sp>
      <p:sp>
        <p:nvSpPr>
          <p:cNvPr id="5" name="card .env"/>
          <p:cNvSpPr/>
          <p:nvPr/>
        </p:nvSpPr>
        <p:spPr>
          <a:xfrm>
            <a:off x="457200" y="1188720"/>
            <a:ext cx="1920240" cy="1737360"/>
          </a:xfrm>
          <a:prstGeom prst="roundRect">
            <a:avLst>
              <a:gd name="adj" fmla="val 4211"/>
            </a:avLst>
          </a:prstGeom>
          <a:solidFill>
            <a:schemeClr val="bg2"/>
          </a:solidFill>
          <a:ln/>
        </p:spPr>
        <p:txBody>
          <a:bodyPr/>
          <a:lstStyle/>
          <a:p>
            <a:endParaRPr lang="en-US"/>
          </a:p>
        </p:txBody>
      </p:sp>
      <p:sp>
        <p:nvSpPr>
          <p:cNvPr id="6" name="Text 3"/>
          <p:cNvSpPr txBox="1"/>
          <p:nvPr/>
        </p:nvSpPr>
        <p:spPr>
          <a:xfrm>
            <a:off x="658368" y="1353312"/>
            <a:ext cx="1517904" cy="365760"/>
          </a:xfrm>
          <a:prstGeom prst="rect">
            <a:avLst/>
          </a:prstGeom>
          <a:noFill/>
          <a:ln/>
        </p:spPr>
        <p:txBody>
          <a:bodyPr wrap="square" lIns="0" tIns="0" rIns="0" bIns="0" rtlCol="0" anchor="t"/>
          <a:lstStyle/>
          <a:p>
            <a:pPr marL="0" indent="0">
              <a:buNone/>
            </a:pPr>
            <a:r>
              <a:rPr lang="en-US" sz="1600" b="1" dirty="0">
                <a:solidFill>
                  <a:schemeClr val="tx1"/>
                </a:solidFill>
              </a:rPr>
              <a:t>.env</a:t>
            </a:r>
            <a:endParaRPr lang="en-US" sz="1600" dirty="0"/>
          </a:p>
        </p:txBody>
      </p:sp>
      <p:sp>
        <p:nvSpPr>
          <p:cNvPr id="7" name="Text 4"/>
          <p:cNvSpPr txBox="1"/>
          <p:nvPr/>
        </p:nvSpPr>
        <p:spPr>
          <a:xfrm>
            <a:off x="658368" y="1764792"/>
            <a:ext cx="1517904" cy="1051560"/>
          </a:xfrm>
          <a:prstGeom prst="rect">
            <a:avLst/>
          </a:prstGeom>
          <a:noFill/>
          <a:ln/>
        </p:spPr>
        <p:txBody>
          <a:bodyPr wrap="square" lIns="0" tIns="0" rIns="0" bIns="0" rtlCol="0" anchor="t"/>
          <a:lstStyle/>
          <a:p>
            <a:pPr marL="0" indent="0">
              <a:buNone/>
            </a:pPr>
            <a:r>
              <a:rPr lang="en-US" sz="1600" dirty="0">
                <a:solidFill>
                  <a:schemeClr val="tx2"/>
                </a:solidFill>
              </a:rPr>
              <a:t>Real values. Gitignored. Claude is denied.</a:t>
            </a:r>
            <a:endParaRPr lang="en-US" sz="1600" dirty="0"/>
          </a:p>
        </p:txBody>
      </p:sp>
      <p:sp>
        <p:nvSpPr>
          <p:cNvPr id="8" name="card .env.example"/>
          <p:cNvSpPr/>
          <p:nvPr/>
        </p:nvSpPr>
        <p:spPr>
          <a:xfrm>
            <a:off x="2560320" y="1188720"/>
            <a:ext cx="1920240" cy="1737360"/>
          </a:xfrm>
          <a:prstGeom prst="roundRect">
            <a:avLst>
              <a:gd name="adj" fmla="val 4211"/>
            </a:avLst>
          </a:prstGeom>
          <a:solidFill>
            <a:schemeClr val="bg2"/>
          </a:solidFill>
          <a:ln/>
        </p:spPr>
        <p:txBody>
          <a:bodyPr/>
          <a:lstStyle/>
          <a:p>
            <a:endParaRPr lang="en-US"/>
          </a:p>
        </p:txBody>
      </p:sp>
      <p:sp>
        <p:nvSpPr>
          <p:cNvPr id="9" name="Text 6"/>
          <p:cNvSpPr txBox="1"/>
          <p:nvPr/>
        </p:nvSpPr>
        <p:spPr>
          <a:xfrm>
            <a:off x="2761488" y="1353312"/>
            <a:ext cx="1517904" cy="365760"/>
          </a:xfrm>
          <a:prstGeom prst="rect">
            <a:avLst/>
          </a:prstGeom>
          <a:noFill/>
          <a:ln/>
        </p:spPr>
        <p:txBody>
          <a:bodyPr wrap="square" lIns="0" tIns="0" rIns="0" bIns="0" rtlCol="0" anchor="t"/>
          <a:lstStyle/>
          <a:p>
            <a:pPr marL="0" indent="0">
              <a:buNone/>
            </a:pPr>
            <a:r>
              <a:rPr lang="en-US" sz="1600" b="1" dirty="0">
                <a:solidFill>
                  <a:schemeClr val="tx1"/>
                </a:solidFill>
              </a:rPr>
              <a:t>.env.example</a:t>
            </a:r>
            <a:endParaRPr lang="en-US" sz="1600" dirty="0"/>
          </a:p>
        </p:txBody>
      </p:sp>
      <p:sp>
        <p:nvSpPr>
          <p:cNvPr id="10" name="Text 7"/>
          <p:cNvSpPr txBox="1"/>
          <p:nvPr/>
        </p:nvSpPr>
        <p:spPr>
          <a:xfrm>
            <a:off x="2761488" y="1764792"/>
            <a:ext cx="1517904" cy="1051560"/>
          </a:xfrm>
          <a:prstGeom prst="rect">
            <a:avLst/>
          </a:prstGeom>
          <a:noFill/>
          <a:ln/>
        </p:spPr>
        <p:txBody>
          <a:bodyPr wrap="square" lIns="0" tIns="0" rIns="0" bIns="0" rtlCol="0" anchor="t"/>
          <a:lstStyle/>
          <a:p>
            <a:pPr marL="0" indent="0">
              <a:buNone/>
            </a:pPr>
            <a:r>
              <a:rPr lang="en-US" sz="1600" dirty="0">
                <a:solidFill>
                  <a:schemeClr val="tx2"/>
                </a:solidFill>
              </a:rPr>
              <a:t>Names only. Committed.</a:t>
            </a:r>
            <a:endParaRPr lang="en-US" sz="1600" dirty="0"/>
          </a:p>
        </p:txBody>
      </p:sp>
      <p:sp>
        <p:nvSpPr>
          <p:cNvPr id="11" name="Text 8"/>
          <p:cNvSpPr txBox="1"/>
          <p:nvPr/>
        </p:nvSpPr>
        <p:spPr>
          <a:xfrm>
            <a:off x="457200" y="3154680"/>
            <a:ext cx="4023360" cy="731520"/>
          </a:xfrm>
          <a:prstGeom prst="rect">
            <a:avLst/>
          </a:prstGeom>
          <a:noFill/>
          <a:ln/>
        </p:spPr>
        <p:txBody>
          <a:bodyPr wrap="square" lIns="0" tIns="0" rIns="0" bIns="0" rtlCol="0" anchor="t"/>
          <a:lstStyle/>
          <a:p>
            <a:pPr marL="0" indent="0" algn="l">
              <a:buNone/>
            </a:pPr>
            <a:r>
              <a:rPr lang="en-US" sz="1400" i="1" dirty="0">
                <a:solidFill>
                  <a:schemeClr val="tx2"/>
                </a:solidFill>
              </a:rPr>
              <a:t>Demo: ask Claude to read .env, and watch the deny rule stop it.</a:t>
            </a:r>
            <a:endParaRPr lang="en-US" sz="1400" dirty="0"/>
          </a:p>
        </p:txBody>
      </p:sp>
      <p:sp>
        <p:nvSpPr>
          <p:cNvPr id="12" name="card Before you trust it"/>
          <p:cNvSpPr/>
          <p:nvPr/>
        </p:nvSpPr>
        <p:spPr>
          <a:xfrm>
            <a:off x="4663440" y="1188720"/>
            <a:ext cx="4023360" cy="3291840"/>
          </a:xfrm>
          <a:prstGeom prst="roundRect">
            <a:avLst>
              <a:gd name="adj" fmla="val 2222"/>
            </a:avLst>
          </a:prstGeom>
          <a:solidFill>
            <a:schemeClr val="bg2"/>
          </a:solidFill>
          <a:ln/>
        </p:spPr>
        <p:txBody>
          <a:bodyPr/>
          <a:lstStyle/>
          <a:p>
            <a:endParaRPr lang="en-US"/>
          </a:p>
        </p:txBody>
      </p:sp>
      <p:sp>
        <p:nvSpPr>
          <p:cNvPr id="13" name="Text 10"/>
          <p:cNvSpPr txBox="1"/>
          <p:nvPr/>
        </p:nvSpPr>
        <p:spPr>
          <a:xfrm>
            <a:off x="486460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Before you trust it</a:t>
            </a:r>
            <a:endParaRPr lang="en-US" sz="1600" dirty="0"/>
          </a:p>
        </p:txBody>
      </p:sp>
      <p:sp>
        <p:nvSpPr>
          <p:cNvPr id="14" name="Text 11"/>
          <p:cNvSpPr txBox="1"/>
          <p:nvPr/>
        </p:nvSpPr>
        <p:spPr>
          <a:xfrm>
            <a:off x="4864608" y="1764792"/>
            <a:ext cx="3621024" cy="2606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A suggested package: check it exists on pypi.org or npmjs.com</a:t>
            </a:r>
            <a:endParaRPr lang="en-US" sz="1600" dirty="0"/>
          </a:p>
          <a:p>
            <a:pPr marL="177800" indent="-177800">
              <a:spcAft>
                <a:spcPts val="600"/>
              </a:spcAft>
              <a:buSzPct val="100000"/>
              <a:buChar char="•"/>
            </a:pPr>
            <a:r>
              <a:rPr lang="en-US" sz="1600" dirty="0">
                <a:solidFill>
                  <a:schemeClr val="tx2"/>
                </a:solidFill>
              </a:rPr>
              <a:t>Web pages and MCP servers can hide instructions for Claude</a:t>
            </a:r>
            <a:endParaRPr lang="en-US" sz="1600" dirty="0"/>
          </a:p>
          <a:p>
            <a:pPr marL="177800" indent="-177800">
              <a:spcAft>
                <a:spcPts val="600"/>
              </a:spcAft>
              <a:buSzPct val="100000"/>
              <a:buChar char="•"/>
            </a:pPr>
            <a:r>
              <a:rPr lang="en-US" sz="1600" dirty="0">
                <a:solidFill>
                  <a:schemeClr val="tx2"/>
                </a:solidFill>
              </a:rPr>
              <a:t>Student or research data: check university policy first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6</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Extending Claude Code</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45 min</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MCP servers: new abilities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6</a:t>
            </a:r>
            <a:endParaRPr lang="en-US" sz="1200" dirty="0"/>
          </a:p>
        </p:txBody>
      </p:sp>
      <p:sp>
        <p:nvSpPr>
          <p:cNvPr id="5" name="card Context7"/>
          <p:cNvSpPr/>
          <p:nvPr/>
        </p:nvSpPr>
        <p:spPr>
          <a:xfrm>
            <a:off x="457200" y="1188720"/>
            <a:ext cx="2606040" cy="2514600"/>
          </a:xfrm>
          <a:prstGeom prst="roundRect">
            <a:avLst>
              <a:gd name="adj" fmla="val 2909"/>
            </a:avLst>
          </a:prstGeom>
          <a:solidFill>
            <a:schemeClr val="bg2"/>
          </a:solidFill>
          <a:ln/>
        </p:spPr>
        <p:txBody>
          <a:bodyPr/>
          <a:lstStyle/>
          <a:p>
            <a:endParaRPr lang="en-US"/>
          </a:p>
        </p:txBody>
      </p:sp>
      <p:pic>
        <p:nvPicPr>
          <p:cNvPr id="6" name="icon Context7" descr="preencoded.png"/>
          <p:cNvPicPr>
            <a:picLocks noChangeAspect="1"/>
          </p:cNvPicPr>
          <p:nvPr/>
        </p:nvPicPr>
        <p:blipFill>
          <a:blip r:embed="rId3"/>
          <a:stretch>
            <a:fillRect/>
          </a:stretch>
        </p:blipFill>
        <p:spPr>
          <a:xfrm>
            <a:off x="658368" y="1371600"/>
            <a:ext cx="411480" cy="411480"/>
          </a:xfrm>
          <a:prstGeom prst="rect">
            <a:avLst/>
          </a:prstGeom>
        </p:spPr>
      </p:pic>
      <p:sp>
        <p:nvSpPr>
          <p:cNvPr id="7" name="Text 3"/>
          <p:cNvSpPr txBox="1"/>
          <p:nvPr/>
        </p:nvSpPr>
        <p:spPr>
          <a:xfrm>
            <a:off x="658368" y="19019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Context7</a:t>
            </a:r>
            <a:endParaRPr lang="en-US" sz="1600" dirty="0"/>
          </a:p>
        </p:txBody>
      </p:sp>
      <p:sp>
        <p:nvSpPr>
          <p:cNvPr id="8" name="Text 4"/>
          <p:cNvSpPr txBox="1"/>
          <p:nvPr/>
        </p:nvSpPr>
        <p:spPr>
          <a:xfrm>
            <a:off x="658368" y="2313432"/>
            <a:ext cx="2203704" cy="1280160"/>
          </a:xfrm>
          <a:prstGeom prst="rect">
            <a:avLst/>
          </a:prstGeom>
          <a:noFill/>
          <a:ln/>
        </p:spPr>
        <p:txBody>
          <a:bodyPr wrap="square" lIns="0" tIns="0" rIns="0" bIns="0" rtlCol="0" anchor="t"/>
          <a:lstStyle/>
          <a:p>
            <a:pPr marL="0" indent="0">
              <a:buNone/>
            </a:pPr>
            <a:r>
              <a:rPr lang="en-US" sz="1600" dirty="0">
                <a:solidFill>
                  <a:schemeClr val="tx2"/>
                </a:solidFill>
              </a:rPr>
              <a:t>Current library docs, so Claude stops guessing APIs</a:t>
            </a:r>
            <a:endParaRPr lang="en-US" sz="1600" dirty="0"/>
          </a:p>
        </p:txBody>
      </p:sp>
      <p:sp>
        <p:nvSpPr>
          <p:cNvPr id="9" name="card Playwright"/>
          <p:cNvSpPr/>
          <p:nvPr/>
        </p:nvSpPr>
        <p:spPr>
          <a:xfrm>
            <a:off x="3268980" y="1188720"/>
            <a:ext cx="2606040" cy="2514600"/>
          </a:xfrm>
          <a:prstGeom prst="roundRect">
            <a:avLst>
              <a:gd name="adj" fmla="val 2909"/>
            </a:avLst>
          </a:prstGeom>
          <a:solidFill>
            <a:schemeClr val="bg2"/>
          </a:solidFill>
          <a:ln/>
        </p:spPr>
        <p:txBody>
          <a:bodyPr/>
          <a:lstStyle/>
          <a:p>
            <a:endParaRPr lang="en-US"/>
          </a:p>
        </p:txBody>
      </p:sp>
      <p:pic>
        <p:nvPicPr>
          <p:cNvPr id="10" name="icon Playwright" descr="preencoded.png"/>
          <p:cNvPicPr>
            <a:picLocks noChangeAspect="1"/>
          </p:cNvPicPr>
          <p:nvPr/>
        </p:nvPicPr>
        <p:blipFill>
          <a:blip r:embed="rId4"/>
          <a:stretch>
            <a:fillRect/>
          </a:stretch>
        </p:blipFill>
        <p:spPr>
          <a:xfrm>
            <a:off x="3470148" y="1371600"/>
            <a:ext cx="411480" cy="411480"/>
          </a:xfrm>
          <a:prstGeom prst="rect">
            <a:avLst/>
          </a:prstGeom>
        </p:spPr>
      </p:pic>
      <p:sp>
        <p:nvSpPr>
          <p:cNvPr id="11" name="Text 6"/>
          <p:cNvSpPr txBox="1"/>
          <p:nvPr/>
        </p:nvSpPr>
        <p:spPr>
          <a:xfrm>
            <a:off x="3470148" y="19019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Playwright</a:t>
            </a:r>
            <a:endParaRPr lang="en-US" sz="1600" dirty="0"/>
          </a:p>
        </p:txBody>
      </p:sp>
      <p:sp>
        <p:nvSpPr>
          <p:cNvPr id="12" name="Text 7"/>
          <p:cNvSpPr txBox="1"/>
          <p:nvPr/>
        </p:nvSpPr>
        <p:spPr>
          <a:xfrm>
            <a:off x="3470148" y="2313432"/>
            <a:ext cx="2203704" cy="1280160"/>
          </a:xfrm>
          <a:prstGeom prst="rect">
            <a:avLst/>
          </a:prstGeom>
          <a:noFill/>
          <a:ln/>
        </p:spPr>
        <p:txBody>
          <a:bodyPr wrap="square" lIns="0" tIns="0" rIns="0" bIns="0" rtlCol="0" anchor="t"/>
          <a:lstStyle/>
          <a:p>
            <a:pPr marL="0" indent="0">
              <a:buNone/>
            </a:pPr>
            <a:r>
              <a:rPr lang="en-US" sz="1600" dirty="0">
                <a:solidFill>
                  <a:schemeClr val="tx2"/>
                </a:solidFill>
              </a:rPr>
              <a:t>Claude opens your page in Chrome, clicks and takes screenshots</a:t>
            </a:r>
            <a:endParaRPr lang="en-US" sz="1600" dirty="0"/>
          </a:p>
        </p:txBody>
      </p:sp>
      <p:sp>
        <p:nvSpPr>
          <p:cNvPr id="13" name="card GitHub"/>
          <p:cNvSpPr/>
          <p:nvPr/>
        </p:nvSpPr>
        <p:spPr>
          <a:xfrm>
            <a:off x="6080760" y="1188720"/>
            <a:ext cx="2606040" cy="2514600"/>
          </a:xfrm>
          <a:prstGeom prst="roundRect">
            <a:avLst>
              <a:gd name="adj" fmla="val 2909"/>
            </a:avLst>
          </a:prstGeom>
          <a:solidFill>
            <a:schemeClr val="bg2"/>
          </a:solidFill>
          <a:ln/>
        </p:spPr>
        <p:txBody>
          <a:bodyPr/>
          <a:lstStyle/>
          <a:p>
            <a:endParaRPr lang="en-US"/>
          </a:p>
        </p:txBody>
      </p:sp>
      <p:pic>
        <p:nvPicPr>
          <p:cNvPr id="14" name="icon GitHub" descr="preencoded.png"/>
          <p:cNvPicPr>
            <a:picLocks noChangeAspect="1"/>
          </p:cNvPicPr>
          <p:nvPr/>
        </p:nvPicPr>
        <p:blipFill>
          <a:blip r:embed="rId5"/>
          <a:stretch>
            <a:fillRect/>
          </a:stretch>
        </p:blipFill>
        <p:spPr>
          <a:xfrm>
            <a:off x="6281928" y="1371600"/>
            <a:ext cx="411480" cy="411480"/>
          </a:xfrm>
          <a:prstGeom prst="rect">
            <a:avLst/>
          </a:prstGeom>
        </p:spPr>
      </p:pic>
      <p:sp>
        <p:nvSpPr>
          <p:cNvPr id="15" name="Text 9"/>
          <p:cNvSpPr txBox="1"/>
          <p:nvPr/>
        </p:nvSpPr>
        <p:spPr>
          <a:xfrm>
            <a:off x="6281928" y="19019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GitHub</a:t>
            </a:r>
            <a:endParaRPr lang="en-US" sz="1600" dirty="0"/>
          </a:p>
        </p:txBody>
      </p:sp>
      <p:sp>
        <p:nvSpPr>
          <p:cNvPr id="16" name="Text 10"/>
          <p:cNvSpPr txBox="1"/>
          <p:nvPr/>
        </p:nvSpPr>
        <p:spPr>
          <a:xfrm>
            <a:off x="6281928" y="2313432"/>
            <a:ext cx="2203704" cy="1280160"/>
          </a:xfrm>
          <a:prstGeom prst="rect">
            <a:avLst/>
          </a:prstGeom>
          <a:noFill/>
          <a:ln/>
        </p:spPr>
        <p:txBody>
          <a:bodyPr wrap="square" lIns="0" tIns="0" rIns="0" bIns="0" rtlCol="0" anchor="t"/>
          <a:lstStyle/>
          <a:p>
            <a:pPr marL="0" indent="0">
              <a:buNone/>
            </a:pPr>
            <a:r>
              <a:rPr lang="en-US" sz="1600" dirty="0">
                <a:solidFill>
                  <a:schemeClr val="tx2"/>
                </a:solidFill>
              </a:rPr>
              <a:t>Through the gh CLI: issues, pull requests, Actions</a:t>
            </a:r>
            <a:endParaRPr lang="en-US" sz="1600" dirty="0"/>
          </a:p>
        </p:txBody>
      </p:sp>
      <p:sp>
        <p:nvSpPr>
          <p:cNvPr id="17" name="Text 11"/>
          <p:cNvSpPr txBox="1"/>
          <p:nvPr/>
        </p:nvSpPr>
        <p:spPr>
          <a:xfrm>
            <a:off x="457200" y="3977640"/>
            <a:ext cx="8229600" cy="411480"/>
          </a:xfrm>
          <a:prstGeom prst="rect">
            <a:avLst/>
          </a:prstGeom>
          <a:noFill/>
          <a:ln/>
        </p:spPr>
        <p:txBody>
          <a:bodyPr wrap="square" lIns="0" tIns="0" rIns="0" bIns="0" rtlCol="0" anchor="t"/>
          <a:lstStyle/>
          <a:p>
            <a:pPr marL="0" indent="0" algn="l">
              <a:buNone/>
            </a:pPr>
            <a:r>
              <a:rPr lang="en-US" sz="1500" dirty="0">
                <a:solidFill>
                  <a:schemeClr val="tx1"/>
                </a:solidFill>
              </a:rPr>
              <a:t>/mcp shows what is connected. Approve only servers you trust.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Skills: reusable workflows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6</a:t>
            </a:r>
            <a:endParaRPr lang="en-US" sz="1200" dirty="0"/>
          </a:p>
        </p:txBody>
      </p:sp>
      <p:sp>
        <p:nvSpPr>
          <p:cNvPr id="5" name="code box"/>
          <p:cNvSpPr/>
          <p:nvPr/>
        </p:nvSpPr>
        <p:spPr>
          <a:xfrm>
            <a:off x="457200" y="1188720"/>
            <a:ext cx="8229600" cy="594360"/>
          </a:xfrm>
          <a:prstGeom prst="roundRect">
            <a:avLst>
              <a:gd name="adj" fmla="val 12308"/>
            </a:avLst>
          </a:prstGeom>
          <a:solidFill>
            <a:schemeClr val="tx1"/>
          </a:solidFill>
          <a:ln/>
        </p:spPr>
        <p:txBody>
          <a:bodyPr/>
          <a:lstStyle/>
          <a:p>
            <a:endParaRPr lang="en-US"/>
          </a:p>
        </p:txBody>
      </p:sp>
      <p:sp>
        <p:nvSpPr>
          <p:cNvPr id="6" name="Text 3"/>
          <p:cNvSpPr txBox="1"/>
          <p:nvPr/>
        </p:nvSpPr>
        <p:spPr>
          <a:xfrm>
            <a:off x="658368" y="1353312"/>
            <a:ext cx="7827264" cy="265176"/>
          </a:xfrm>
          <a:prstGeom prst="rect">
            <a:avLst/>
          </a:prstGeom>
          <a:noFill/>
          <a:ln/>
        </p:spPr>
        <p:txBody>
          <a:bodyPr wrap="square" lIns="0" tIns="0" rIns="0" bIns="0" rtlCol="0" anchor="t"/>
          <a:lstStyle/>
          <a:p>
            <a:pPr marL="0" indent="0">
              <a:buNone/>
            </a:pPr>
            <a:r>
              <a:rPr lang="en-US" sz="1600" dirty="0">
                <a:solidFill>
                  <a:schemeClr val="bg1"/>
                </a:solidFill>
                <a:latin typeface="Courier New" pitchFamily="34" charset="0"/>
                <a:ea typeface="Courier New" pitchFamily="34" charset="-122"/>
                <a:cs typeface="Courier New" pitchFamily="34" charset="-120"/>
              </a:rPr>
              <a:t>/new-feature add an island filter to the scatter plot</a:t>
            </a:r>
            <a:endParaRPr lang="en-US" sz="1600" dirty="0"/>
          </a:p>
        </p:txBody>
      </p:sp>
      <p:sp>
        <p:nvSpPr>
          <p:cNvPr id="7" name="step Worktree"/>
          <p:cNvSpPr/>
          <p:nvPr/>
        </p:nvSpPr>
        <p:spPr>
          <a:xfrm>
            <a:off x="457200" y="2103120"/>
            <a:ext cx="1219200" cy="1188720"/>
          </a:xfrm>
          <a:prstGeom prst="roundRect">
            <a:avLst>
              <a:gd name="adj" fmla="val 6154"/>
            </a:avLst>
          </a:prstGeom>
          <a:solidFill>
            <a:schemeClr val="bg2"/>
          </a:solidFill>
          <a:ln/>
        </p:spPr>
        <p:txBody>
          <a:bodyPr/>
          <a:lstStyle/>
          <a:p>
            <a:endParaRPr lang="en-US"/>
          </a:p>
        </p:txBody>
      </p:sp>
      <p:sp>
        <p:nvSpPr>
          <p:cNvPr id="8" name="Text 5"/>
          <p:cNvSpPr txBox="1"/>
          <p:nvPr/>
        </p:nvSpPr>
        <p:spPr>
          <a:xfrm>
            <a:off x="530352" y="2240280"/>
            <a:ext cx="1072896" cy="365760"/>
          </a:xfrm>
          <a:prstGeom prst="rect">
            <a:avLst/>
          </a:prstGeom>
          <a:noFill/>
          <a:ln/>
        </p:spPr>
        <p:txBody>
          <a:bodyPr wrap="square" lIns="0" tIns="0" rIns="0" bIns="0" rtlCol="0" anchor="t"/>
          <a:lstStyle/>
          <a:p>
            <a:pPr marL="0" indent="0" algn="ctr">
              <a:buNone/>
            </a:pPr>
            <a:r>
              <a:rPr lang="en-US" sz="1500" b="1" dirty="0">
                <a:solidFill>
                  <a:schemeClr val="tx1"/>
                </a:solidFill>
              </a:rPr>
              <a:t>Worktree</a:t>
            </a:r>
            <a:endParaRPr lang="en-US" sz="1500" dirty="0"/>
          </a:p>
        </p:txBody>
      </p:sp>
      <p:sp>
        <p:nvSpPr>
          <p:cNvPr id="9" name="Text 6"/>
          <p:cNvSpPr txBox="1"/>
          <p:nvPr/>
        </p:nvSpPr>
        <p:spPr>
          <a:xfrm>
            <a:off x="530352" y="265176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own branch</a:t>
            </a:r>
            <a:endParaRPr lang="en-US" sz="1200" dirty="0"/>
          </a:p>
        </p:txBody>
      </p:sp>
      <p:sp>
        <p:nvSpPr>
          <p:cNvPr id="10" name="Shape 7"/>
          <p:cNvSpPr/>
          <p:nvPr/>
        </p:nvSpPr>
        <p:spPr>
          <a:xfrm>
            <a:off x="1712976" y="2697480"/>
            <a:ext cx="109728" cy="0"/>
          </a:xfrm>
          <a:prstGeom prst="line">
            <a:avLst/>
          </a:prstGeom>
          <a:noFill/>
          <a:ln w="19050">
            <a:solidFill>
              <a:schemeClr val="tx2"/>
            </a:solidFill>
            <a:prstDash val="solid"/>
            <a:tailEnd type="triangle"/>
          </a:ln>
        </p:spPr>
        <p:txBody>
          <a:bodyPr/>
          <a:lstStyle/>
          <a:p>
            <a:endParaRPr lang="en-US"/>
          </a:p>
        </p:txBody>
      </p:sp>
      <p:sp>
        <p:nvSpPr>
          <p:cNvPr id="11" name="step Plan"/>
          <p:cNvSpPr/>
          <p:nvPr/>
        </p:nvSpPr>
        <p:spPr>
          <a:xfrm>
            <a:off x="1859280" y="2103120"/>
            <a:ext cx="1219200" cy="1188720"/>
          </a:xfrm>
          <a:prstGeom prst="roundRect">
            <a:avLst>
              <a:gd name="adj" fmla="val 6154"/>
            </a:avLst>
          </a:prstGeom>
          <a:solidFill>
            <a:schemeClr val="accent1"/>
          </a:solidFill>
          <a:ln/>
        </p:spPr>
        <p:txBody>
          <a:bodyPr/>
          <a:lstStyle/>
          <a:p>
            <a:endParaRPr lang="en-US"/>
          </a:p>
        </p:txBody>
      </p:sp>
      <p:sp>
        <p:nvSpPr>
          <p:cNvPr id="12" name="Text 9"/>
          <p:cNvSpPr txBox="1"/>
          <p:nvPr/>
        </p:nvSpPr>
        <p:spPr>
          <a:xfrm>
            <a:off x="1932432" y="2240280"/>
            <a:ext cx="1072896" cy="365760"/>
          </a:xfrm>
          <a:prstGeom prst="rect">
            <a:avLst/>
          </a:prstGeom>
          <a:noFill/>
          <a:ln/>
        </p:spPr>
        <p:txBody>
          <a:bodyPr wrap="square" lIns="0" tIns="0" rIns="0" bIns="0" rtlCol="0" anchor="t"/>
          <a:lstStyle/>
          <a:p>
            <a:pPr marL="0" indent="0" algn="ctr">
              <a:buNone/>
            </a:pPr>
            <a:r>
              <a:rPr lang="en-US" sz="1500" b="1" dirty="0">
                <a:solidFill>
                  <a:schemeClr val="tx1"/>
                </a:solidFill>
              </a:rPr>
              <a:t>Plan</a:t>
            </a:r>
            <a:endParaRPr lang="en-US" sz="1500" dirty="0"/>
          </a:p>
        </p:txBody>
      </p:sp>
      <p:sp>
        <p:nvSpPr>
          <p:cNvPr id="13" name="Text 10"/>
          <p:cNvSpPr txBox="1"/>
          <p:nvPr/>
        </p:nvSpPr>
        <p:spPr>
          <a:xfrm>
            <a:off x="1932432" y="2651760"/>
            <a:ext cx="1072896" cy="566928"/>
          </a:xfrm>
          <a:prstGeom prst="rect">
            <a:avLst/>
          </a:prstGeom>
          <a:noFill/>
          <a:ln/>
        </p:spPr>
        <p:txBody>
          <a:bodyPr wrap="square" lIns="0" tIns="0" rIns="0" bIns="0" rtlCol="0" anchor="t"/>
          <a:lstStyle/>
          <a:p>
            <a:pPr marL="0" indent="0" algn="ctr">
              <a:buNone/>
            </a:pPr>
            <a:r>
              <a:rPr lang="en-US" sz="1200" dirty="0">
                <a:solidFill>
                  <a:schemeClr val="tx1"/>
                </a:solidFill>
              </a:rPr>
              <a:t>you approve</a:t>
            </a:r>
            <a:endParaRPr lang="en-US" sz="1200" dirty="0"/>
          </a:p>
        </p:txBody>
      </p:sp>
      <p:sp>
        <p:nvSpPr>
          <p:cNvPr id="14" name="Shape 11"/>
          <p:cNvSpPr/>
          <p:nvPr/>
        </p:nvSpPr>
        <p:spPr>
          <a:xfrm>
            <a:off x="3115056" y="2697480"/>
            <a:ext cx="109728" cy="0"/>
          </a:xfrm>
          <a:prstGeom prst="line">
            <a:avLst/>
          </a:prstGeom>
          <a:noFill/>
          <a:ln w="19050">
            <a:solidFill>
              <a:schemeClr val="tx2"/>
            </a:solidFill>
            <a:prstDash val="solid"/>
            <a:tailEnd type="triangle"/>
          </a:ln>
        </p:spPr>
        <p:txBody>
          <a:bodyPr/>
          <a:lstStyle/>
          <a:p>
            <a:endParaRPr lang="en-US"/>
          </a:p>
        </p:txBody>
      </p:sp>
      <p:sp>
        <p:nvSpPr>
          <p:cNvPr id="15" name="step Build"/>
          <p:cNvSpPr/>
          <p:nvPr/>
        </p:nvSpPr>
        <p:spPr>
          <a:xfrm>
            <a:off x="3261360" y="2103120"/>
            <a:ext cx="1219200" cy="1188720"/>
          </a:xfrm>
          <a:prstGeom prst="roundRect">
            <a:avLst>
              <a:gd name="adj" fmla="val 6154"/>
            </a:avLst>
          </a:prstGeom>
          <a:solidFill>
            <a:schemeClr val="bg2"/>
          </a:solidFill>
          <a:ln/>
        </p:spPr>
        <p:txBody>
          <a:bodyPr/>
          <a:lstStyle/>
          <a:p>
            <a:endParaRPr lang="en-US"/>
          </a:p>
        </p:txBody>
      </p:sp>
      <p:sp>
        <p:nvSpPr>
          <p:cNvPr id="16" name="Text 13"/>
          <p:cNvSpPr txBox="1"/>
          <p:nvPr/>
        </p:nvSpPr>
        <p:spPr>
          <a:xfrm>
            <a:off x="3334512" y="2240280"/>
            <a:ext cx="1072896" cy="365760"/>
          </a:xfrm>
          <a:prstGeom prst="rect">
            <a:avLst/>
          </a:prstGeom>
          <a:noFill/>
          <a:ln/>
        </p:spPr>
        <p:txBody>
          <a:bodyPr wrap="square" lIns="0" tIns="0" rIns="0" bIns="0" rtlCol="0" anchor="t"/>
          <a:lstStyle/>
          <a:p>
            <a:pPr marL="0" indent="0" algn="ctr">
              <a:buNone/>
            </a:pPr>
            <a:r>
              <a:rPr lang="en-US" sz="1500" b="1" dirty="0">
                <a:solidFill>
                  <a:schemeClr val="tx1"/>
                </a:solidFill>
              </a:rPr>
              <a:t>Build</a:t>
            </a:r>
            <a:endParaRPr lang="en-US" sz="1500" dirty="0"/>
          </a:p>
        </p:txBody>
      </p:sp>
      <p:sp>
        <p:nvSpPr>
          <p:cNvPr id="17" name="Text 14"/>
          <p:cNvSpPr txBox="1"/>
          <p:nvPr/>
        </p:nvSpPr>
        <p:spPr>
          <a:xfrm>
            <a:off x="3334512" y="265176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and test</a:t>
            </a:r>
            <a:endParaRPr lang="en-US" sz="1200" dirty="0"/>
          </a:p>
        </p:txBody>
      </p:sp>
      <p:sp>
        <p:nvSpPr>
          <p:cNvPr id="18" name="Shape 15"/>
          <p:cNvSpPr/>
          <p:nvPr/>
        </p:nvSpPr>
        <p:spPr>
          <a:xfrm>
            <a:off x="4517136" y="2697480"/>
            <a:ext cx="109728" cy="0"/>
          </a:xfrm>
          <a:prstGeom prst="line">
            <a:avLst/>
          </a:prstGeom>
          <a:noFill/>
          <a:ln w="19050">
            <a:solidFill>
              <a:schemeClr val="tx2"/>
            </a:solidFill>
            <a:prstDash val="solid"/>
            <a:tailEnd type="triangle"/>
          </a:ln>
        </p:spPr>
        <p:txBody>
          <a:bodyPr/>
          <a:lstStyle/>
          <a:p>
            <a:endParaRPr lang="en-US"/>
          </a:p>
        </p:txBody>
      </p:sp>
      <p:sp>
        <p:nvSpPr>
          <p:cNvPr id="19" name="step Check"/>
          <p:cNvSpPr/>
          <p:nvPr/>
        </p:nvSpPr>
        <p:spPr>
          <a:xfrm>
            <a:off x="4663440" y="2103120"/>
            <a:ext cx="1219200" cy="1188720"/>
          </a:xfrm>
          <a:prstGeom prst="roundRect">
            <a:avLst>
              <a:gd name="adj" fmla="val 6154"/>
            </a:avLst>
          </a:prstGeom>
          <a:solidFill>
            <a:schemeClr val="bg2"/>
          </a:solidFill>
          <a:ln/>
        </p:spPr>
        <p:txBody>
          <a:bodyPr/>
          <a:lstStyle/>
          <a:p>
            <a:endParaRPr lang="en-US"/>
          </a:p>
        </p:txBody>
      </p:sp>
      <p:sp>
        <p:nvSpPr>
          <p:cNvPr id="20" name="Text 17"/>
          <p:cNvSpPr txBox="1"/>
          <p:nvPr/>
        </p:nvSpPr>
        <p:spPr>
          <a:xfrm>
            <a:off x="4736592" y="2240280"/>
            <a:ext cx="1072896" cy="365760"/>
          </a:xfrm>
          <a:prstGeom prst="rect">
            <a:avLst/>
          </a:prstGeom>
          <a:noFill/>
          <a:ln/>
        </p:spPr>
        <p:txBody>
          <a:bodyPr wrap="square" lIns="0" tIns="0" rIns="0" bIns="0" rtlCol="0" anchor="t"/>
          <a:lstStyle/>
          <a:p>
            <a:pPr marL="0" indent="0" algn="ctr">
              <a:buNone/>
            </a:pPr>
            <a:r>
              <a:rPr lang="en-US" sz="1500" b="1" dirty="0">
                <a:solidFill>
                  <a:schemeClr val="tx1"/>
                </a:solidFill>
              </a:rPr>
              <a:t>Check</a:t>
            </a:r>
            <a:endParaRPr lang="en-US" sz="1500" dirty="0"/>
          </a:p>
        </p:txBody>
      </p:sp>
      <p:sp>
        <p:nvSpPr>
          <p:cNvPr id="21" name="Text 18"/>
          <p:cNvSpPr txBox="1"/>
          <p:nvPr/>
        </p:nvSpPr>
        <p:spPr>
          <a:xfrm>
            <a:off x="4736592" y="265176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check command</a:t>
            </a:r>
            <a:endParaRPr lang="en-US" sz="1200" dirty="0"/>
          </a:p>
        </p:txBody>
      </p:sp>
      <p:sp>
        <p:nvSpPr>
          <p:cNvPr id="22" name="Shape 19"/>
          <p:cNvSpPr/>
          <p:nvPr/>
        </p:nvSpPr>
        <p:spPr>
          <a:xfrm>
            <a:off x="5919216" y="2697480"/>
            <a:ext cx="109728" cy="0"/>
          </a:xfrm>
          <a:prstGeom prst="line">
            <a:avLst/>
          </a:prstGeom>
          <a:noFill/>
          <a:ln w="19050">
            <a:solidFill>
              <a:schemeClr val="tx2"/>
            </a:solidFill>
            <a:prstDash val="solid"/>
            <a:tailEnd type="triangle"/>
          </a:ln>
        </p:spPr>
        <p:txBody>
          <a:bodyPr/>
          <a:lstStyle/>
          <a:p>
            <a:endParaRPr lang="en-US"/>
          </a:p>
        </p:txBody>
      </p:sp>
      <p:sp>
        <p:nvSpPr>
          <p:cNvPr id="23" name="step Commit"/>
          <p:cNvSpPr/>
          <p:nvPr/>
        </p:nvSpPr>
        <p:spPr>
          <a:xfrm>
            <a:off x="6065520" y="2103120"/>
            <a:ext cx="1219200" cy="1188720"/>
          </a:xfrm>
          <a:prstGeom prst="roundRect">
            <a:avLst>
              <a:gd name="adj" fmla="val 6154"/>
            </a:avLst>
          </a:prstGeom>
          <a:solidFill>
            <a:schemeClr val="bg2"/>
          </a:solidFill>
          <a:ln/>
        </p:spPr>
        <p:txBody>
          <a:bodyPr/>
          <a:lstStyle/>
          <a:p>
            <a:endParaRPr lang="en-US"/>
          </a:p>
        </p:txBody>
      </p:sp>
      <p:sp>
        <p:nvSpPr>
          <p:cNvPr id="24" name="Text 21"/>
          <p:cNvSpPr txBox="1"/>
          <p:nvPr/>
        </p:nvSpPr>
        <p:spPr>
          <a:xfrm>
            <a:off x="6138672" y="2240280"/>
            <a:ext cx="1072896" cy="365760"/>
          </a:xfrm>
          <a:prstGeom prst="rect">
            <a:avLst/>
          </a:prstGeom>
          <a:noFill/>
          <a:ln/>
        </p:spPr>
        <p:txBody>
          <a:bodyPr wrap="square" lIns="0" tIns="0" rIns="0" bIns="0" rtlCol="0" anchor="t"/>
          <a:lstStyle/>
          <a:p>
            <a:pPr marL="0" indent="0" algn="ctr">
              <a:buNone/>
            </a:pPr>
            <a:r>
              <a:rPr lang="en-US" sz="1500" b="1" dirty="0">
                <a:solidFill>
                  <a:schemeClr val="tx1"/>
                </a:solidFill>
              </a:rPr>
              <a:t>Commit</a:t>
            </a:r>
            <a:endParaRPr lang="en-US" sz="1500" dirty="0"/>
          </a:p>
        </p:txBody>
      </p:sp>
      <p:sp>
        <p:nvSpPr>
          <p:cNvPr id="25" name="Text 22"/>
          <p:cNvSpPr txBox="1"/>
          <p:nvPr/>
        </p:nvSpPr>
        <p:spPr>
          <a:xfrm>
            <a:off x="6138672" y="2651760"/>
            <a:ext cx="1072896" cy="566928"/>
          </a:xfrm>
          <a:prstGeom prst="rect">
            <a:avLst/>
          </a:prstGeom>
          <a:noFill/>
          <a:ln/>
        </p:spPr>
        <p:txBody>
          <a:bodyPr wrap="square" lIns="0" tIns="0" rIns="0" bIns="0" rtlCol="0" anchor="t"/>
          <a:lstStyle/>
          <a:p>
            <a:pPr marL="0" indent="0" algn="ctr">
              <a:buNone/>
            </a:pPr>
            <a:r>
              <a:rPr lang="en-US" sz="1200" dirty="0">
                <a:solidFill>
                  <a:schemeClr val="tx2"/>
                </a:solidFill>
              </a:rPr>
              <a:t>in the worktree</a:t>
            </a:r>
            <a:endParaRPr lang="en-US" sz="1200" dirty="0"/>
          </a:p>
        </p:txBody>
      </p:sp>
      <p:sp>
        <p:nvSpPr>
          <p:cNvPr id="26" name="Shape 23"/>
          <p:cNvSpPr/>
          <p:nvPr/>
        </p:nvSpPr>
        <p:spPr>
          <a:xfrm>
            <a:off x="7321296" y="2697480"/>
            <a:ext cx="109728" cy="0"/>
          </a:xfrm>
          <a:prstGeom prst="line">
            <a:avLst/>
          </a:prstGeom>
          <a:noFill/>
          <a:ln w="19050">
            <a:solidFill>
              <a:schemeClr val="tx2"/>
            </a:solidFill>
            <a:prstDash val="solid"/>
            <a:tailEnd type="triangle"/>
          </a:ln>
        </p:spPr>
        <p:txBody>
          <a:bodyPr/>
          <a:lstStyle/>
          <a:p>
            <a:endParaRPr lang="en-US"/>
          </a:p>
        </p:txBody>
      </p:sp>
      <p:sp>
        <p:nvSpPr>
          <p:cNvPr id="27" name="step Merge"/>
          <p:cNvSpPr/>
          <p:nvPr/>
        </p:nvSpPr>
        <p:spPr>
          <a:xfrm>
            <a:off x="7467600" y="2103120"/>
            <a:ext cx="1219200" cy="1188720"/>
          </a:xfrm>
          <a:prstGeom prst="roundRect">
            <a:avLst>
              <a:gd name="adj" fmla="val 6154"/>
            </a:avLst>
          </a:prstGeom>
          <a:solidFill>
            <a:schemeClr val="accent1"/>
          </a:solidFill>
          <a:ln/>
        </p:spPr>
        <p:txBody>
          <a:bodyPr/>
          <a:lstStyle/>
          <a:p>
            <a:endParaRPr lang="en-US"/>
          </a:p>
        </p:txBody>
      </p:sp>
      <p:sp>
        <p:nvSpPr>
          <p:cNvPr id="28" name="Text 25"/>
          <p:cNvSpPr txBox="1"/>
          <p:nvPr/>
        </p:nvSpPr>
        <p:spPr>
          <a:xfrm>
            <a:off x="7540752" y="2240280"/>
            <a:ext cx="1072896" cy="365760"/>
          </a:xfrm>
          <a:prstGeom prst="rect">
            <a:avLst/>
          </a:prstGeom>
          <a:noFill/>
          <a:ln/>
        </p:spPr>
        <p:txBody>
          <a:bodyPr wrap="square" lIns="0" tIns="0" rIns="0" bIns="0" rtlCol="0" anchor="t"/>
          <a:lstStyle/>
          <a:p>
            <a:pPr marL="0" indent="0" algn="ctr">
              <a:buNone/>
            </a:pPr>
            <a:r>
              <a:rPr lang="en-US" sz="1500" b="1" dirty="0">
                <a:solidFill>
                  <a:schemeClr val="tx1"/>
                </a:solidFill>
              </a:rPr>
              <a:t>Merge</a:t>
            </a:r>
            <a:endParaRPr lang="en-US" sz="1500" dirty="0"/>
          </a:p>
        </p:txBody>
      </p:sp>
      <p:sp>
        <p:nvSpPr>
          <p:cNvPr id="29" name="Text 26"/>
          <p:cNvSpPr txBox="1"/>
          <p:nvPr/>
        </p:nvSpPr>
        <p:spPr>
          <a:xfrm>
            <a:off x="7540752" y="2651760"/>
            <a:ext cx="1072896" cy="566928"/>
          </a:xfrm>
          <a:prstGeom prst="rect">
            <a:avLst/>
          </a:prstGeom>
          <a:noFill/>
          <a:ln/>
        </p:spPr>
        <p:txBody>
          <a:bodyPr wrap="square" lIns="0" tIns="0" rIns="0" bIns="0" rtlCol="0" anchor="t"/>
          <a:lstStyle/>
          <a:p>
            <a:pPr marL="0" indent="0" algn="ctr">
              <a:buNone/>
            </a:pPr>
            <a:r>
              <a:rPr lang="en-US" sz="1200" dirty="0">
                <a:solidFill>
                  <a:schemeClr val="tx1"/>
                </a:solidFill>
              </a:rPr>
              <a:t>you approve</a:t>
            </a:r>
            <a:endParaRPr lang="en-US" sz="1200" dirty="0"/>
          </a:p>
        </p:txBody>
      </p:sp>
      <p:sp>
        <p:nvSpPr>
          <p:cNvPr id="30" name="Text 27"/>
          <p:cNvSpPr txBox="1"/>
          <p:nvPr/>
        </p:nvSpPr>
        <p:spPr>
          <a:xfrm>
            <a:off x="457200" y="3611880"/>
            <a:ext cx="8229600" cy="411480"/>
          </a:xfrm>
          <a:prstGeom prst="rect">
            <a:avLst/>
          </a:prstGeom>
          <a:noFill/>
          <a:ln/>
        </p:spPr>
        <p:txBody>
          <a:bodyPr wrap="square" lIns="0" tIns="0" rIns="0" bIns="0" rtlCol="0" anchor="t"/>
          <a:lstStyle/>
          <a:p>
            <a:pPr marL="0" indent="0" algn="l">
              <a:buNone/>
            </a:pPr>
            <a:r>
              <a:rPr lang="en-US" sz="1400" i="1" dirty="0">
                <a:solidFill>
                  <a:schemeClr val="tx2"/>
                </a:solidFill>
              </a:rPr>
              <a:t>Defined in .claude/skills/new-feature/SKILL.md. Read it: a skill is just instructions.</a:t>
            </a:r>
            <a:endParaRPr lang="en-US" sz="14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Hooks and subagents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6</a:t>
            </a:r>
            <a:endParaRPr lang="en-US" sz="1200" dirty="0"/>
          </a:p>
        </p:txBody>
      </p:sp>
      <p:sp>
        <p:nvSpPr>
          <p:cNvPr id="5" name="Text 2"/>
          <p:cNvSpPr txBox="1"/>
          <p:nvPr/>
        </p:nvSpPr>
        <p:spPr>
          <a:xfrm>
            <a:off x="457200" y="1188720"/>
            <a:ext cx="4023360" cy="329184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A hook runs a command at a fixed moment, every time</a:t>
            </a:r>
            <a:endParaRPr lang="en-US" sz="1500" dirty="0"/>
          </a:p>
          <a:p>
            <a:pPr marL="177800" indent="-177800">
              <a:spcAft>
                <a:spcPts val="1000"/>
              </a:spcAft>
              <a:buSzPct val="100000"/>
              <a:buChar char="•"/>
            </a:pPr>
            <a:r>
              <a:rPr lang="en-US" sz="1500" dirty="0">
                <a:solidFill>
                  <a:schemeClr val="tx1"/>
                </a:solidFill>
              </a:rPr>
              <a:t>Example: format Python after every edit</a:t>
            </a:r>
            <a:endParaRPr lang="en-US" sz="1500" dirty="0"/>
          </a:p>
          <a:p>
            <a:pPr marL="177800" indent="-177800">
              <a:spcAft>
                <a:spcPts val="1000"/>
              </a:spcAft>
              <a:buSzPct val="100000"/>
              <a:buChar char="•"/>
            </a:pPr>
            <a:r>
              <a:rPr lang="en-US" sz="1500" dirty="0">
                <a:solidFill>
                  <a:schemeClr val="tx1"/>
                </a:solidFill>
              </a:rPr>
              <a:t>Check your hooks with /hooks</a:t>
            </a:r>
            <a:endParaRPr lang="en-US" sz="1500" dirty="0"/>
          </a:p>
          <a:p>
            <a:pPr marL="177800" indent="-177800">
              <a:spcAft>
                <a:spcPts val="1000"/>
              </a:spcAft>
              <a:buSzPct val="100000"/>
              <a:buChar char="•"/>
            </a:pPr>
            <a:r>
              <a:rPr lang="en-US" sz="1500" dirty="0">
                <a:solidFill>
                  <a:schemeClr val="tx1"/>
                </a:solidFill>
              </a:rPr>
              <a:t>Subagents: hand a task to a separate agent with its own context, like a code reviewer</a:t>
            </a:r>
            <a:endParaRPr lang="en-US" sz="1500" dirty="0"/>
          </a:p>
        </p:txBody>
      </p:sp>
      <p:sp>
        <p:nvSpPr>
          <p:cNvPr id="6" name="code box"/>
          <p:cNvSpPr/>
          <p:nvPr/>
        </p:nvSpPr>
        <p:spPr>
          <a:xfrm>
            <a:off x="4663440" y="1188720"/>
            <a:ext cx="4023360" cy="2743200"/>
          </a:xfrm>
          <a:prstGeom prst="roundRect">
            <a:avLst>
              <a:gd name="adj" fmla="val 2667"/>
            </a:avLst>
          </a:prstGeom>
          <a:solidFill>
            <a:schemeClr val="tx1"/>
          </a:solidFill>
          <a:ln/>
        </p:spPr>
        <p:txBody>
          <a:bodyPr/>
          <a:lstStyle/>
          <a:p>
            <a:endParaRPr lang="en-US"/>
          </a:p>
        </p:txBody>
      </p:sp>
      <p:sp>
        <p:nvSpPr>
          <p:cNvPr id="7" name="Text 4"/>
          <p:cNvSpPr txBox="1"/>
          <p:nvPr/>
        </p:nvSpPr>
        <p:spPr>
          <a:xfrm>
            <a:off x="4864608" y="1353312"/>
            <a:ext cx="3621024" cy="2414016"/>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"hooks":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"PostToolUse":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"matcher": "Edit|Write",</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"hooks":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"type": "command",</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"command": "uvx ruff format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8" name="Text 5"/>
          <p:cNvSpPr txBox="1"/>
          <p:nvPr/>
        </p:nvSpPr>
        <p:spPr>
          <a:xfrm>
            <a:off x="4663440" y="4005072"/>
            <a:ext cx="4023360" cy="274320"/>
          </a:xfrm>
          <a:prstGeom prst="rect">
            <a:avLst/>
          </a:prstGeom>
          <a:noFill/>
          <a:ln/>
        </p:spPr>
        <p:txBody>
          <a:bodyPr wrap="square" lIns="0" tIns="0" rIns="0" bIns="0" rtlCol="0" anchor="ctr"/>
          <a:lstStyle/>
          <a:p>
            <a:pPr marL="0" indent="0">
              <a:buNone/>
            </a:pPr>
            <a:r>
              <a:rPr lang="en-US" sz="1100" i="1" dirty="0">
                <a:solidFill>
                  <a:schemeClr val="tx2"/>
                </a:solidFill>
              </a:rPr>
              <a:t>in .claude/settings.json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7</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Worktrees</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30 min</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Two agents, one repo</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7</a:t>
            </a:r>
            <a:endParaRPr lang="en-US" sz="1200" dirty="0"/>
          </a:p>
        </p:txBody>
      </p:sp>
      <p:sp>
        <p:nvSpPr>
          <p:cNvPr id="5" name="main"/>
          <p:cNvSpPr txBox="1"/>
          <p:nvPr/>
        </p:nvSpPr>
        <p:spPr>
          <a:xfrm>
            <a:off x="1600200" y="1234440"/>
            <a:ext cx="2377440" cy="640080"/>
          </a:xfrm>
          <a:prstGeom prst="roundRect">
            <a:avLst>
              <a:gd name="adj" fmla="val 11429"/>
            </a:avLst>
          </a:prstGeom>
          <a:solidFill>
            <a:schemeClr val="tx1"/>
          </a:solidFill>
          <a:ln/>
        </p:spPr>
        <p:txBody>
          <a:bodyPr wrap="square" lIns="0" tIns="0" rIns="0" bIns="0" rtlCol="0" anchor="ctr"/>
          <a:lstStyle/>
          <a:p>
            <a:pPr marL="0" indent="0" algn="ctr">
              <a:buNone/>
            </a:pPr>
            <a:r>
              <a:rPr lang="en-US" sz="1800" b="1" dirty="0">
                <a:solidFill>
                  <a:schemeClr val="bg1"/>
                </a:solidFill>
              </a:rPr>
              <a:t>main</a:t>
            </a:r>
            <a:endParaRPr lang="en-US" sz="1800" dirty="0"/>
          </a:p>
        </p:txBody>
      </p:sp>
      <p:sp>
        <p:nvSpPr>
          <p:cNvPr id="6" name="Text 3"/>
          <p:cNvSpPr txBox="1"/>
          <p:nvPr/>
        </p:nvSpPr>
        <p:spPr>
          <a:xfrm>
            <a:off x="1600200" y="1920240"/>
            <a:ext cx="2377440" cy="274320"/>
          </a:xfrm>
          <a:prstGeom prst="rect">
            <a:avLst/>
          </a:prstGeom>
          <a:noFill/>
          <a:ln/>
        </p:spPr>
        <p:txBody>
          <a:bodyPr wrap="square" lIns="0" tIns="0" rIns="0" bIns="0" rtlCol="0" anchor="t"/>
          <a:lstStyle/>
          <a:p>
            <a:pPr marL="0" indent="0" algn="ctr">
              <a:buNone/>
            </a:pPr>
            <a:r>
              <a:rPr lang="en-US" sz="1200" i="1" dirty="0">
                <a:solidFill>
                  <a:schemeClr val="tx2"/>
                </a:solidFill>
              </a:rPr>
              <a:t>your repo folder</a:t>
            </a:r>
            <a:endParaRPr lang="en-US" sz="1200" dirty="0"/>
          </a:p>
        </p:txBody>
      </p:sp>
      <p:sp>
        <p:nvSpPr>
          <p:cNvPr id="7" name="card island-filter"/>
          <p:cNvSpPr/>
          <p:nvPr/>
        </p:nvSpPr>
        <p:spPr>
          <a:xfrm>
            <a:off x="457200" y="2788920"/>
            <a:ext cx="2194560" cy="1143000"/>
          </a:xfrm>
          <a:prstGeom prst="roundRect">
            <a:avLst>
              <a:gd name="adj" fmla="val 6400"/>
            </a:avLst>
          </a:prstGeom>
          <a:solidFill>
            <a:schemeClr val="bg2"/>
          </a:solidFill>
          <a:ln/>
        </p:spPr>
        <p:txBody>
          <a:bodyPr/>
          <a:lstStyle/>
          <a:p>
            <a:endParaRPr lang="en-US"/>
          </a:p>
        </p:txBody>
      </p:sp>
      <p:sp>
        <p:nvSpPr>
          <p:cNvPr id="8" name="Text 5"/>
          <p:cNvSpPr txBox="1"/>
          <p:nvPr/>
        </p:nvSpPr>
        <p:spPr>
          <a:xfrm>
            <a:off x="658368" y="2953512"/>
            <a:ext cx="1792224" cy="365760"/>
          </a:xfrm>
          <a:prstGeom prst="rect">
            <a:avLst/>
          </a:prstGeom>
          <a:noFill/>
          <a:ln/>
        </p:spPr>
        <p:txBody>
          <a:bodyPr wrap="square" lIns="0" tIns="0" rIns="0" bIns="0" rtlCol="0" anchor="t"/>
          <a:lstStyle/>
          <a:p>
            <a:pPr marL="0" indent="0">
              <a:buNone/>
            </a:pPr>
            <a:r>
              <a:rPr lang="en-US" sz="1600" b="1" dirty="0">
                <a:solidFill>
                  <a:schemeClr val="tx1"/>
                </a:solidFill>
              </a:rPr>
              <a:t>island-filter</a:t>
            </a:r>
            <a:endParaRPr lang="en-US" sz="1600" dirty="0"/>
          </a:p>
        </p:txBody>
      </p:sp>
      <p:sp>
        <p:nvSpPr>
          <p:cNvPr id="9" name="Text 6"/>
          <p:cNvSpPr txBox="1"/>
          <p:nvPr/>
        </p:nvSpPr>
        <p:spPr>
          <a:xfrm>
            <a:off x="658368" y="3364992"/>
            <a:ext cx="1792224" cy="457200"/>
          </a:xfrm>
          <a:prstGeom prst="rect">
            <a:avLst/>
          </a:prstGeom>
          <a:noFill/>
          <a:ln/>
        </p:spPr>
        <p:txBody>
          <a:bodyPr wrap="square" lIns="0" tIns="0" rIns="0" bIns="0" rtlCol="0" anchor="t"/>
          <a:lstStyle/>
          <a:p>
            <a:pPr marL="0" indent="0">
              <a:buNone/>
            </a:pPr>
            <a:r>
              <a:rPr lang="en-US" sz="1300" dirty="0">
                <a:solidFill>
                  <a:schemeClr val="tx2"/>
                </a:solidFill>
              </a:rPr>
              <a:t>its own branch and folder</a:t>
            </a:r>
            <a:endParaRPr lang="en-US" sz="1300" dirty="0"/>
          </a:p>
        </p:txBody>
      </p:sp>
      <p:sp>
        <p:nvSpPr>
          <p:cNvPr id="10" name="card dark-mode"/>
          <p:cNvSpPr/>
          <p:nvPr/>
        </p:nvSpPr>
        <p:spPr>
          <a:xfrm>
            <a:off x="2926080" y="2788920"/>
            <a:ext cx="2194560" cy="1143000"/>
          </a:xfrm>
          <a:prstGeom prst="roundRect">
            <a:avLst>
              <a:gd name="adj" fmla="val 6400"/>
            </a:avLst>
          </a:prstGeom>
          <a:solidFill>
            <a:schemeClr val="bg2"/>
          </a:solidFill>
          <a:ln/>
        </p:spPr>
        <p:txBody>
          <a:bodyPr/>
          <a:lstStyle/>
          <a:p>
            <a:endParaRPr lang="en-US"/>
          </a:p>
        </p:txBody>
      </p:sp>
      <p:sp>
        <p:nvSpPr>
          <p:cNvPr id="11" name="Text 8"/>
          <p:cNvSpPr txBox="1"/>
          <p:nvPr/>
        </p:nvSpPr>
        <p:spPr>
          <a:xfrm>
            <a:off x="3127248" y="2953512"/>
            <a:ext cx="1792224" cy="365760"/>
          </a:xfrm>
          <a:prstGeom prst="rect">
            <a:avLst/>
          </a:prstGeom>
          <a:noFill/>
          <a:ln/>
        </p:spPr>
        <p:txBody>
          <a:bodyPr wrap="square" lIns="0" tIns="0" rIns="0" bIns="0" rtlCol="0" anchor="t"/>
          <a:lstStyle/>
          <a:p>
            <a:pPr marL="0" indent="0">
              <a:buNone/>
            </a:pPr>
            <a:r>
              <a:rPr lang="en-US" sz="1600" b="1" dirty="0">
                <a:solidFill>
                  <a:schemeClr val="tx1"/>
                </a:solidFill>
              </a:rPr>
              <a:t>dark-mode</a:t>
            </a:r>
            <a:endParaRPr lang="en-US" sz="1600" dirty="0"/>
          </a:p>
        </p:txBody>
      </p:sp>
      <p:sp>
        <p:nvSpPr>
          <p:cNvPr id="12" name="Text 9"/>
          <p:cNvSpPr txBox="1"/>
          <p:nvPr/>
        </p:nvSpPr>
        <p:spPr>
          <a:xfrm>
            <a:off x="3127248" y="3364992"/>
            <a:ext cx="1792224" cy="457200"/>
          </a:xfrm>
          <a:prstGeom prst="rect">
            <a:avLst/>
          </a:prstGeom>
          <a:noFill/>
          <a:ln/>
        </p:spPr>
        <p:txBody>
          <a:bodyPr wrap="square" lIns="0" tIns="0" rIns="0" bIns="0" rtlCol="0" anchor="t"/>
          <a:lstStyle/>
          <a:p>
            <a:pPr marL="0" indent="0">
              <a:buNone/>
            </a:pPr>
            <a:r>
              <a:rPr lang="en-US" sz="1300" dirty="0">
                <a:solidFill>
                  <a:schemeClr val="tx2"/>
                </a:solidFill>
              </a:rPr>
              <a:t>its own branch and folder</a:t>
            </a:r>
            <a:endParaRPr lang="en-US" sz="1300" dirty="0"/>
          </a:p>
        </p:txBody>
      </p:sp>
      <p:sp>
        <p:nvSpPr>
          <p:cNvPr id="13" name="Shape 10"/>
          <p:cNvSpPr/>
          <p:nvPr/>
        </p:nvSpPr>
        <p:spPr>
          <a:xfrm flipH="1">
            <a:off x="1554480" y="2240280"/>
            <a:ext cx="914400" cy="548640"/>
          </a:xfrm>
          <a:prstGeom prst="line">
            <a:avLst/>
          </a:prstGeom>
          <a:noFill/>
          <a:ln w="19050">
            <a:solidFill>
              <a:schemeClr val="tx2"/>
            </a:solidFill>
            <a:prstDash val="solid"/>
            <a:headEnd type="triangle"/>
            <a:tailEnd type="triangle"/>
          </a:ln>
        </p:spPr>
        <p:txBody>
          <a:bodyPr/>
          <a:lstStyle/>
          <a:p>
            <a:endParaRPr lang="en-US"/>
          </a:p>
        </p:txBody>
      </p:sp>
      <p:sp>
        <p:nvSpPr>
          <p:cNvPr id="14" name="Shape 11"/>
          <p:cNvSpPr/>
          <p:nvPr/>
        </p:nvSpPr>
        <p:spPr>
          <a:xfrm>
            <a:off x="3108960" y="2240280"/>
            <a:ext cx="914400" cy="548640"/>
          </a:xfrm>
          <a:prstGeom prst="line">
            <a:avLst/>
          </a:prstGeom>
          <a:noFill/>
          <a:ln w="19050">
            <a:solidFill>
              <a:schemeClr val="tx2"/>
            </a:solidFill>
            <a:prstDash val="solid"/>
            <a:headEnd type="triangle"/>
            <a:tailEnd type="triangle"/>
          </a:ln>
        </p:spPr>
        <p:txBody>
          <a:bodyPr/>
          <a:lstStyle/>
          <a:p>
            <a:endParaRPr lang="en-US"/>
          </a:p>
        </p:txBody>
      </p:sp>
      <p:sp>
        <p:nvSpPr>
          <p:cNvPr id="15" name="Text 12"/>
          <p:cNvSpPr txBox="1"/>
          <p:nvPr/>
        </p:nvSpPr>
        <p:spPr>
          <a:xfrm>
            <a:off x="457200" y="4069080"/>
            <a:ext cx="4663440" cy="320040"/>
          </a:xfrm>
          <a:prstGeom prst="rect">
            <a:avLst/>
          </a:prstGeom>
          <a:noFill/>
          <a:ln/>
        </p:spPr>
        <p:txBody>
          <a:bodyPr wrap="square" lIns="0" tIns="0" rIns="0" bIns="0" rtlCol="0" anchor="t"/>
          <a:lstStyle/>
          <a:p>
            <a:pPr marL="0" indent="0" algn="ctr">
              <a:buNone/>
            </a:pPr>
            <a:r>
              <a:rPr lang="en-US" sz="1200" i="1" dirty="0">
                <a:solidFill>
                  <a:schemeClr val="tx2"/>
                </a:solidFill>
              </a:rPr>
              <a:t>Both live in .claude/worktrees/</a:t>
            </a:r>
            <a:endParaRPr lang="en-US" sz="1200" dirty="0"/>
          </a:p>
        </p:txBody>
      </p:sp>
      <p:sp>
        <p:nvSpPr>
          <p:cNvPr id="16" name="code box"/>
          <p:cNvSpPr/>
          <p:nvPr/>
        </p:nvSpPr>
        <p:spPr>
          <a:xfrm>
            <a:off x="5394960" y="1188720"/>
            <a:ext cx="3291840" cy="1920240"/>
          </a:xfrm>
          <a:prstGeom prst="roundRect">
            <a:avLst>
              <a:gd name="adj" fmla="val 3810"/>
            </a:avLst>
          </a:prstGeom>
          <a:solidFill>
            <a:schemeClr val="tx1"/>
          </a:solidFill>
          <a:ln/>
        </p:spPr>
        <p:txBody>
          <a:bodyPr/>
          <a:lstStyle/>
          <a:p>
            <a:endParaRPr lang="en-US"/>
          </a:p>
        </p:txBody>
      </p:sp>
      <p:sp>
        <p:nvSpPr>
          <p:cNvPr id="17" name="Text 14"/>
          <p:cNvSpPr txBox="1"/>
          <p:nvPr/>
        </p:nvSpPr>
        <p:spPr>
          <a:xfrm>
            <a:off x="5596128" y="1353312"/>
            <a:ext cx="2889504" cy="1591056"/>
          </a:xfrm>
          <a:prstGeom prst="rect">
            <a:avLst/>
          </a:prstGeom>
          <a:noFill/>
          <a:ln/>
        </p:spPr>
        <p:txBody>
          <a:bodyPr wrap="square" lIns="0" tIns="0" rIns="0" bIns="0" rtlCol="0" anchor="t"/>
          <a:lstStyle/>
          <a:p>
            <a:pPr marL="0" indent="0">
              <a:buNone/>
            </a:pPr>
            <a:r>
              <a:rPr lang="en-US" sz="1500" dirty="0">
                <a:solidFill>
                  <a:schemeClr val="accent3"/>
                </a:solidFill>
                <a:latin typeface="Courier New" pitchFamily="34" charset="0"/>
                <a:ea typeface="Courier New" pitchFamily="34" charset="-122"/>
                <a:cs typeface="Courier New" pitchFamily="34" charset="-120"/>
              </a:rPr>
              <a:t># terminal 1</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claude -w island-filter</a:t>
            </a:r>
            <a:endParaRPr lang="en-US" sz="1500" dirty="0"/>
          </a:p>
          <a:p>
            <a:pPr marL="0" indent="0">
              <a:buNone/>
            </a:pPr>
            <a:r>
              <a:rPr lang="en-US" sz="1500" dirty="0">
                <a:solidFill>
                  <a:schemeClr val="accent3"/>
                </a:solidFill>
                <a:latin typeface="Courier New" pitchFamily="34" charset="0"/>
                <a:ea typeface="Courier New" pitchFamily="34" charset="-122"/>
                <a:cs typeface="Courier New" pitchFamily="34" charset="-120"/>
              </a:rPr>
              <a:t># terminal 2</a:t>
            </a:r>
            <a:endParaRPr lang="en-US" sz="1500" dirty="0"/>
          </a:p>
          <a:p>
            <a:pPr marL="0" indent="0">
              <a:buNone/>
            </a:pPr>
            <a:r>
              <a:rPr lang="en-US" sz="1500" dirty="0">
                <a:solidFill>
                  <a:schemeClr val="bg1"/>
                </a:solidFill>
                <a:latin typeface="Courier New" pitchFamily="34" charset="0"/>
                <a:ea typeface="Courier New" pitchFamily="34" charset="-122"/>
                <a:cs typeface="Courier New" pitchFamily="34" charset="-120"/>
              </a:rPr>
              <a:t>claude -w dark-mode</a:t>
            </a:r>
            <a:endParaRPr lang="en-US" sz="1500" dirty="0"/>
          </a:p>
        </p:txBody>
      </p:sp>
      <p:sp>
        <p:nvSpPr>
          <p:cNvPr id="18" name="Text 15"/>
          <p:cNvSpPr txBox="1"/>
          <p:nvPr/>
        </p:nvSpPr>
        <p:spPr>
          <a:xfrm>
            <a:off x="5394960" y="3291840"/>
            <a:ext cx="3291840" cy="640080"/>
          </a:xfrm>
          <a:prstGeom prst="rect">
            <a:avLst/>
          </a:prstGeom>
          <a:noFill/>
          <a:ln/>
        </p:spPr>
        <p:txBody>
          <a:bodyPr wrap="square" lIns="0" tIns="0" rIns="0" bIns="0" rtlCol="0" anchor="t"/>
          <a:lstStyle/>
          <a:p>
            <a:pPr marL="0" indent="0" algn="l">
              <a:buNone/>
            </a:pPr>
            <a:r>
              <a:rPr lang="en-US" sz="1400" dirty="0">
                <a:solidFill>
                  <a:schemeClr val="tx2"/>
                </a:solidFill>
              </a:rPr>
              <a:t>Or use /new-feature, which makes its own worktree.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8</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Final project</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90 to 120 min</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The build loop</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8</a:t>
            </a:r>
            <a:endParaRPr lang="en-US" sz="1200" dirty="0"/>
          </a:p>
        </p:txBody>
      </p:sp>
      <p:sp>
        <p:nvSpPr>
          <p:cNvPr id="5" name="step Spec"/>
          <p:cNvSpPr/>
          <p:nvPr/>
        </p:nvSpPr>
        <p:spPr>
          <a:xfrm>
            <a:off x="457200" y="1234440"/>
            <a:ext cx="1018903" cy="1325880"/>
          </a:xfrm>
          <a:prstGeom prst="roundRect">
            <a:avLst>
              <a:gd name="adj" fmla="val 7179"/>
            </a:avLst>
          </a:prstGeom>
          <a:solidFill>
            <a:schemeClr val="bg2"/>
          </a:solidFill>
          <a:ln/>
        </p:spPr>
        <p:txBody>
          <a:bodyPr/>
          <a:lstStyle/>
          <a:p>
            <a:endParaRPr lang="en-US"/>
          </a:p>
        </p:txBody>
      </p:sp>
      <p:sp>
        <p:nvSpPr>
          <p:cNvPr id="6" name="Text 3"/>
          <p:cNvSpPr txBox="1"/>
          <p:nvPr/>
        </p:nvSpPr>
        <p:spPr>
          <a:xfrm>
            <a:off x="530352"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Spec</a:t>
            </a:r>
            <a:endParaRPr lang="en-US" sz="1400" dirty="0"/>
          </a:p>
        </p:txBody>
      </p:sp>
      <p:sp>
        <p:nvSpPr>
          <p:cNvPr id="7" name="Text 4"/>
          <p:cNvSpPr txBox="1"/>
          <p:nvPr/>
        </p:nvSpPr>
        <p:spPr>
          <a:xfrm>
            <a:off x="530352"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what and why</a:t>
            </a:r>
            <a:endParaRPr lang="en-US" sz="1200" dirty="0"/>
          </a:p>
        </p:txBody>
      </p:sp>
      <p:sp>
        <p:nvSpPr>
          <p:cNvPr id="8" name="Shape 5"/>
          <p:cNvSpPr/>
          <p:nvPr/>
        </p:nvSpPr>
        <p:spPr>
          <a:xfrm>
            <a:off x="1512679" y="1897380"/>
            <a:ext cx="109728" cy="0"/>
          </a:xfrm>
          <a:prstGeom prst="line">
            <a:avLst/>
          </a:prstGeom>
          <a:noFill/>
          <a:ln w="19050">
            <a:solidFill>
              <a:schemeClr val="tx2"/>
            </a:solidFill>
            <a:prstDash val="solid"/>
            <a:tailEnd type="triangle"/>
          </a:ln>
        </p:spPr>
        <p:txBody>
          <a:bodyPr/>
          <a:lstStyle/>
          <a:p>
            <a:endParaRPr lang="en-US"/>
          </a:p>
        </p:txBody>
      </p:sp>
      <p:sp>
        <p:nvSpPr>
          <p:cNvPr id="9" name="step Plan"/>
          <p:cNvSpPr/>
          <p:nvPr/>
        </p:nvSpPr>
        <p:spPr>
          <a:xfrm>
            <a:off x="1658983" y="1234440"/>
            <a:ext cx="1018903" cy="1325880"/>
          </a:xfrm>
          <a:prstGeom prst="roundRect">
            <a:avLst>
              <a:gd name="adj" fmla="val 7179"/>
            </a:avLst>
          </a:prstGeom>
          <a:solidFill>
            <a:schemeClr val="bg2"/>
          </a:solidFill>
          <a:ln/>
        </p:spPr>
        <p:txBody>
          <a:bodyPr/>
          <a:lstStyle/>
          <a:p>
            <a:endParaRPr lang="en-US"/>
          </a:p>
        </p:txBody>
      </p:sp>
      <p:sp>
        <p:nvSpPr>
          <p:cNvPr id="10" name="Text 7"/>
          <p:cNvSpPr txBox="1"/>
          <p:nvPr/>
        </p:nvSpPr>
        <p:spPr>
          <a:xfrm>
            <a:off x="1732135"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Plan</a:t>
            </a:r>
            <a:endParaRPr lang="en-US" sz="1400" dirty="0"/>
          </a:p>
        </p:txBody>
      </p:sp>
      <p:sp>
        <p:nvSpPr>
          <p:cNvPr id="11" name="Text 8"/>
          <p:cNvSpPr txBox="1"/>
          <p:nvPr/>
        </p:nvSpPr>
        <p:spPr>
          <a:xfrm>
            <a:off x="1732135"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plan mode</a:t>
            </a:r>
            <a:endParaRPr lang="en-US" sz="1200" dirty="0"/>
          </a:p>
        </p:txBody>
      </p:sp>
      <p:sp>
        <p:nvSpPr>
          <p:cNvPr id="12" name="Shape 9"/>
          <p:cNvSpPr/>
          <p:nvPr/>
        </p:nvSpPr>
        <p:spPr>
          <a:xfrm>
            <a:off x="2714462" y="1897380"/>
            <a:ext cx="109728" cy="0"/>
          </a:xfrm>
          <a:prstGeom prst="line">
            <a:avLst/>
          </a:prstGeom>
          <a:noFill/>
          <a:ln w="19050">
            <a:solidFill>
              <a:schemeClr val="tx2"/>
            </a:solidFill>
            <a:prstDash val="solid"/>
            <a:tailEnd type="triangle"/>
          </a:ln>
        </p:spPr>
        <p:txBody>
          <a:bodyPr/>
          <a:lstStyle/>
          <a:p>
            <a:endParaRPr lang="en-US"/>
          </a:p>
        </p:txBody>
      </p:sp>
      <p:sp>
        <p:nvSpPr>
          <p:cNvPr id="13" name="step Build small"/>
          <p:cNvSpPr/>
          <p:nvPr/>
        </p:nvSpPr>
        <p:spPr>
          <a:xfrm>
            <a:off x="2860766" y="1234440"/>
            <a:ext cx="1018903" cy="1325880"/>
          </a:xfrm>
          <a:prstGeom prst="roundRect">
            <a:avLst>
              <a:gd name="adj" fmla="val 7179"/>
            </a:avLst>
          </a:prstGeom>
          <a:solidFill>
            <a:schemeClr val="bg2"/>
          </a:solidFill>
          <a:ln/>
        </p:spPr>
        <p:txBody>
          <a:bodyPr/>
          <a:lstStyle/>
          <a:p>
            <a:endParaRPr lang="en-US"/>
          </a:p>
        </p:txBody>
      </p:sp>
      <p:sp>
        <p:nvSpPr>
          <p:cNvPr id="14" name="Text 11"/>
          <p:cNvSpPr txBox="1"/>
          <p:nvPr/>
        </p:nvSpPr>
        <p:spPr>
          <a:xfrm>
            <a:off x="2933918"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Build small</a:t>
            </a:r>
            <a:endParaRPr lang="en-US" sz="1400" dirty="0"/>
          </a:p>
        </p:txBody>
      </p:sp>
      <p:sp>
        <p:nvSpPr>
          <p:cNvPr id="15" name="Text 12"/>
          <p:cNvSpPr txBox="1"/>
          <p:nvPr/>
        </p:nvSpPr>
        <p:spPr>
          <a:xfrm>
            <a:off x="2933918"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one step</a:t>
            </a:r>
            <a:endParaRPr lang="en-US" sz="1200" dirty="0"/>
          </a:p>
        </p:txBody>
      </p:sp>
      <p:sp>
        <p:nvSpPr>
          <p:cNvPr id="16" name="Shape 13"/>
          <p:cNvSpPr/>
          <p:nvPr/>
        </p:nvSpPr>
        <p:spPr>
          <a:xfrm>
            <a:off x="3916245" y="1897380"/>
            <a:ext cx="109728" cy="0"/>
          </a:xfrm>
          <a:prstGeom prst="line">
            <a:avLst/>
          </a:prstGeom>
          <a:noFill/>
          <a:ln w="19050">
            <a:solidFill>
              <a:schemeClr val="tx2"/>
            </a:solidFill>
            <a:prstDash val="solid"/>
            <a:tailEnd type="triangle"/>
          </a:ln>
        </p:spPr>
        <p:txBody>
          <a:bodyPr/>
          <a:lstStyle/>
          <a:p>
            <a:endParaRPr lang="en-US"/>
          </a:p>
        </p:txBody>
      </p:sp>
      <p:sp>
        <p:nvSpPr>
          <p:cNvPr id="17" name="step Test"/>
          <p:cNvSpPr/>
          <p:nvPr/>
        </p:nvSpPr>
        <p:spPr>
          <a:xfrm>
            <a:off x="4062549" y="1234440"/>
            <a:ext cx="1018903" cy="1325880"/>
          </a:xfrm>
          <a:prstGeom prst="roundRect">
            <a:avLst>
              <a:gd name="adj" fmla="val 7179"/>
            </a:avLst>
          </a:prstGeom>
          <a:solidFill>
            <a:schemeClr val="bg2"/>
          </a:solidFill>
          <a:ln/>
        </p:spPr>
        <p:txBody>
          <a:bodyPr/>
          <a:lstStyle/>
          <a:p>
            <a:endParaRPr lang="en-US"/>
          </a:p>
        </p:txBody>
      </p:sp>
      <p:sp>
        <p:nvSpPr>
          <p:cNvPr id="18" name="Text 15"/>
          <p:cNvSpPr txBox="1"/>
          <p:nvPr/>
        </p:nvSpPr>
        <p:spPr>
          <a:xfrm>
            <a:off x="4135701"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Test</a:t>
            </a:r>
            <a:endParaRPr lang="en-US" sz="1400" dirty="0"/>
          </a:p>
        </p:txBody>
      </p:sp>
      <p:sp>
        <p:nvSpPr>
          <p:cNvPr id="19" name="Text 16"/>
          <p:cNvSpPr txBox="1"/>
          <p:nvPr/>
        </p:nvSpPr>
        <p:spPr>
          <a:xfrm>
            <a:off x="4135701"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check command</a:t>
            </a:r>
            <a:endParaRPr lang="en-US" sz="1200" dirty="0"/>
          </a:p>
        </p:txBody>
      </p:sp>
      <p:sp>
        <p:nvSpPr>
          <p:cNvPr id="20" name="Shape 17"/>
          <p:cNvSpPr/>
          <p:nvPr/>
        </p:nvSpPr>
        <p:spPr>
          <a:xfrm>
            <a:off x="5118027" y="1897380"/>
            <a:ext cx="109728" cy="0"/>
          </a:xfrm>
          <a:prstGeom prst="line">
            <a:avLst/>
          </a:prstGeom>
          <a:noFill/>
          <a:ln w="19050">
            <a:solidFill>
              <a:schemeClr val="tx2"/>
            </a:solidFill>
            <a:prstDash val="solid"/>
            <a:tailEnd type="triangle"/>
          </a:ln>
        </p:spPr>
        <p:txBody>
          <a:bodyPr/>
          <a:lstStyle/>
          <a:p>
            <a:endParaRPr lang="en-US"/>
          </a:p>
        </p:txBody>
      </p:sp>
      <p:sp>
        <p:nvSpPr>
          <p:cNvPr id="21" name="step Commit"/>
          <p:cNvSpPr/>
          <p:nvPr/>
        </p:nvSpPr>
        <p:spPr>
          <a:xfrm>
            <a:off x="5264331" y="1234440"/>
            <a:ext cx="1018903" cy="1325880"/>
          </a:xfrm>
          <a:prstGeom prst="roundRect">
            <a:avLst>
              <a:gd name="adj" fmla="val 7179"/>
            </a:avLst>
          </a:prstGeom>
          <a:solidFill>
            <a:schemeClr val="bg2"/>
          </a:solidFill>
          <a:ln/>
        </p:spPr>
        <p:txBody>
          <a:bodyPr/>
          <a:lstStyle/>
          <a:p>
            <a:endParaRPr lang="en-US"/>
          </a:p>
        </p:txBody>
      </p:sp>
      <p:sp>
        <p:nvSpPr>
          <p:cNvPr id="22" name="Text 19"/>
          <p:cNvSpPr txBox="1"/>
          <p:nvPr/>
        </p:nvSpPr>
        <p:spPr>
          <a:xfrm>
            <a:off x="5337483"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Commit</a:t>
            </a:r>
            <a:endParaRPr lang="en-US" sz="1400" dirty="0"/>
          </a:p>
        </p:txBody>
      </p:sp>
      <p:sp>
        <p:nvSpPr>
          <p:cNvPr id="23" name="Text 20"/>
          <p:cNvSpPr txBox="1"/>
          <p:nvPr/>
        </p:nvSpPr>
        <p:spPr>
          <a:xfrm>
            <a:off x="5337483"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each step</a:t>
            </a:r>
            <a:endParaRPr lang="en-US" sz="1200" dirty="0"/>
          </a:p>
        </p:txBody>
      </p:sp>
      <p:sp>
        <p:nvSpPr>
          <p:cNvPr id="24" name="Shape 21"/>
          <p:cNvSpPr/>
          <p:nvPr/>
        </p:nvSpPr>
        <p:spPr>
          <a:xfrm>
            <a:off x="6319810" y="1897380"/>
            <a:ext cx="109728" cy="0"/>
          </a:xfrm>
          <a:prstGeom prst="line">
            <a:avLst/>
          </a:prstGeom>
          <a:noFill/>
          <a:ln w="19050">
            <a:solidFill>
              <a:schemeClr val="tx2"/>
            </a:solidFill>
            <a:prstDash val="solid"/>
            <a:tailEnd type="triangle"/>
          </a:ln>
        </p:spPr>
        <p:txBody>
          <a:bodyPr/>
          <a:lstStyle/>
          <a:p>
            <a:endParaRPr lang="en-US"/>
          </a:p>
        </p:txBody>
      </p:sp>
      <p:sp>
        <p:nvSpPr>
          <p:cNvPr id="25" name="step PR"/>
          <p:cNvSpPr/>
          <p:nvPr/>
        </p:nvSpPr>
        <p:spPr>
          <a:xfrm>
            <a:off x="6466114" y="1234440"/>
            <a:ext cx="1018903" cy="1325880"/>
          </a:xfrm>
          <a:prstGeom prst="roundRect">
            <a:avLst>
              <a:gd name="adj" fmla="val 7179"/>
            </a:avLst>
          </a:prstGeom>
          <a:solidFill>
            <a:schemeClr val="bg2"/>
          </a:solidFill>
          <a:ln/>
        </p:spPr>
        <p:txBody>
          <a:bodyPr/>
          <a:lstStyle/>
          <a:p>
            <a:endParaRPr lang="en-US"/>
          </a:p>
        </p:txBody>
      </p:sp>
      <p:sp>
        <p:nvSpPr>
          <p:cNvPr id="26" name="Text 23"/>
          <p:cNvSpPr txBox="1"/>
          <p:nvPr/>
        </p:nvSpPr>
        <p:spPr>
          <a:xfrm>
            <a:off x="6539266"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PR</a:t>
            </a:r>
            <a:endParaRPr lang="en-US" sz="1400" dirty="0"/>
          </a:p>
        </p:txBody>
      </p:sp>
      <p:sp>
        <p:nvSpPr>
          <p:cNvPr id="27" name="Text 24"/>
          <p:cNvSpPr txBox="1"/>
          <p:nvPr/>
        </p:nvSpPr>
        <p:spPr>
          <a:xfrm>
            <a:off x="6539266"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review</a:t>
            </a:r>
            <a:endParaRPr lang="en-US" sz="1200" dirty="0"/>
          </a:p>
        </p:txBody>
      </p:sp>
      <p:sp>
        <p:nvSpPr>
          <p:cNvPr id="28" name="Shape 25"/>
          <p:cNvSpPr/>
          <p:nvPr/>
        </p:nvSpPr>
        <p:spPr>
          <a:xfrm>
            <a:off x="7521593" y="1897380"/>
            <a:ext cx="109728" cy="0"/>
          </a:xfrm>
          <a:prstGeom prst="line">
            <a:avLst/>
          </a:prstGeom>
          <a:noFill/>
          <a:ln w="19050">
            <a:solidFill>
              <a:schemeClr val="tx2"/>
            </a:solidFill>
            <a:prstDash val="solid"/>
            <a:tailEnd type="triangle"/>
          </a:ln>
        </p:spPr>
        <p:txBody>
          <a:bodyPr/>
          <a:lstStyle/>
          <a:p>
            <a:endParaRPr lang="en-US"/>
          </a:p>
        </p:txBody>
      </p:sp>
      <p:sp>
        <p:nvSpPr>
          <p:cNvPr id="29" name="step Deploy"/>
          <p:cNvSpPr/>
          <p:nvPr/>
        </p:nvSpPr>
        <p:spPr>
          <a:xfrm>
            <a:off x="7667897" y="1234440"/>
            <a:ext cx="1018903" cy="1325880"/>
          </a:xfrm>
          <a:prstGeom prst="roundRect">
            <a:avLst>
              <a:gd name="adj" fmla="val 7179"/>
            </a:avLst>
          </a:prstGeom>
          <a:solidFill>
            <a:schemeClr val="bg2"/>
          </a:solidFill>
          <a:ln/>
        </p:spPr>
        <p:txBody>
          <a:bodyPr/>
          <a:lstStyle/>
          <a:p>
            <a:endParaRPr lang="en-US"/>
          </a:p>
        </p:txBody>
      </p:sp>
      <p:sp>
        <p:nvSpPr>
          <p:cNvPr id="30" name="Text 27"/>
          <p:cNvSpPr txBox="1"/>
          <p:nvPr/>
        </p:nvSpPr>
        <p:spPr>
          <a:xfrm>
            <a:off x="7741049" y="1371600"/>
            <a:ext cx="872599" cy="502920"/>
          </a:xfrm>
          <a:prstGeom prst="rect">
            <a:avLst/>
          </a:prstGeom>
          <a:noFill/>
          <a:ln/>
        </p:spPr>
        <p:txBody>
          <a:bodyPr wrap="square" lIns="0" tIns="0" rIns="0" bIns="0" rtlCol="0" anchor="t"/>
          <a:lstStyle/>
          <a:p>
            <a:pPr marL="0" indent="0" algn="ctr">
              <a:buNone/>
            </a:pPr>
            <a:r>
              <a:rPr lang="en-US" sz="1400" b="1" dirty="0">
                <a:solidFill>
                  <a:schemeClr val="tx1"/>
                </a:solidFill>
              </a:rPr>
              <a:t>Deploy</a:t>
            </a:r>
            <a:endParaRPr lang="en-US" sz="1400" dirty="0"/>
          </a:p>
        </p:txBody>
      </p:sp>
      <p:sp>
        <p:nvSpPr>
          <p:cNvPr id="31" name="Text 28"/>
          <p:cNvSpPr txBox="1"/>
          <p:nvPr/>
        </p:nvSpPr>
        <p:spPr>
          <a:xfrm>
            <a:off x="7741049" y="1920240"/>
            <a:ext cx="872599" cy="566928"/>
          </a:xfrm>
          <a:prstGeom prst="rect">
            <a:avLst/>
          </a:prstGeom>
          <a:noFill/>
          <a:ln/>
        </p:spPr>
        <p:txBody>
          <a:bodyPr wrap="square" lIns="0" tIns="0" rIns="0" bIns="0" rtlCol="0" anchor="t"/>
          <a:lstStyle/>
          <a:p>
            <a:pPr marL="0" indent="0" algn="ctr">
              <a:buNone/>
            </a:pPr>
            <a:r>
              <a:rPr lang="en-US" sz="1200" dirty="0">
                <a:solidFill>
                  <a:schemeClr val="tx2"/>
                </a:solidFill>
              </a:rPr>
              <a:t>push to main</a:t>
            </a:r>
            <a:endParaRPr lang="en-US" sz="1200" dirty="0"/>
          </a:p>
        </p:txBody>
      </p:sp>
      <p:sp>
        <p:nvSpPr>
          <p:cNvPr id="32" name="callout"/>
          <p:cNvSpPr/>
          <p:nvPr/>
        </p:nvSpPr>
        <p:spPr>
          <a:xfrm>
            <a:off x="457200" y="3017520"/>
            <a:ext cx="8229600" cy="685800"/>
          </a:xfrm>
          <a:prstGeom prst="roundRect">
            <a:avLst>
              <a:gd name="adj" fmla="val 10667"/>
            </a:avLst>
          </a:prstGeom>
          <a:solidFill>
            <a:schemeClr val="tx1"/>
          </a:solidFill>
          <a:ln/>
        </p:spPr>
        <p:txBody>
          <a:bodyPr/>
          <a:lstStyle/>
          <a:p>
            <a:endParaRPr lang="en-US"/>
          </a:p>
        </p:txBody>
      </p:sp>
      <p:sp>
        <p:nvSpPr>
          <p:cNvPr id="33" name="callout text"/>
          <p:cNvSpPr txBox="1"/>
          <p:nvPr/>
        </p:nvSpPr>
        <p:spPr>
          <a:xfrm>
            <a:off x="685800" y="3017520"/>
            <a:ext cx="7772400" cy="685800"/>
          </a:xfrm>
          <a:prstGeom prst="rect">
            <a:avLst/>
          </a:prstGeom>
          <a:noFill/>
          <a:ln/>
        </p:spPr>
        <p:txBody>
          <a:bodyPr wrap="square" lIns="0" tIns="0" rIns="0" bIns="0" rtlCol="0" anchor="ctr"/>
          <a:lstStyle/>
          <a:p>
            <a:pPr marL="0" indent="0" algn="l">
              <a:buNone/>
            </a:pPr>
            <a:r>
              <a:rPr lang="en-US" sz="1600" dirty="0">
                <a:solidFill>
                  <a:schemeClr val="bg1"/>
                </a:solidFill>
              </a:rPr>
              <a:t>Pairs: one drives, one reviews. Swap after every feature.</a:t>
            </a:r>
            <a:endParaRPr lang="en-US" sz="16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I do: the one-shot build</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8</a:t>
            </a:r>
            <a:endParaRPr lang="en-US" sz="1200" dirty="0"/>
          </a:p>
        </p:txBody>
      </p:sp>
      <p:sp>
        <p:nvSpPr>
          <p:cNvPr id="5" name="number 1"/>
          <p:cNvSpPr txBox="1"/>
          <p:nvPr/>
        </p:nvSpPr>
        <p:spPr>
          <a:xfrm>
            <a:off x="457200" y="12344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6" name="Text 3"/>
          <p:cNvSpPr txBox="1"/>
          <p:nvPr/>
        </p:nvSpPr>
        <p:spPr>
          <a:xfrm>
            <a:off x="960120" y="1216152"/>
            <a:ext cx="3703320" cy="502920"/>
          </a:xfrm>
          <a:prstGeom prst="rect">
            <a:avLst/>
          </a:prstGeom>
          <a:noFill/>
          <a:ln/>
        </p:spPr>
        <p:txBody>
          <a:bodyPr wrap="square" lIns="0" tIns="0" rIns="0" bIns="0" rtlCol="0" anchor="t"/>
          <a:lstStyle/>
          <a:p>
            <a:pPr marL="0" indent="0">
              <a:buNone/>
            </a:pPr>
            <a:r>
              <a:rPr lang="en-US" sz="1500" dirty="0">
                <a:solidFill>
                  <a:schemeClr val="tx1"/>
                </a:solidFill>
              </a:rPr>
              <a:t>Commit everything on main, start claude</a:t>
            </a:r>
            <a:endParaRPr lang="en-US" sz="1500" dirty="0"/>
          </a:p>
        </p:txBody>
      </p:sp>
      <p:sp>
        <p:nvSpPr>
          <p:cNvPr id="7" name="number 2"/>
          <p:cNvSpPr txBox="1"/>
          <p:nvPr/>
        </p:nvSpPr>
        <p:spPr>
          <a:xfrm>
            <a:off x="457200" y="178308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8" name="Text 5"/>
          <p:cNvSpPr txBox="1"/>
          <p:nvPr/>
        </p:nvSpPr>
        <p:spPr>
          <a:xfrm>
            <a:off x="960120" y="1764792"/>
            <a:ext cx="3703320" cy="502920"/>
          </a:xfrm>
          <a:prstGeom prst="rect">
            <a:avLst/>
          </a:prstGeom>
          <a:noFill/>
          <a:ln/>
        </p:spPr>
        <p:txBody>
          <a:bodyPr wrap="square" lIns="0" tIns="0" rIns="0" bIns="0" rtlCol="0" anchor="t"/>
          <a:lstStyle/>
          <a:p>
            <a:pPr marL="0" indent="0">
              <a:buNone/>
            </a:pPr>
            <a:r>
              <a:rPr lang="en-US" sz="1500" dirty="0">
                <a:solidFill>
                  <a:schemeClr val="tx1"/>
                </a:solidFill>
              </a:rPr>
              <a:t>Paste the prompt from docs/prompt.md</a:t>
            </a:r>
            <a:endParaRPr lang="en-US" sz="1500" dirty="0"/>
          </a:p>
        </p:txBody>
      </p:sp>
      <p:sp>
        <p:nvSpPr>
          <p:cNvPr id="9" name="number 3"/>
          <p:cNvSpPr txBox="1"/>
          <p:nvPr/>
        </p:nvSpPr>
        <p:spPr>
          <a:xfrm>
            <a:off x="457200" y="233172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0" name="Text 7"/>
          <p:cNvSpPr txBox="1"/>
          <p:nvPr/>
        </p:nvSpPr>
        <p:spPr>
          <a:xfrm>
            <a:off x="960120" y="2313432"/>
            <a:ext cx="3703320" cy="502920"/>
          </a:xfrm>
          <a:prstGeom prst="rect">
            <a:avLst/>
          </a:prstGeom>
          <a:noFill/>
          <a:ln/>
        </p:spPr>
        <p:txBody>
          <a:bodyPr wrap="square" lIns="0" tIns="0" rIns="0" bIns="0" rtlCol="0" anchor="t"/>
          <a:lstStyle/>
          <a:p>
            <a:pPr marL="0" indent="0">
              <a:buNone/>
            </a:pPr>
            <a:r>
              <a:rPr lang="en-US" sz="1500" dirty="0">
                <a:solidFill>
                  <a:schemeClr val="tx1"/>
                </a:solidFill>
              </a:rPr>
              <a:t>Read the plan, reply: go ahead</a:t>
            </a:r>
            <a:endParaRPr lang="en-US" sz="1500" dirty="0"/>
          </a:p>
        </p:txBody>
      </p:sp>
      <p:sp>
        <p:nvSpPr>
          <p:cNvPr id="11" name="number 4"/>
          <p:cNvSpPr txBox="1"/>
          <p:nvPr/>
        </p:nvSpPr>
        <p:spPr>
          <a:xfrm>
            <a:off x="457200" y="288036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2" name="Text 9"/>
          <p:cNvSpPr txBox="1"/>
          <p:nvPr/>
        </p:nvSpPr>
        <p:spPr>
          <a:xfrm>
            <a:off x="960120" y="2862072"/>
            <a:ext cx="3703320" cy="502920"/>
          </a:xfrm>
          <a:prstGeom prst="rect">
            <a:avLst/>
          </a:prstGeom>
          <a:noFill/>
          <a:ln/>
        </p:spPr>
        <p:txBody>
          <a:bodyPr wrap="square" lIns="0" tIns="0" rIns="0" bIns="0" rtlCol="0" anchor="t"/>
          <a:lstStyle/>
          <a:p>
            <a:pPr marL="0" indent="0">
              <a:buNone/>
            </a:pPr>
            <a:r>
              <a:rPr lang="en-US" sz="1500" dirty="0">
                <a:solidFill>
                  <a:schemeClr val="tx1"/>
                </a:solidFill>
              </a:rPr>
              <a:t>Look at the page, reply: merge</a:t>
            </a:r>
            <a:endParaRPr lang="en-US" sz="1500" dirty="0"/>
          </a:p>
        </p:txBody>
      </p:sp>
      <p:sp>
        <p:nvSpPr>
          <p:cNvPr id="13" name="number 5"/>
          <p:cNvSpPr txBox="1"/>
          <p:nvPr/>
        </p:nvSpPr>
        <p:spPr>
          <a:xfrm>
            <a:off x="457200" y="342900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14" name="Text 11"/>
          <p:cNvSpPr txBox="1"/>
          <p:nvPr/>
        </p:nvSpPr>
        <p:spPr>
          <a:xfrm>
            <a:off x="960120" y="3410712"/>
            <a:ext cx="3703320" cy="502920"/>
          </a:xfrm>
          <a:prstGeom prst="rect">
            <a:avLst/>
          </a:prstGeom>
          <a:noFill/>
          <a:ln/>
        </p:spPr>
        <p:txBody>
          <a:bodyPr wrap="square" lIns="0" tIns="0" rIns="0" bIns="0" rtlCol="0" anchor="t"/>
          <a:lstStyle/>
          <a:p>
            <a:pPr marL="0" indent="0">
              <a:buNone/>
            </a:pPr>
            <a:r>
              <a:rPr lang="en-US" sz="1500" dirty="0">
                <a:solidFill>
                  <a:schemeClr val="tx1"/>
                </a:solidFill>
              </a:rPr>
              <a:t>Settings &gt; Pages &gt; Source: GitHub Actions</a:t>
            </a:r>
            <a:endParaRPr lang="en-US" sz="1500" dirty="0"/>
          </a:p>
        </p:txBody>
      </p:sp>
      <p:sp>
        <p:nvSpPr>
          <p:cNvPr id="15" name="number 6"/>
          <p:cNvSpPr txBox="1"/>
          <p:nvPr/>
        </p:nvSpPr>
        <p:spPr>
          <a:xfrm>
            <a:off x="457200" y="3977640"/>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6</a:t>
            </a:r>
            <a:endParaRPr lang="en-US" sz="1400" dirty="0"/>
          </a:p>
        </p:txBody>
      </p:sp>
      <p:sp>
        <p:nvSpPr>
          <p:cNvPr id="16" name="Text 13"/>
          <p:cNvSpPr txBox="1"/>
          <p:nvPr/>
        </p:nvSpPr>
        <p:spPr>
          <a:xfrm>
            <a:off x="960120" y="3959352"/>
            <a:ext cx="3703320" cy="502920"/>
          </a:xfrm>
          <a:prstGeom prst="rect">
            <a:avLst/>
          </a:prstGeom>
          <a:noFill/>
          <a:ln/>
        </p:spPr>
        <p:txBody>
          <a:bodyPr wrap="square" lIns="0" tIns="0" rIns="0" bIns="0" rtlCol="0" anchor="t"/>
          <a:lstStyle/>
          <a:p>
            <a:pPr marL="0" indent="0">
              <a:buNone/>
            </a:pPr>
            <a:r>
              <a:rPr lang="en-US" sz="1500" dirty="0">
                <a:solidFill>
                  <a:schemeClr val="tx1"/>
                </a:solidFill>
              </a:rPr>
              <a:t>git push, then open your live URL</a:t>
            </a:r>
            <a:endParaRPr lang="en-US" sz="1500" dirty="0"/>
          </a:p>
        </p:txBody>
      </p:sp>
      <p:sp>
        <p:nvSpPr>
          <p:cNvPr id="17" name="code box"/>
          <p:cNvSpPr/>
          <p:nvPr/>
        </p:nvSpPr>
        <p:spPr>
          <a:xfrm>
            <a:off x="4846320" y="1188720"/>
            <a:ext cx="3840480" cy="2194560"/>
          </a:xfrm>
          <a:prstGeom prst="roundRect">
            <a:avLst>
              <a:gd name="adj" fmla="val 3333"/>
            </a:avLst>
          </a:prstGeom>
          <a:solidFill>
            <a:schemeClr val="tx1"/>
          </a:solidFill>
          <a:ln/>
        </p:spPr>
        <p:txBody>
          <a:bodyPr/>
          <a:lstStyle/>
          <a:p>
            <a:endParaRPr lang="en-US"/>
          </a:p>
        </p:txBody>
      </p:sp>
      <p:sp>
        <p:nvSpPr>
          <p:cNvPr id="18" name="Text 15"/>
          <p:cNvSpPr txBox="1"/>
          <p:nvPr/>
        </p:nvSpPr>
        <p:spPr>
          <a:xfrm>
            <a:off x="5047488" y="1353312"/>
            <a:ext cx="3438144" cy="1865376"/>
          </a:xfrm>
          <a:prstGeom prst="rect">
            <a:avLst/>
          </a:prstGeom>
          <a:noFill/>
          <a:ln/>
        </p:spPr>
        <p:txBody>
          <a:bodyPr wrap="square" lIns="0" tIns="0" rIns="0" bIns="0" rtlCol="0" anchor="t"/>
          <a:lstStyle/>
          <a:p>
            <a:pPr marL="0" indent="0">
              <a:buNone/>
            </a:pPr>
            <a:r>
              <a:rPr lang="en-US" sz="1400" dirty="0">
                <a:solidFill>
                  <a:schemeClr val="bg1"/>
                </a:solidFill>
                <a:latin typeface="Courier New" pitchFamily="34" charset="0"/>
                <a:ea typeface="Courier New" pitchFamily="34" charset="-122"/>
                <a:cs typeface="Courier New" pitchFamily="34" charset="-120"/>
              </a:rPr>
              <a:t>/new-feature Build the first</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version of Penguin Data</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Explorer from</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data/penguins.csv, following</a:t>
            </a:r>
            <a:endParaRPr lang="en-US" sz="1400" dirty="0"/>
          </a:p>
          <a:p>
            <a:pPr marL="0" indent="0">
              <a:buNone/>
            </a:pPr>
            <a:r>
              <a:rPr lang="en-US" sz="1400" dirty="0">
                <a:solidFill>
                  <a:schemeClr val="bg1"/>
                </a:solidFill>
                <a:latin typeface="Courier New" pitchFamily="34" charset="0"/>
                <a:ea typeface="Courier New" pitchFamily="34" charset="-122"/>
                <a:cs typeface="Courier New" pitchFamily="34" charset="-120"/>
              </a:rPr>
              <a:t>CLAUDE.md. ...</a:t>
            </a:r>
            <a:endParaRPr lang="en-US" sz="1400" dirty="0"/>
          </a:p>
        </p:txBody>
      </p:sp>
      <p:sp>
        <p:nvSpPr>
          <p:cNvPr id="19" name="Text 16"/>
          <p:cNvSpPr txBox="1"/>
          <p:nvPr/>
        </p:nvSpPr>
        <p:spPr>
          <a:xfrm>
            <a:off x="4846320" y="3456432"/>
            <a:ext cx="3840480" cy="274320"/>
          </a:xfrm>
          <a:prstGeom prst="rect">
            <a:avLst/>
          </a:prstGeom>
          <a:noFill/>
          <a:ln/>
        </p:spPr>
        <p:txBody>
          <a:bodyPr wrap="square" lIns="0" tIns="0" rIns="0" bIns="0" rtlCol="0" anchor="ctr"/>
          <a:lstStyle/>
          <a:p>
            <a:pPr marL="0" indent="0">
              <a:buNone/>
            </a:pPr>
            <a:r>
              <a:rPr lang="en-US" sz="1100" i="1" dirty="0">
                <a:solidFill>
                  <a:schemeClr val="tx2"/>
                </a:solidFill>
              </a:rPr>
              <a:t>Full prompt: docs/prompt.md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You do, in pairs: make it yours</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8</a:t>
            </a:r>
            <a:endParaRPr lang="en-US" sz="1200" dirty="0"/>
          </a:p>
        </p:txBody>
      </p:sp>
      <p:sp>
        <p:nvSpPr>
          <p:cNvPr id="5" name="card Filters"/>
          <p:cNvSpPr/>
          <p:nvPr/>
        </p:nvSpPr>
        <p:spPr>
          <a:xfrm>
            <a:off x="457200" y="1188720"/>
            <a:ext cx="2606040" cy="1280160"/>
          </a:xfrm>
          <a:prstGeom prst="roundRect">
            <a:avLst>
              <a:gd name="adj" fmla="val 5714"/>
            </a:avLst>
          </a:prstGeom>
          <a:solidFill>
            <a:schemeClr val="bg2"/>
          </a:solidFill>
          <a:ln/>
        </p:spPr>
        <p:txBody>
          <a:bodyPr/>
          <a:lstStyle/>
          <a:p>
            <a:endParaRPr lang="en-US"/>
          </a:p>
        </p:txBody>
      </p:sp>
      <p:sp>
        <p:nvSpPr>
          <p:cNvPr id="6" name="Text 3"/>
          <p:cNvSpPr txBox="1"/>
          <p:nvPr/>
        </p:nvSpPr>
        <p:spPr>
          <a:xfrm>
            <a:off x="658368" y="1353312"/>
            <a:ext cx="2203704" cy="365760"/>
          </a:xfrm>
          <a:prstGeom prst="rect">
            <a:avLst/>
          </a:prstGeom>
          <a:noFill/>
          <a:ln/>
        </p:spPr>
        <p:txBody>
          <a:bodyPr wrap="square" lIns="0" tIns="0" rIns="0" bIns="0" rtlCol="0" anchor="t"/>
          <a:lstStyle/>
          <a:p>
            <a:pPr marL="0" indent="0">
              <a:buNone/>
            </a:pPr>
            <a:r>
              <a:rPr lang="en-US" sz="1600" b="1" dirty="0">
                <a:solidFill>
                  <a:schemeClr val="tx1"/>
                </a:solidFill>
              </a:rPr>
              <a:t>Filters</a:t>
            </a:r>
            <a:endParaRPr lang="en-US" sz="1600" dirty="0"/>
          </a:p>
        </p:txBody>
      </p:sp>
      <p:sp>
        <p:nvSpPr>
          <p:cNvPr id="7" name="Text 4"/>
          <p:cNvSpPr txBox="1"/>
          <p:nvPr/>
        </p:nvSpPr>
        <p:spPr>
          <a:xfrm>
            <a:off x="658368" y="1764792"/>
            <a:ext cx="2203704" cy="594360"/>
          </a:xfrm>
          <a:prstGeom prst="rect">
            <a:avLst/>
          </a:prstGeom>
          <a:noFill/>
          <a:ln/>
        </p:spPr>
        <p:txBody>
          <a:bodyPr wrap="square" lIns="0" tIns="0" rIns="0" bIns="0" rtlCol="0" anchor="t"/>
          <a:lstStyle/>
          <a:p>
            <a:pPr marL="0" indent="0">
              <a:buNone/>
            </a:pPr>
            <a:r>
              <a:rPr lang="en-US" sz="1600" dirty="0">
                <a:solidFill>
                  <a:schemeClr val="tx2"/>
                </a:solidFill>
              </a:rPr>
              <a:t>By island and by sex</a:t>
            </a:r>
            <a:endParaRPr lang="en-US" sz="1600" dirty="0"/>
          </a:p>
        </p:txBody>
      </p:sp>
      <p:sp>
        <p:nvSpPr>
          <p:cNvPr id="8" name="card Histogram"/>
          <p:cNvSpPr/>
          <p:nvPr/>
        </p:nvSpPr>
        <p:spPr>
          <a:xfrm>
            <a:off x="3268980" y="1188720"/>
            <a:ext cx="2606040" cy="1280160"/>
          </a:xfrm>
          <a:prstGeom prst="roundRect">
            <a:avLst>
              <a:gd name="adj" fmla="val 5714"/>
            </a:avLst>
          </a:prstGeom>
          <a:solidFill>
            <a:schemeClr val="bg2"/>
          </a:solidFill>
          <a:ln/>
        </p:spPr>
        <p:txBody>
          <a:bodyPr/>
          <a:lstStyle/>
          <a:p>
            <a:endParaRPr lang="en-US"/>
          </a:p>
        </p:txBody>
      </p:sp>
      <p:sp>
        <p:nvSpPr>
          <p:cNvPr id="9" name="Text 6"/>
          <p:cNvSpPr txBox="1"/>
          <p:nvPr/>
        </p:nvSpPr>
        <p:spPr>
          <a:xfrm>
            <a:off x="3470148" y="1353312"/>
            <a:ext cx="2203704" cy="365760"/>
          </a:xfrm>
          <a:prstGeom prst="rect">
            <a:avLst/>
          </a:prstGeom>
          <a:noFill/>
          <a:ln/>
        </p:spPr>
        <p:txBody>
          <a:bodyPr wrap="square" lIns="0" tIns="0" rIns="0" bIns="0" rtlCol="0" anchor="t"/>
          <a:lstStyle/>
          <a:p>
            <a:pPr marL="0" indent="0">
              <a:buNone/>
            </a:pPr>
            <a:r>
              <a:rPr lang="en-US" sz="1600" b="1" dirty="0">
                <a:solidFill>
                  <a:schemeClr val="tx1"/>
                </a:solidFill>
              </a:rPr>
              <a:t>Histogram</a:t>
            </a:r>
            <a:endParaRPr lang="en-US" sz="1600" dirty="0"/>
          </a:p>
        </p:txBody>
      </p:sp>
      <p:sp>
        <p:nvSpPr>
          <p:cNvPr id="10" name="Text 7"/>
          <p:cNvSpPr txBox="1"/>
          <p:nvPr/>
        </p:nvSpPr>
        <p:spPr>
          <a:xfrm>
            <a:off x="3470148" y="1764792"/>
            <a:ext cx="2203704" cy="594360"/>
          </a:xfrm>
          <a:prstGeom prst="rect">
            <a:avLst/>
          </a:prstGeom>
          <a:noFill/>
          <a:ln/>
        </p:spPr>
        <p:txBody>
          <a:bodyPr wrap="square" lIns="0" tIns="0" rIns="0" bIns="0" rtlCol="0" anchor="t"/>
          <a:lstStyle/>
          <a:p>
            <a:pPr marL="0" indent="0">
              <a:buNone/>
            </a:pPr>
            <a:r>
              <a:rPr lang="en-US" sz="1600" dirty="0">
                <a:solidFill>
                  <a:schemeClr val="tx2"/>
                </a:solidFill>
              </a:rPr>
              <a:t>Body mass by species</a:t>
            </a:r>
            <a:endParaRPr lang="en-US" sz="1600" dirty="0"/>
          </a:p>
        </p:txBody>
      </p:sp>
      <p:sp>
        <p:nvSpPr>
          <p:cNvPr id="11" name="card Over time"/>
          <p:cNvSpPr/>
          <p:nvPr/>
        </p:nvSpPr>
        <p:spPr>
          <a:xfrm>
            <a:off x="6080760" y="1188720"/>
            <a:ext cx="2606040" cy="1280160"/>
          </a:xfrm>
          <a:prstGeom prst="roundRect">
            <a:avLst>
              <a:gd name="adj" fmla="val 5714"/>
            </a:avLst>
          </a:prstGeom>
          <a:solidFill>
            <a:schemeClr val="bg2"/>
          </a:solidFill>
          <a:ln/>
        </p:spPr>
        <p:txBody>
          <a:bodyPr/>
          <a:lstStyle/>
          <a:p>
            <a:endParaRPr lang="en-US"/>
          </a:p>
        </p:txBody>
      </p:sp>
      <p:sp>
        <p:nvSpPr>
          <p:cNvPr id="12" name="Text 9"/>
          <p:cNvSpPr txBox="1"/>
          <p:nvPr/>
        </p:nvSpPr>
        <p:spPr>
          <a:xfrm>
            <a:off x="6281928" y="1353312"/>
            <a:ext cx="2203704" cy="365760"/>
          </a:xfrm>
          <a:prstGeom prst="rect">
            <a:avLst/>
          </a:prstGeom>
          <a:noFill/>
          <a:ln/>
        </p:spPr>
        <p:txBody>
          <a:bodyPr wrap="square" lIns="0" tIns="0" rIns="0" bIns="0" rtlCol="0" anchor="t"/>
          <a:lstStyle/>
          <a:p>
            <a:pPr marL="0" indent="0">
              <a:buNone/>
            </a:pPr>
            <a:r>
              <a:rPr lang="en-US" sz="1600" b="1" dirty="0">
                <a:solidFill>
                  <a:schemeClr val="tx1"/>
                </a:solidFill>
              </a:rPr>
              <a:t>Over time</a:t>
            </a:r>
            <a:endParaRPr lang="en-US" sz="1600" dirty="0"/>
          </a:p>
        </p:txBody>
      </p:sp>
      <p:sp>
        <p:nvSpPr>
          <p:cNvPr id="13" name="Text 10"/>
          <p:cNvSpPr txBox="1"/>
          <p:nvPr/>
        </p:nvSpPr>
        <p:spPr>
          <a:xfrm>
            <a:off x="6281928" y="1764792"/>
            <a:ext cx="2203704" cy="594360"/>
          </a:xfrm>
          <a:prstGeom prst="rect">
            <a:avLst/>
          </a:prstGeom>
          <a:noFill/>
          <a:ln/>
        </p:spPr>
        <p:txBody>
          <a:bodyPr wrap="square" lIns="0" tIns="0" rIns="0" bIns="0" rtlCol="0" anchor="t"/>
          <a:lstStyle/>
          <a:p>
            <a:pPr marL="0" indent="0">
              <a:buNone/>
            </a:pPr>
            <a:r>
              <a:rPr lang="en-US" sz="1600" dirty="0">
                <a:solidFill>
                  <a:schemeClr val="tx2"/>
                </a:solidFill>
              </a:rPr>
              <a:t>Compare 2007, 2008, 2009</a:t>
            </a:r>
            <a:endParaRPr lang="en-US" sz="1600" dirty="0"/>
          </a:p>
        </p:txBody>
      </p:sp>
      <p:sp>
        <p:nvSpPr>
          <p:cNvPr id="14" name="card Download"/>
          <p:cNvSpPr/>
          <p:nvPr/>
        </p:nvSpPr>
        <p:spPr>
          <a:xfrm>
            <a:off x="457200" y="2651760"/>
            <a:ext cx="2606040" cy="1280160"/>
          </a:xfrm>
          <a:prstGeom prst="roundRect">
            <a:avLst>
              <a:gd name="adj" fmla="val 5714"/>
            </a:avLst>
          </a:prstGeom>
          <a:solidFill>
            <a:schemeClr val="bg2"/>
          </a:solidFill>
          <a:ln/>
        </p:spPr>
        <p:txBody>
          <a:bodyPr/>
          <a:lstStyle/>
          <a:p>
            <a:endParaRPr lang="en-US"/>
          </a:p>
        </p:txBody>
      </p:sp>
      <p:sp>
        <p:nvSpPr>
          <p:cNvPr id="15" name="Text 12"/>
          <p:cNvSpPr txBox="1"/>
          <p:nvPr/>
        </p:nvSpPr>
        <p:spPr>
          <a:xfrm>
            <a:off x="658368" y="28163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Download</a:t>
            </a:r>
            <a:endParaRPr lang="en-US" sz="1600" dirty="0"/>
          </a:p>
        </p:txBody>
      </p:sp>
      <p:sp>
        <p:nvSpPr>
          <p:cNvPr id="16" name="Text 13"/>
          <p:cNvSpPr txBox="1"/>
          <p:nvPr/>
        </p:nvSpPr>
        <p:spPr>
          <a:xfrm>
            <a:off x="658368" y="3227832"/>
            <a:ext cx="2203704" cy="594360"/>
          </a:xfrm>
          <a:prstGeom prst="rect">
            <a:avLst/>
          </a:prstGeom>
          <a:noFill/>
          <a:ln/>
        </p:spPr>
        <p:txBody>
          <a:bodyPr wrap="square" lIns="0" tIns="0" rIns="0" bIns="0" rtlCol="0" anchor="t"/>
          <a:lstStyle/>
          <a:p>
            <a:pPr marL="0" indent="0">
              <a:buNone/>
            </a:pPr>
            <a:r>
              <a:rPr lang="en-US" sz="1600" dirty="0">
                <a:solidFill>
                  <a:schemeClr val="tx2"/>
                </a:solidFill>
              </a:rPr>
              <a:t>Filtered rows as a CSV file</a:t>
            </a:r>
            <a:endParaRPr lang="en-US" sz="1600" dirty="0"/>
          </a:p>
        </p:txBody>
      </p:sp>
      <p:sp>
        <p:nvSpPr>
          <p:cNvPr id="17" name="card Dark mode"/>
          <p:cNvSpPr/>
          <p:nvPr/>
        </p:nvSpPr>
        <p:spPr>
          <a:xfrm>
            <a:off x="3268980" y="2651760"/>
            <a:ext cx="2606040" cy="1280160"/>
          </a:xfrm>
          <a:prstGeom prst="roundRect">
            <a:avLst>
              <a:gd name="adj" fmla="val 5714"/>
            </a:avLst>
          </a:prstGeom>
          <a:solidFill>
            <a:schemeClr val="bg2"/>
          </a:solidFill>
          <a:ln/>
        </p:spPr>
        <p:txBody>
          <a:bodyPr/>
          <a:lstStyle/>
          <a:p>
            <a:endParaRPr lang="en-US"/>
          </a:p>
        </p:txBody>
      </p:sp>
      <p:sp>
        <p:nvSpPr>
          <p:cNvPr id="18" name="Text 15"/>
          <p:cNvSpPr txBox="1"/>
          <p:nvPr/>
        </p:nvSpPr>
        <p:spPr>
          <a:xfrm>
            <a:off x="3470148" y="28163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Dark mode</a:t>
            </a:r>
            <a:endParaRPr lang="en-US" sz="1600" dirty="0"/>
          </a:p>
        </p:txBody>
      </p:sp>
      <p:sp>
        <p:nvSpPr>
          <p:cNvPr id="19" name="Text 16"/>
          <p:cNvSpPr txBox="1"/>
          <p:nvPr/>
        </p:nvSpPr>
        <p:spPr>
          <a:xfrm>
            <a:off x="3470148" y="3227832"/>
            <a:ext cx="2203704" cy="594360"/>
          </a:xfrm>
          <a:prstGeom prst="rect">
            <a:avLst/>
          </a:prstGeom>
          <a:noFill/>
          <a:ln/>
        </p:spPr>
        <p:txBody>
          <a:bodyPr wrap="square" lIns="0" tIns="0" rIns="0" bIns="0" rtlCol="0" anchor="t"/>
          <a:lstStyle/>
          <a:p>
            <a:pPr marL="0" indent="0">
              <a:buNone/>
            </a:pPr>
            <a:r>
              <a:rPr lang="en-US" sz="1600" dirty="0">
                <a:solidFill>
                  <a:schemeClr val="tx2"/>
                </a:solidFill>
              </a:rPr>
              <a:t>Follow the system setting</a:t>
            </a:r>
            <a:endParaRPr lang="en-US" sz="1600" dirty="0"/>
          </a:p>
        </p:txBody>
      </p:sp>
      <p:sp>
        <p:nvSpPr>
          <p:cNvPr id="20" name="card Your own data"/>
          <p:cNvSpPr/>
          <p:nvPr/>
        </p:nvSpPr>
        <p:spPr>
          <a:xfrm>
            <a:off x="6080760" y="2651760"/>
            <a:ext cx="2606040" cy="1280160"/>
          </a:xfrm>
          <a:prstGeom prst="roundRect">
            <a:avLst>
              <a:gd name="adj" fmla="val 5714"/>
            </a:avLst>
          </a:prstGeom>
          <a:solidFill>
            <a:schemeClr val="bg2"/>
          </a:solidFill>
          <a:ln/>
        </p:spPr>
        <p:txBody>
          <a:bodyPr/>
          <a:lstStyle/>
          <a:p>
            <a:endParaRPr lang="en-US"/>
          </a:p>
        </p:txBody>
      </p:sp>
      <p:sp>
        <p:nvSpPr>
          <p:cNvPr id="21" name="Text 18"/>
          <p:cNvSpPr txBox="1"/>
          <p:nvPr/>
        </p:nvSpPr>
        <p:spPr>
          <a:xfrm>
            <a:off x="6281928" y="2816352"/>
            <a:ext cx="2203704" cy="365760"/>
          </a:xfrm>
          <a:prstGeom prst="rect">
            <a:avLst/>
          </a:prstGeom>
          <a:noFill/>
          <a:ln/>
        </p:spPr>
        <p:txBody>
          <a:bodyPr wrap="square" lIns="0" tIns="0" rIns="0" bIns="0" rtlCol="0" anchor="t"/>
          <a:lstStyle/>
          <a:p>
            <a:pPr marL="0" indent="0">
              <a:buNone/>
            </a:pPr>
            <a:r>
              <a:rPr lang="en-US" sz="1600" b="1" dirty="0">
                <a:solidFill>
                  <a:schemeClr val="tx1"/>
                </a:solidFill>
              </a:rPr>
              <a:t>Your own data</a:t>
            </a:r>
            <a:endParaRPr lang="en-US" sz="1600" dirty="0"/>
          </a:p>
        </p:txBody>
      </p:sp>
      <p:sp>
        <p:nvSpPr>
          <p:cNvPr id="22" name="Text 19"/>
          <p:cNvSpPr txBox="1"/>
          <p:nvPr/>
        </p:nvSpPr>
        <p:spPr>
          <a:xfrm>
            <a:off x="6281928" y="3227832"/>
            <a:ext cx="2203704" cy="594360"/>
          </a:xfrm>
          <a:prstGeom prst="rect">
            <a:avLst/>
          </a:prstGeom>
          <a:noFill/>
          <a:ln/>
        </p:spPr>
        <p:txBody>
          <a:bodyPr wrap="square" lIns="0" tIns="0" rIns="0" bIns="0" rtlCol="0" anchor="t"/>
          <a:lstStyle/>
          <a:p>
            <a:pPr marL="0" indent="0">
              <a:buNone/>
            </a:pPr>
            <a:r>
              <a:rPr lang="en-US" sz="1600" dirty="0">
                <a:solidFill>
                  <a:schemeClr val="tx2"/>
                </a:solidFill>
              </a:rPr>
              <a:t>Swap in a CSV you care about</a:t>
            </a:r>
            <a:endParaRPr lang="en-US" sz="1600" dirty="0"/>
          </a:p>
        </p:txBody>
      </p:sp>
      <p:sp>
        <p:nvSpPr>
          <p:cNvPr id="23" name="Text 20"/>
          <p:cNvSpPr txBox="1"/>
          <p:nvPr/>
        </p:nvSpPr>
        <p:spPr>
          <a:xfrm>
            <a:off x="457200" y="4206240"/>
            <a:ext cx="8229600" cy="365760"/>
          </a:xfrm>
          <a:prstGeom prst="rect">
            <a:avLst/>
          </a:prstGeom>
          <a:noFill/>
          <a:ln/>
        </p:spPr>
        <p:txBody>
          <a:bodyPr wrap="square" lIns="0" tIns="0" rIns="0" bIns="0" rtlCol="0" anchor="t"/>
          <a:lstStyle/>
          <a:p>
            <a:pPr marL="0" indent="0" algn="l">
              <a:buNone/>
            </a:pPr>
            <a:r>
              <a:rPr lang="en-US" sz="1400" i="1" dirty="0">
                <a:solidFill>
                  <a:schemeClr val="tx2"/>
                </a:solidFill>
              </a:rPr>
              <a:t>Each one: branch, plan, build, test, commit, PR, deploy.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block number"/>
          <p:cNvSpPr txBox="1"/>
          <p:nvPr/>
        </p:nvSpPr>
        <p:spPr>
          <a:xfrm>
            <a:off x="548640" y="1783080"/>
            <a:ext cx="1280160" cy="1280160"/>
          </a:xfrm>
          <a:prstGeom prst="roundRect">
            <a:avLst>
              <a:gd name="adj" fmla="val 8571"/>
            </a:avLst>
          </a:prstGeom>
          <a:solidFill>
            <a:schemeClr val="accent1"/>
          </a:solidFill>
          <a:ln/>
        </p:spPr>
        <p:txBody>
          <a:bodyPr wrap="square" lIns="0" tIns="0" rIns="0" bIns="0" rtlCol="0" anchor="ctr"/>
          <a:lstStyle/>
          <a:p>
            <a:pPr marL="0" indent="0" algn="ctr">
              <a:buNone/>
            </a:pPr>
            <a:r>
              <a:rPr lang="en-US" sz="6000" b="1" dirty="0">
                <a:solidFill>
                  <a:schemeClr val="tx1"/>
                </a:solidFill>
              </a:rPr>
              <a:t>9</a:t>
            </a:r>
            <a:endParaRPr lang="en-US" sz="6000" dirty="0"/>
          </a:p>
        </p:txBody>
      </p:sp>
      <p:sp>
        <p:nvSpPr>
          <p:cNvPr id="3" name="Text 0"/>
          <p:cNvSpPr>
            <a:spLocks noGrp="1"/>
          </p:cNvSpPr>
          <p:nvPr>
            <p:ph type="title" idx="100" hasCustomPrompt="1"/>
          </p:nvPr>
        </p:nvSpPr>
        <p:spPr>
          <a:xfrm>
            <a:off x="2103120" y="1783080"/>
            <a:ext cx="6583680" cy="777240"/>
          </a:xfrm>
          <a:prstGeom prst="rect">
            <a:avLst/>
          </a:prstGeom>
          <a:noFill/>
          <a:ln/>
        </p:spPr>
        <p:txBody>
          <a:bodyPr wrap="square" lIns="0" tIns="0" rIns="0" bIns="0" rtlCol="0" anchor="b"/>
          <a:lstStyle/>
          <a:p>
            <a:pPr marL="0" indent="0" algn="l">
              <a:buNone/>
            </a:pPr>
            <a:r>
              <a:rPr lang="en-US" sz="4000" b="1" dirty="0">
                <a:solidFill>
                  <a:schemeClr val="bg1"/>
                </a:solidFill>
              </a:rPr>
              <a:t>Wrap-up</a:t>
            </a:r>
            <a:endParaRPr lang="en-US" sz="4000" dirty="0"/>
          </a:p>
        </p:txBody>
      </p:sp>
      <p:sp>
        <p:nvSpPr>
          <p:cNvPr id="4" name="Text 0"/>
          <p:cNvSpPr>
            <a:spLocks noGrp="1"/>
          </p:cNvSpPr>
          <p:nvPr>
            <p:ph type="body" idx="101" hasCustomPrompt="1"/>
          </p:nvPr>
        </p:nvSpPr>
        <p:spPr>
          <a:xfrm>
            <a:off x="2103120" y="2606040"/>
            <a:ext cx="6583680" cy="457200"/>
          </a:xfrm>
          <a:prstGeom prst="rect">
            <a:avLst/>
          </a:prstGeom>
          <a:noFill/>
          <a:ln/>
        </p:spPr>
        <p:txBody>
          <a:bodyPr wrap="square" lIns="0" tIns="0" rIns="0" bIns="0" rtlCol="0" anchor="t"/>
          <a:lstStyle/>
          <a:p>
            <a:pPr marL="0" indent="0">
              <a:buNone/>
            </a:pPr>
            <a:r>
              <a:rPr lang="en-US" sz="2000" dirty="0">
                <a:solidFill>
                  <a:schemeClr val="accent1"/>
                </a:solidFill>
              </a:rPr>
              <a:t>15 min</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Pitfalls to remember</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9</a:t>
            </a:r>
            <a:endParaRPr lang="en-US" sz="1200" dirty="0"/>
          </a:p>
        </p:txBody>
      </p:sp>
      <p:sp>
        <p:nvSpPr>
          <p:cNvPr id="5" name="card Long sessions drift"/>
          <p:cNvSpPr/>
          <p:nvPr/>
        </p:nvSpPr>
        <p:spPr>
          <a:xfrm>
            <a:off x="457200" y="1188720"/>
            <a:ext cx="4023360" cy="1508760"/>
          </a:xfrm>
          <a:prstGeom prst="roundRect">
            <a:avLst>
              <a:gd name="adj" fmla="val 4848"/>
            </a:avLst>
          </a:prstGeom>
          <a:solidFill>
            <a:schemeClr val="bg2"/>
          </a:solidFill>
          <a:ln/>
        </p:spPr>
        <p:txBody>
          <a:bodyPr/>
          <a:lstStyle/>
          <a:p>
            <a:endParaRPr lang="en-US"/>
          </a:p>
        </p:txBody>
      </p:sp>
      <p:sp>
        <p:nvSpPr>
          <p:cNvPr id="6" name="Text 3"/>
          <p:cNvSpPr txBox="1"/>
          <p:nvPr/>
        </p:nvSpPr>
        <p:spPr>
          <a:xfrm>
            <a:off x="65836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Long sessions drift</a:t>
            </a:r>
            <a:endParaRPr lang="en-US" sz="1600" dirty="0"/>
          </a:p>
        </p:txBody>
      </p:sp>
      <p:sp>
        <p:nvSpPr>
          <p:cNvPr id="7" name="Text 4"/>
          <p:cNvSpPr txBox="1"/>
          <p:nvPr/>
        </p:nvSpPr>
        <p:spPr>
          <a:xfrm>
            <a:off x="658368" y="1764792"/>
            <a:ext cx="3621024" cy="822960"/>
          </a:xfrm>
          <a:prstGeom prst="rect">
            <a:avLst/>
          </a:prstGeom>
          <a:noFill/>
          <a:ln/>
        </p:spPr>
        <p:txBody>
          <a:bodyPr wrap="square" lIns="0" tIns="0" rIns="0" bIns="0" rtlCol="0" anchor="t"/>
          <a:lstStyle/>
          <a:p>
            <a:pPr marL="0" indent="0">
              <a:buNone/>
            </a:pPr>
            <a:r>
              <a:rPr lang="en-US" sz="1600" dirty="0">
                <a:solidFill>
                  <a:schemeClr val="tx2"/>
                </a:solidFill>
              </a:rPr>
              <a:t>/clear between tasks, keep tasks small</a:t>
            </a:r>
            <a:endParaRPr lang="en-US" sz="1600" dirty="0"/>
          </a:p>
        </p:txBody>
      </p:sp>
      <p:sp>
        <p:nvSpPr>
          <p:cNvPr id="8" name="card Unread changes"/>
          <p:cNvSpPr/>
          <p:nvPr/>
        </p:nvSpPr>
        <p:spPr>
          <a:xfrm>
            <a:off x="4663440" y="1188720"/>
            <a:ext cx="4023360" cy="1508760"/>
          </a:xfrm>
          <a:prstGeom prst="roundRect">
            <a:avLst>
              <a:gd name="adj" fmla="val 4848"/>
            </a:avLst>
          </a:prstGeom>
          <a:solidFill>
            <a:schemeClr val="bg2"/>
          </a:solidFill>
          <a:ln/>
        </p:spPr>
        <p:txBody>
          <a:bodyPr/>
          <a:lstStyle/>
          <a:p>
            <a:endParaRPr lang="en-US"/>
          </a:p>
        </p:txBody>
      </p:sp>
      <p:sp>
        <p:nvSpPr>
          <p:cNvPr id="9" name="Text 6"/>
          <p:cNvSpPr txBox="1"/>
          <p:nvPr/>
        </p:nvSpPr>
        <p:spPr>
          <a:xfrm>
            <a:off x="4864608" y="1353312"/>
            <a:ext cx="3621024" cy="365760"/>
          </a:xfrm>
          <a:prstGeom prst="rect">
            <a:avLst/>
          </a:prstGeom>
          <a:noFill/>
          <a:ln/>
        </p:spPr>
        <p:txBody>
          <a:bodyPr wrap="square" lIns="0" tIns="0" rIns="0" bIns="0" rtlCol="0" anchor="t"/>
          <a:lstStyle/>
          <a:p>
            <a:pPr marL="0" indent="0">
              <a:buNone/>
            </a:pPr>
            <a:r>
              <a:rPr lang="en-US" sz="1600" b="1" dirty="0">
                <a:solidFill>
                  <a:schemeClr val="tx1"/>
                </a:solidFill>
              </a:rPr>
              <a:t>Unread changes</a:t>
            </a:r>
            <a:endParaRPr lang="en-US" sz="1600" dirty="0"/>
          </a:p>
        </p:txBody>
      </p:sp>
      <p:sp>
        <p:nvSpPr>
          <p:cNvPr id="10" name="Text 7"/>
          <p:cNvSpPr txBox="1"/>
          <p:nvPr/>
        </p:nvSpPr>
        <p:spPr>
          <a:xfrm>
            <a:off x="4864608" y="1764792"/>
            <a:ext cx="3621024" cy="822960"/>
          </a:xfrm>
          <a:prstGeom prst="rect">
            <a:avLst/>
          </a:prstGeom>
          <a:noFill/>
          <a:ln/>
        </p:spPr>
        <p:txBody>
          <a:bodyPr wrap="square" lIns="0" tIns="0" rIns="0" bIns="0" rtlCol="0" anchor="t"/>
          <a:lstStyle/>
          <a:p>
            <a:pPr marL="0" indent="0">
              <a:buNone/>
            </a:pPr>
            <a:r>
              <a:rPr lang="en-US" sz="1600" dirty="0">
                <a:solidFill>
                  <a:schemeClr val="tx2"/>
                </a:solidFill>
              </a:rPr>
              <a:t>Read every diff before you accept or commit</a:t>
            </a:r>
            <a:endParaRPr lang="en-US" sz="1600" dirty="0"/>
          </a:p>
        </p:txBody>
      </p:sp>
      <p:sp>
        <p:nvSpPr>
          <p:cNvPr id="11" name="card Invented APIs and packages"/>
          <p:cNvSpPr/>
          <p:nvPr/>
        </p:nvSpPr>
        <p:spPr>
          <a:xfrm>
            <a:off x="457200" y="2880360"/>
            <a:ext cx="4023360" cy="1508760"/>
          </a:xfrm>
          <a:prstGeom prst="roundRect">
            <a:avLst>
              <a:gd name="adj" fmla="val 4848"/>
            </a:avLst>
          </a:prstGeom>
          <a:solidFill>
            <a:schemeClr val="bg2"/>
          </a:solidFill>
          <a:ln/>
        </p:spPr>
        <p:txBody>
          <a:bodyPr/>
          <a:lstStyle/>
          <a:p>
            <a:endParaRPr lang="en-US"/>
          </a:p>
        </p:txBody>
      </p:sp>
      <p:sp>
        <p:nvSpPr>
          <p:cNvPr id="12" name="Text 9"/>
          <p:cNvSpPr txBox="1"/>
          <p:nvPr/>
        </p:nvSpPr>
        <p:spPr>
          <a:xfrm>
            <a:off x="658368" y="3044952"/>
            <a:ext cx="3621024" cy="365760"/>
          </a:xfrm>
          <a:prstGeom prst="rect">
            <a:avLst/>
          </a:prstGeom>
          <a:noFill/>
          <a:ln/>
        </p:spPr>
        <p:txBody>
          <a:bodyPr wrap="square" lIns="0" tIns="0" rIns="0" bIns="0" rtlCol="0" anchor="t"/>
          <a:lstStyle/>
          <a:p>
            <a:pPr marL="0" indent="0">
              <a:buNone/>
            </a:pPr>
            <a:r>
              <a:rPr lang="en-US" sz="1600" b="1" dirty="0">
                <a:solidFill>
                  <a:schemeClr val="tx1"/>
                </a:solidFill>
              </a:rPr>
              <a:t>Invented APIs and packages</a:t>
            </a:r>
            <a:endParaRPr lang="en-US" sz="1600" dirty="0"/>
          </a:p>
        </p:txBody>
      </p:sp>
      <p:sp>
        <p:nvSpPr>
          <p:cNvPr id="13" name="Text 10"/>
          <p:cNvSpPr txBox="1"/>
          <p:nvPr/>
        </p:nvSpPr>
        <p:spPr>
          <a:xfrm>
            <a:off x="658368" y="3456432"/>
            <a:ext cx="3621024" cy="822960"/>
          </a:xfrm>
          <a:prstGeom prst="rect">
            <a:avLst/>
          </a:prstGeom>
          <a:noFill/>
          <a:ln/>
        </p:spPr>
        <p:txBody>
          <a:bodyPr wrap="square" lIns="0" tIns="0" rIns="0" bIns="0" rtlCol="0" anchor="t"/>
          <a:lstStyle/>
          <a:p>
            <a:pPr marL="0" indent="0">
              <a:buNone/>
            </a:pPr>
            <a:r>
              <a:rPr lang="en-US" sz="1600" dirty="0">
                <a:solidFill>
                  <a:schemeClr val="tx2"/>
                </a:solidFill>
              </a:rPr>
              <a:t>Context7, tests, and check the registry</a:t>
            </a:r>
            <a:endParaRPr lang="en-US" sz="1600" dirty="0"/>
          </a:p>
        </p:txBody>
      </p:sp>
      <p:sp>
        <p:nvSpPr>
          <p:cNvPr id="14" name="card Secrets in the wrong place"/>
          <p:cNvSpPr/>
          <p:nvPr/>
        </p:nvSpPr>
        <p:spPr>
          <a:xfrm>
            <a:off x="4663440" y="2880360"/>
            <a:ext cx="4023360" cy="1508760"/>
          </a:xfrm>
          <a:prstGeom prst="roundRect">
            <a:avLst>
              <a:gd name="adj" fmla="val 4848"/>
            </a:avLst>
          </a:prstGeom>
          <a:solidFill>
            <a:schemeClr val="bg2"/>
          </a:solidFill>
          <a:ln/>
        </p:spPr>
        <p:txBody>
          <a:bodyPr/>
          <a:lstStyle/>
          <a:p>
            <a:endParaRPr lang="en-US"/>
          </a:p>
        </p:txBody>
      </p:sp>
      <p:sp>
        <p:nvSpPr>
          <p:cNvPr id="15" name="Text 12"/>
          <p:cNvSpPr txBox="1"/>
          <p:nvPr/>
        </p:nvSpPr>
        <p:spPr>
          <a:xfrm>
            <a:off x="4864608" y="3044952"/>
            <a:ext cx="3621024" cy="365760"/>
          </a:xfrm>
          <a:prstGeom prst="rect">
            <a:avLst/>
          </a:prstGeom>
          <a:noFill/>
          <a:ln/>
        </p:spPr>
        <p:txBody>
          <a:bodyPr wrap="square" lIns="0" tIns="0" rIns="0" bIns="0" rtlCol="0" anchor="t"/>
          <a:lstStyle/>
          <a:p>
            <a:pPr marL="0" indent="0">
              <a:buNone/>
            </a:pPr>
            <a:r>
              <a:rPr lang="en-US" sz="1600" b="1" dirty="0">
                <a:solidFill>
                  <a:schemeClr val="tx1"/>
                </a:solidFill>
              </a:rPr>
              <a:t>Secrets in the wrong place</a:t>
            </a:r>
            <a:endParaRPr lang="en-US" sz="1600" dirty="0"/>
          </a:p>
        </p:txBody>
      </p:sp>
      <p:sp>
        <p:nvSpPr>
          <p:cNvPr id="16" name="Text 13"/>
          <p:cNvSpPr txBox="1"/>
          <p:nvPr/>
        </p:nvSpPr>
        <p:spPr>
          <a:xfrm>
            <a:off x="4864608" y="3456432"/>
            <a:ext cx="3621024" cy="822960"/>
          </a:xfrm>
          <a:prstGeom prst="rect">
            <a:avLst/>
          </a:prstGeom>
          <a:noFill/>
          <a:ln/>
        </p:spPr>
        <p:txBody>
          <a:bodyPr wrap="square" lIns="0" tIns="0" rIns="0" bIns="0" rtlCol="0" anchor="t"/>
          <a:lstStyle/>
          <a:p>
            <a:pPr marL="0" indent="0">
              <a:buNone/>
            </a:pPr>
            <a:r>
              <a:rPr lang="en-US" sz="1600" dirty="0">
                <a:solidFill>
                  <a:schemeClr val="tx2"/>
                </a:solidFill>
              </a:rPr>
              <a:t>.env, deny rules, never paste keys into chat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7040880" cy="685800"/>
          </a:xfrm>
          <a:prstGeom prst="rect">
            <a:avLst/>
          </a:prstGeom>
          <a:noFill/>
          <a:ln/>
        </p:spPr>
        <p:txBody>
          <a:bodyPr wrap="square" lIns="0" tIns="0" rIns="0" bIns="0" rtlCol="0" anchor="ctr"/>
          <a:lstStyle/>
          <a:p>
            <a:pPr marL="0" indent="0" algn="l">
              <a:buNone/>
            </a:pPr>
            <a:r>
              <a:rPr lang="en-US" sz="3000" b="1" dirty="0">
                <a:solidFill>
                  <a:schemeClr val="tx1"/>
                </a:solidFill>
              </a:rPr>
              <a:t>Costs, and where to go next</a:t>
            </a:r>
            <a:endParaRPr lang="en-US" sz="3000" dirty="0"/>
          </a:p>
        </p:txBody>
      </p:sp>
      <p:sp>
        <p:nvSpPr>
          <p:cNvPr id="3" name="block tag"/>
          <p:cNvSpPr txBox="1"/>
          <p:nvPr/>
        </p:nvSpPr>
        <p:spPr>
          <a:xfrm>
            <a:off x="7726680" y="438912"/>
            <a:ext cx="960120" cy="365760"/>
          </a:xfrm>
          <a:prstGeom prst="roundRect">
            <a:avLst>
              <a:gd name="adj" fmla="val 20000"/>
            </a:avLst>
          </a:prstGeom>
          <a:solidFill>
            <a:schemeClr val="accent1"/>
          </a:solidFill>
          <a:ln/>
        </p:spPr>
        <p:txBody>
          <a:bodyPr wrap="square" lIns="0" tIns="0" rIns="0" bIns="0" rtlCol="0" anchor="ctr"/>
          <a:lstStyle/>
          <a:p>
            <a:pPr marL="0" indent="0" algn="ctr">
              <a:buNone/>
            </a:pPr>
            <a:r>
              <a:rPr lang="en-US" sz="1200" b="1" dirty="0">
                <a:solidFill>
                  <a:schemeClr val="tx1"/>
                </a:solidFill>
              </a:rPr>
              <a:t>Block 9</a:t>
            </a:r>
            <a:endParaRPr lang="en-US" sz="1200" dirty="0"/>
          </a:p>
        </p:txBody>
      </p:sp>
      <p:sp>
        <p:nvSpPr>
          <p:cNvPr id="5" name="card Costs and plans"/>
          <p:cNvSpPr/>
          <p:nvPr/>
        </p:nvSpPr>
        <p:spPr>
          <a:xfrm>
            <a:off x="457200" y="1188720"/>
            <a:ext cx="3977640" cy="3291840"/>
          </a:xfrm>
          <a:prstGeom prst="roundRect">
            <a:avLst>
              <a:gd name="adj" fmla="val 2222"/>
            </a:avLst>
          </a:prstGeom>
          <a:solidFill>
            <a:schemeClr val="bg2"/>
          </a:solidFill>
          <a:ln/>
        </p:spPr>
        <p:txBody>
          <a:bodyPr/>
          <a:lstStyle/>
          <a:p>
            <a:endParaRPr lang="en-US"/>
          </a:p>
        </p:txBody>
      </p:sp>
      <p:sp>
        <p:nvSpPr>
          <p:cNvPr id="6" name="Text 3"/>
          <p:cNvSpPr txBox="1"/>
          <p:nvPr/>
        </p:nvSpPr>
        <p:spPr>
          <a:xfrm>
            <a:off x="658368" y="1353312"/>
            <a:ext cx="3575304" cy="365760"/>
          </a:xfrm>
          <a:prstGeom prst="rect">
            <a:avLst/>
          </a:prstGeom>
          <a:noFill/>
          <a:ln/>
        </p:spPr>
        <p:txBody>
          <a:bodyPr wrap="square" lIns="0" tIns="0" rIns="0" bIns="0" rtlCol="0" anchor="t"/>
          <a:lstStyle/>
          <a:p>
            <a:pPr marL="0" indent="0">
              <a:buNone/>
            </a:pPr>
            <a:r>
              <a:rPr lang="en-US" sz="1600" b="1" dirty="0">
                <a:solidFill>
                  <a:schemeClr val="tx1"/>
                </a:solidFill>
              </a:rPr>
              <a:t>Costs and plans</a:t>
            </a:r>
            <a:endParaRPr lang="en-US" sz="1600" dirty="0"/>
          </a:p>
        </p:txBody>
      </p:sp>
      <p:sp>
        <p:nvSpPr>
          <p:cNvPr id="7" name="Text 4"/>
          <p:cNvSpPr txBox="1"/>
          <p:nvPr/>
        </p:nvSpPr>
        <p:spPr>
          <a:xfrm>
            <a:off x="658368" y="1764792"/>
            <a:ext cx="3575304" cy="2606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Claude Code needs Pro or higher, or API billing</a:t>
            </a:r>
            <a:endParaRPr lang="en-US" sz="1600" dirty="0"/>
          </a:p>
          <a:p>
            <a:pPr marL="177800" indent="-177800">
              <a:spcAft>
                <a:spcPts val="600"/>
              </a:spcAft>
              <a:buSzPct val="100000"/>
              <a:buChar char="•"/>
            </a:pPr>
            <a:r>
              <a:rPr lang="en-US" sz="1600" dirty="0">
                <a:solidFill>
                  <a:schemeClr val="tx2"/>
                </a:solidFill>
              </a:rPr>
              <a:t>/usage shows how much you have used</a:t>
            </a:r>
            <a:endParaRPr lang="en-US" sz="1600" dirty="0"/>
          </a:p>
          <a:p>
            <a:pPr marL="177800" indent="-177800">
              <a:spcAft>
                <a:spcPts val="600"/>
              </a:spcAft>
              <a:buSzPct val="100000"/>
              <a:buChar char="•"/>
            </a:pPr>
            <a:r>
              <a:rPr lang="en-US" sz="1600" dirty="0">
                <a:solidFill>
                  <a:schemeClr val="tx2"/>
                </a:solidFill>
              </a:rPr>
              <a:t>Small tasks and /clear use less</a:t>
            </a:r>
            <a:endParaRPr lang="en-US" sz="1600" dirty="0"/>
          </a:p>
          <a:p>
            <a:pPr marL="177800" indent="-177800">
              <a:spcAft>
                <a:spcPts val="600"/>
              </a:spcAft>
              <a:buSzPct val="100000"/>
              <a:buChar char="•"/>
            </a:pPr>
            <a:r>
              <a:rPr lang="en-US" sz="1600" dirty="0">
                <a:solidFill>
                  <a:schemeClr val="tx2"/>
                </a:solidFill>
              </a:rPr>
              <a:t>Heavy daily use: look at Max or the API</a:t>
            </a:r>
            <a:endParaRPr lang="en-US" sz="1600" dirty="0"/>
          </a:p>
        </p:txBody>
      </p:sp>
      <p:sp>
        <p:nvSpPr>
          <p:cNvPr id="8" name="card Keep going"/>
          <p:cNvSpPr/>
          <p:nvPr/>
        </p:nvSpPr>
        <p:spPr>
          <a:xfrm>
            <a:off x="4709160" y="1188720"/>
            <a:ext cx="3977640" cy="3291840"/>
          </a:xfrm>
          <a:prstGeom prst="roundRect">
            <a:avLst>
              <a:gd name="adj" fmla="val 2222"/>
            </a:avLst>
          </a:prstGeom>
          <a:solidFill>
            <a:schemeClr val="bg2"/>
          </a:solidFill>
          <a:ln/>
        </p:spPr>
        <p:txBody>
          <a:bodyPr/>
          <a:lstStyle/>
          <a:p>
            <a:endParaRPr lang="en-US"/>
          </a:p>
        </p:txBody>
      </p:sp>
      <p:sp>
        <p:nvSpPr>
          <p:cNvPr id="9" name="Text 6"/>
          <p:cNvSpPr txBox="1"/>
          <p:nvPr/>
        </p:nvSpPr>
        <p:spPr>
          <a:xfrm>
            <a:off x="4910328" y="1353312"/>
            <a:ext cx="3575304" cy="365760"/>
          </a:xfrm>
          <a:prstGeom prst="rect">
            <a:avLst/>
          </a:prstGeom>
          <a:noFill/>
          <a:ln/>
        </p:spPr>
        <p:txBody>
          <a:bodyPr wrap="square" lIns="0" tIns="0" rIns="0" bIns="0" rtlCol="0" anchor="t"/>
          <a:lstStyle/>
          <a:p>
            <a:pPr marL="0" indent="0">
              <a:buNone/>
            </a:pPr>
            <a:r>
              <a:rPr lang="en-US" sz="1600" b="1" dirty="0">
                <a:solidFill>
                  <a:schemeClr val="tx1"/>
                </a:solidFill>
              </a:rPr>
              <a:t>Keep going</a:t>
            </a:r>
            <a:endParaRPr lang="en-US" sz="1600" dirty="0"/>
          </a:p>
        </p:txBody>
      </p:sp>
      <p:sp>
        <p:nvSpPr>
          <p:cNvPr id="10" name="Text 7"/>
          <p:cNvSpPr txBox="1"/>
          <p:nvPr/>
        </p:nvSpPr>
        <p:spPr>
          <a:xfrm>
            <a:off x="4910328" y="1764792"/>
            <a:ext cx="3575304" cy="2606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2"/>
                </a:solidFill>
              </a:rPr>
              <a:t>docs/cheatsheet.md: shortcuts and commands</a:t>
            </a:r>
            <a:endParaRPr lang="en-US" sz="1600" dirty="0"/>
          </a:p>
          <a:p>
            <a:pPr marL="177800" indent="-177800">
              <a:spcAft>
                <a:spcPts val="600"/>
              </a:spcAft>
              <a:buSzPct val="100000"/>
              <a:buChar char="•"/>
            </a:pPr>
            <a:r>
              <a:rPr lang="en-US" sz="1600" dirty="0">
                <a:solidFill>
                  <a:schemeClr val="tx2"/>
                </a:solidFill>
              </a:rPr>
              <a:t>code.claude.com/docs</a:t>
            </a:r>
            <a:endParaRPr lang="en-US" sz="1600" dirty="0"/>
          </a:p>
          <a:p>
            <a:pPr marL="177800" indent="-177800">
              <a:spcAft>
                <a:spcPts val="600"/>
              </a:spcAft>
              <a:buSzPct val="100000"/>
              <a:buChar char="•"/>
            </a:pPr>
            <a:r>
              <a:rPr lang="en-US" sz="1600" dirty="0">
                <a:solidFill>
                  <a:schemeClr val="tx2"/>
                </a:solidFill>
              </a:rPr>
              <a:t>Your repo and live site: keep building</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penguin" descr="preencoded.png"/>
          <p:cNvPicPr>
            <a:picLocks noChangeAspect="1"/>
          </p:cNvPicPr>
          <p:nvPr/>
        </p:nvPicPr>
        <p:blipFill>
          <a:blip r:embed="rId3"/>
          <a:stretch>
            <a:fillRect/>
          </a:stretch>
        </p:blipFill>
        <p:spPr>
          <a:xfrm>
            <a:off x="548640" y="502920"/>
            <a:ext cx="777240" cy="777240"/>
          </a:xfrm>
          <a:prstGeom prst="rect">
            <a:avLst/>
          </a:prstGeom>
        </p:spPr>
      </p:pic>
      <p:sp>
        <p:nvSpPr>
          <p:cNvPr id="3" name="Text 0"/>
          <p:cNvSpPr>
            <a:spLocks noGrp="1"/>
          </p:cNvSpPr>
          <p:nvPr>
            <p:ph type="title" idx="100" hasCustomPrompt="1"/>
          </p:nvPr>
        </p:nvSpPr>
        <p:spPr>
          <a:xfrm>
            <a:off x="548640" y="1371600"/>
            <a:ext cx="8046720" cy="1005840"/>
          </a:xfrm>
          <a:prstGeom prst="rect">
            <a:avLst/>
          </a:prstGeom>
          <a:noFill/>
          <a:ln/>
        </p:spPr>
        <p:txBody>
          <a:bodyPr wrap="square" lIns="0" tIns="0" rIns="0" bIns="0" rtlCol="0" anchor="b"/>
          <a:lstStyle/>
          <a:p>
            <a:pPr marL="0" indent="0" algn="l">
              <a:buNone/>
            </a:pPr>
            <a:r>
              <a:rPr lang="en-US" sz="4000" b="1" dirty="0">
                <a:solidFill>
                  <a:schemeClr val="bg1"/>
                </a:solidFill>
              </a:rPr>
              <a:t>Thank you</a:t>
            </a:r>
            <a:endParaRPr lang="en-US" sz="4000" dirty="0"/>
          </a:p>
        </p:txBody>
      </p:sp>
      <p:sp>
        <p:nvSpPr>
          <p:cNvPr id="4" name="Text 0"/>
          <p:cNvSpPr>
            <a:spLocks noGrp="1"/>
          </p:cNvSpPr>
          <p:nvPr>
            <p:ph type="body" idx="101" hasCustomPrompt="1"/>
          </p:nvPr>
        </p:nvSpPr>
        <p:spPr>
          <a:xfrm>
            <a:off x="548640" y="2560320"/>
            <a:ext cx="8046720" cy="1554480"/>
          </a:xfrm>
          <a:prstGeom prst="rect">
            <a:avLst/>
          </a:prstGeom>
          <a:noFill/>
          <a:ln/>
        </p:spPr>
        <p:txBody>
          <a:bodyPr wrap="square" lIns="0" tIns="0" rIns="0" bIns="0" rtlCol="0" anchor="t"/>
          <a:lstStyle/>
          <a:p>
            <a:pPr marL="0" indent="0">
              <a:buNone/>
            </a:pPr>
            <a:r>
              <a:rPr lang="en-US" sz="1800" dirty="0">
                <a:solidFill>
                  <a:schemeClr val="accent3"/>
                </a:solidFill>
              </a:rPr>
              <a:t>Your repo: </a:t>
            </a:r>
            <a:r>
              <a:rPr lang="en-US" sz="1800" b="1" dirty="0">
                <a:solidFill>
                  <a:schemeClr val="accent1"/>
                </a:solidFill>
              </a:rPr>
              <a:t>github.com/hakanotal/soft-dev-ws-2026</a:t>
            </a:r>
            <a:endParaRPr lang="en-US" sz="1800" dirty="0"/>
          </a:p>
          <a:p>
            <a:pPr marL="0" indent="0">
              <a:buNone/>
            </a:pPr>
            <a:r>
              <a:rPr lang="en-US" sz="1800" dirty="0">
                <a:solidFill>
                  <a:schemeClr val="accent3"/>
                </a:solidFill>
              </a:rPr>
              <a:t>Your live site: Settings &gt; Pages in your copy</a:t>
            </a:r>
            <a:endParaRPr lang="en-US" sz="1800" dirty="0"/>
          </a:p>
        </p:txBody>
      </p:sp>
    </p:spTree>
  </p:cSld>
  <p:clrMapOvr>
    <a:masterClrMapping/>
  </p:clrMapOvr>
</p:sld>
</file>

<file path=ppt/theme/theme1.xml><?xml version="1.0" encoding="utf-8"?>
<a:theme xmlns:a="http://schemas.openxmlformats.org/drawingml/2006/main" name="Penguin Workshop">
  <a:themeElements>
    <a:clrScheme name="Penguin Workshop">
      <a:dk1>
        <a:srgbClr val="1D2731"/>
      </a:dk1>
      <a:lt1>
        <a:srgbClr val="FFFFFF"/>
      </a:lt1>
      <a:dk2>
        <a:srgbClr val="4A5A6A"/>
      </a:dk2>
      <a:lt2>
        <a:srgbClr val="EEF2F5"/>
      </a:lt2>
      <a:accent1>
        <a:srgbClr val="F28C28"/>
      </a:accent1>
      <a:accent2>
        <a:srgbClr val="2A6F97"/>
      </a:accent2>
      <a:accent3>
        <a:srgbClr val="9FB3C8"/>
      </a:accent3>
      <a:accent4>
        <a:srgbClr val="E9C46A"/>
      </a:accent4>
      <a:accent5>
        <a:srgbClr val="264653"/>
      </a:accent5>
      <a:accent6>
        <a:srgbClr val="A23B72"/>
      </a:accent6>
      <a:hlink>
        <a:srgbClr val="2A6F97"/>
      </a:hlink>
      <a:folHlink>
        <a:srgbClr val="4A5A6A"/>
      </a:folHlink>
    </a:clrScheme>
    <a:fontScheme name="Penguin Worksh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740</TotalTime>
  <Words>3472</Words>
  <Application>Microsoft Macintosh PowerPoint</Application>
  <PresentationFormat>On-screen Show (16:9)</PresentationFormat>
  <Paragraphs>555</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Penguin Workshop</vt:lpstr>
      <vt:lpstr>AI-Assisted Software Development</vt:lpstr>
      <vt:lpstr>Today's plan</vt:lpstr>
      <vt:lpstr>What we build today</vt:lpstr>
      <vt:lpstr>How the day works</vt:lpstr>
      <vt:lpstr>How agents work</vt:lpstr>
      <vt:lpstr>The agent loop</vt:lpstr>
      <vt:lpstr>Why agents go wrong</vt:lpstr>
      <vt:lpstr>Vibecoding vs engineering</vt:lpstr>
      <vt:lpstr>Terminal, Git and GitHub</vt:lpstr>
      <vt:lpstr>Terminal basics</vt:lpstr>
      <vt:lpstr>Git in six words</vt:lpstr>
      <vt:lpstr>We do: first commit and PR</vt:lpstr>
      <vt:lpstr>Cursor</vt:lpstr>
      <vt:lpstr>A quick tour of Cursor</vt:lpstr>
      <vt:lpstr>Rules: how the agent should work</vt:lpstr>
      <vt:lpstr>Claude Code core</vt:lpstr>
      <vt:lpstr>Start a session</vt:lpstr>
      <vt:lpstr>Plan first, then build</vt:lpstr>
      <vt:lpstr>Permissions</vt:lpstr>
      <vt:lpstr>When things go wrong</vt:lpstr>
      <vt:lpstr>Keep the context sharp</vt:lpstr>
      <vt:lpstr>You do: scaffold the analysis</vt:lpstr>
      <vt:lpstr>Environments and secrets</vt:lpstr>
      <vt:lpstr>Environments</vt:lpstr>
      <vt:lpstr>Secrets and safety</vt:lpstr>
      <vt:lpstr>Extending Claude Code</vt:lpstr>
      <vt:lpstr>MCP servers: new abilities</vt:lpstr>
      <vt:lpstr>Skills: reusable workflows</vt:lpstr>
      <vt:lpstr>Hooks and subagents</vt:lpstr>
      <vt:lpstr>Worktrees</vt:lpstr>
      <vt:lpstr>Two agents, one repo</vt:lpstr>
      <vt:lpstr>Final project</vt:lpstr>
      <vt:lpstr>The build loop</vt:lpstr>
      <vt:lpstr>I do: the one-shot build</vt:lpstr>
      <vt:lpstr>You do, in pairs: make it yours</vt:lpstr>
      <vt:lpstr>Wrap-up</vt:lpstr>
      <vt:lpstr>Pitfalls to remember</vt:lpstr>
      <vt:lpstr>Costs, and where to go next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Software Development Workshop</dc:title>
  <dc:subject>PptxGenJS Presentation</dc:subject>
  <dc:creator>PptxGenJS</dc:creator>
  <cp:lastModifiedBy>Hakan T Otal</cp:lastModifiedBy>
  <cp:revision>2</cp:revision>
  <dcterms:created xsi:type="dcterms:W3CDTF">2026-10-12T23:37:31Z</dcterms:created>
  <dcterms:modified xsi:type="dcterms:W3CDTF">2026-10-13T17:03:35Z</dcterms:modified>
</cp:coreProperties>
</file>